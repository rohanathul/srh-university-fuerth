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9.xml" ContentType="application/vnd.openxmlformats-officedocument.presentationml.notesSlide+xml"/>
  <Override PartName="/ppt/charts/chart1.xml" ContentType="application/vnd.openxmlformats-officedocument.drawingml.chart+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5"/>
  </p:notesMasterIdLst>
  <p:sldIdLst>
    <p:sldId id="256" r:id="rId2"/>
    <p:sldId id="423" r:id="rId3"/>
    <p:sldId id="413" r:id="rId4"/>
    <p:sldId id="412" r:id="rId5"/>
    <p:sldId id="262" r:id="rId6"/>
    <p:sldId id="271" r:id="rId7"/>
    <p:sldId id="263" r:id="rId8"/>
    <p:sldId id="264" r:id="rId9"/>
    <p:sldId id="418" r:id="rId10"/>
    <p:sldId id="417" r:id="rId11"/>
    <p:sldId id="424" r:id="rId12"/>
    <p:sldId id="419" r:id="rId13"/>
    <p:sldId id="41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5E5E"/>
    <a:srgbClr val="5C5C5C"/>
    <a:srgbClr val="77F9F6"/>
    <a:srgbClr val="FA7C44"/>
    <a:srgbClr val="FB9161"/>
    <a:srgbClr val="F96B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35" autoAdjust="0"/>
    <p:restoredTop sz="93969" autoAdjust="0"/>
  </p:normalViewPr>
  <p:slideViewPr>
    <p:cSldViewPr snapToGrid="0">
      <p:cViewPr varScale="1">
        <p:scale>
          <a:sx n="65" d="100"/>
          <a:sy n="65" d="100"/>
        </p:scale>
        <p:origin x="603" y="5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131714495952908E-2"/>
          <c:y val="2.9680365296803651E-2"/>
          <c:w val="0.96173657100809418"/>
          <c:h val="0.94063926940639264"/>
        </c:manualLayout>
      </c:layout>
      <c:barChart>
        <c:barDir val="col"/>
        <c:grouping val="stacked"/>
        <c:varyColors val="0"/>
        <c:ser>
          <c:idx val="0"/>
          <c:order val="0"/>
          <c:spPr>
            <a:solidFill>
              <a:schemeClr val="accent1"/>
            </a:solidFill>
            <a:ln>
              <a:noFill/>
            </a:ln>
          </c:spPr>
          <c:invertIfNegative val="0"/>
          <c:val>
            <c:numRef>
              <c:f>Sheet1!$A$1:$E$1</c:f>
              <c:numCache>
                <c:formatCode>General</c:formatCode>
                <c:ptCount val="5"/>
                <c:pt idx="0">
                  <c:v>3.5</c:v>
                </c:pt>
                <c:pt idx="1">
                  <c:v>3.4</c:v>
                </c:pt>
                <c:pt idx="2">
                  <c:v>3.2</c:v>
                </c:pt>
                <c:pt idx="3">
                  <c:v>3</c:v>
                </c:pt>
                <c:pt idx="4">
                  <c:v>2.8</c:v>
                </c:pt>
              </c:numCache>
            </c:numRef>
          </c:val>
          <c:extLst>
            <c:ext xmlns:c16="http://schemas.microsoft.com/office/drawing/2014/chart" uri="{C3380CC4-5D6E-409C-BE32-E72D297353CC}">
              <c16:uniqueId val="{00000000-FBDA-4866-ABE3-5D48FEC8F860}"/>
            </c:ext>
          </c:extLst>
        </c:ser>
        <c:dLbls>
          <c:showLegendKey val="0"/>
          <c:showVal val="0"/>
          <c:showCatName val="0"/>
          <c:showSerName val="0"/>
          <c:showPercent val="0"/>
          <c:showBubbleSize val="0"/>
        </c:dLbls>
        <c:gapWidth val="80"/>
        <c:overlap val="100"/>
        <c:axId val="227338992"/>
        <c:axId val="1"/>
      </c:barChart>
      <c:lineChart>
        <c:grouping val="standard"/>
        <c:varyColors val="0"/>
        <c:ser>
          <c:idx val="1"/>
          <c:order val="1"/>
          <c:spPr>
            <a:ln w="19050" cmpd="sng" algn="ctr">
              <a:solidFill>
                <a:schemeClr val="accent2"/>
              </a:solidFill>
              <a:prstDash val="solid"/>
            </a:ln>
          </c:spPr>
          <c:marker>
            <c:symbol val="none"/>
          </c:marker>
          <c:dPt>
            <c:idx val="0"/>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1-FBDA-4866-ABE3-5D48FEC8F860}"/>
              </c:ext>
            </c:extLst>
          </c:dPt>
          <c:dPt>
            <c:idx val="1"/>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2-FBDA-4866-ABE3-5D48FEC8F860}"/>
              </c:ext>
            </c:extLst>
          </c:dPt>
          <c:dPt>
            <c:idx val="2"/>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3-FBDA-4866-ABE3-5D48FEC8F860}"/>
              </c:ext>
            </c:extLst>
          </c:dPt>
          <c:dPt>
            <c:idx val="3"/>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4-FBDA-4866-ABE3-5D48FEC8F860}"/>
              </c:ext>
            </c:extLst>
          </c:dPt>
          <c:dPt>
            <c:idx val="4"/>
            <c:marker>
              <c:symbol val="circle"/>
              <c:size val="6"/>
              <c:spPr>
                <a:solidFill>
                  <a:schemeClr val="accent2"/>
                </a:solidFill>
                <a:ln w="9525" cmpd="sng" algn="ctr">
                  <a:solidFill>
                    <a:schemeClr val="accent2"/>
                  </a:solidFill>
                  <a:prstDash val="solid"/>
                </a:ln>
              </c:spPr>
            </c:marker>
            <c:bubble3D val="0"/>
            <c:extLst>
              <c:ext xmlns:c16="http://schemas.microsoft.com/office/drawing/2014/chart" uri="{C3380CC4-5D6E-409C-BE32-E72D297353CC}">
                <c16:uniqueId val="{00000005-FBDA-4866-ABE3-5D48FEC8F860}"/>
              </c:ext>
            </c:extLst>
          </c:dPt>
          <c:val>
            <c:numRef>
              <c:f>Sheet1!$A$2:$E$2</c:f>
              <c:numCache>
                <c:formatCode>General</c:formatCode>
                <c:ptCount val="5"/>
                <c:pt idx="0">
                  <c:v>8.1999999999999993</c:v>
                </c:pt>
                <c:pt idx="1">
                  <c:v>8.1</c:v>
                </c:pt>
                <c:pt idx="2">
                  <c:v>8.4</c:v>
                </c:pt>
                <c:pt idx="3">
                  <c:v>8.6</c:v>
                </c:pt>
                <c:pt idx="4">
                  <c:v>8.9</c:v>
                </c:pt>
              </c:numCache>
            </c:numRef>
          </c:val>
          <c:smooth val="0"/>
          <c:extLst>
            <c:ext xmlns:c16="http://schemas.microsoft.com/office/drawing/2014/chart" uri="{C3380CC4-5D6E-409C-BE32-E72D297353CC}">
              <c16:uniqueId val="{00000006-FBDA-4866-ABE3-5D48FEC8F860}"/>
            </c:ext>
          </c:extLst>
        </c:ser>
        <c:dLbls>
          <c:showLegendKey val="0"/>
          <c:showVal val="0"/>
          <c:showCatName val="0"/>
          <c:showSerName val="0"/>
          <c:showPercent val="0"/>
          <c:showBubbleSize val="0"/>
        </c:dLbls>
        <c:marker val="1"/>
        <c:smooth val="0"/>
        <c:axId val="2"/>
        <c:axId val="3"/>
      </c:lineChart>
      <c:catAx>
        <c:axId val="2273389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6"/>
          <c:min val="2.4000000000000004"/>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227338992"/>
        <c:crosses val="min"/>
        <c:crossBetween val="between"/>
      </c:valAx>
      <c:catAx>
        <c:axId val="2"/>
        <c:scaling>
          <c:orientation val="minMax"/>
        </c:scaling>
        <c:delete val="0"/>
        <c:axPos val="b"/>
        <c:majorGridlines>
          <c:spPr>
            <a:ln>
              <a:noFill/>
            </a:ln>
          </c:spPr>
        </c:majorGridlines>
        <c:majorTickMark val="none"/>
        <c:minorTickMark val="none"/>
        <c:tickLblPos val="none"/>
        <c:spPr>
          <a:ln>
            <a:noFill/>
          </a:ln>
        </c:spPr>
        <c:crossAx val="3"/>
        <c:crosses val="min"/>
        <c:auto val="0"/>
        <c:lblAlgn val="ctr"/>
        <c:lblOffset val="100"/>
        <c:noMultiLvlLbl val="0"/>
      </c:catAx>
      <c:valAx>
        <c:axId val="3"/>
        <c:scaling>
          <c:orientation val="minMax"/>
          <c:max val="9.2000000000000011"/>
          <c:min val="8"/>
        </c:scaling>
        <c:delete val="0"/>
        <c:axPos val="r"/>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2"/>
        <c:crosses val="max"/>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5374449339207E-2"/>
          <c:y val="2.561576354679803E-2"/>
          <c:w val="0.97709251101321581"/>
          <c:h val="0.94876847290640398"/>
        </c:manualLayout>
      </c:layout>
      <c:barChart>
        <c:barDir val="col"/>
        <c:grouping val="stacked"/>
        <c:varyColors val="0"/>
        <c:ser>
          <c:idx val="0"/>
          <c:order val="0"/>
          <c:spPr>
            <a:solidFill>
              <a:srgbClr val="AA3804"/>
            </a:solidFill>
            <a:ln>
              <a:noFill/>
            </a:ln>
          </c:spPr>
          <c:invertIfNegative val="0"/>
          <c:val>
            <c:numRef>
              <c:f>Sheet1!$A$1:$F$1</c:f>
              <c:numCache>
                <c:formatCode>General</c:formatCode>
                <c:ptCount val="6"/>
                <c:pt idx="0">
                  <c:v>39.909999999999997</c:v>
                </c:pt>
                <c:pt idx="1">
                  <c:v>45.75</c:v>
                </c:pt>
                <c:pt idx="2">
                  <c:v>55.36</c:v>
                </c:pt>
                <c:pt idx="3">
                  <c:v>49.02</c:v>
                </c:pt>
                <c:pt idx="4">
                  <c:v>47.4</c:v>
                </c:pt>
                <c:pt idx="5">
                  <c:v>50.32</c:v>
                </c:pt>
              </c:numCache>
            </c:numRef>
          </c:val>
          <c:extLst>
            <c:ext xmlns:c16="http://schemas.microsoft.com/office/drawing/2014/chart" uri="{C3380CC4-5D6E-409C-BE32-E72D297353CC}">
              <c16:uniqueId val="{00000000-EF1C-4171-B8C7-CDD35AACE5C4}"/>
            </c:ext>
          </c:extLst>
        </c:ser>
        <c:ser>
          <c:idx val="1"/>
          <c:order val="1"/>
          <c:spPr>
            <a:solidFill>
              <a:srgbClr val="F9560C"/>
            </a:solidFill>
            <a:ln>
              <a:noFill/>
            </a:ln>
          </c:spPr>
          <c:invertIfNegative val="0"/>
          <c:val>
            <c:numRef>
              <c:f>Sheet1!$A$2:$F$2</c:f>
              <c:numCache>
                <c:formatCode>General</c:formatCode>
                <c:ptCount val="6"/>
                <c:pt idx="0">
                  <c:v>5.5</c:v>
                </c:pt>
                <c:pt idx="1">
                  <c:v>5.269999999999996</c:v>
                </c:pt>
                <c:pt idx="2">
                  <c:v>4.07</c:v>
                </c:pt>
                <c:pt idx="3">
                  <c:v>3.0600000000000023</c:v>
                </c:pt>
                <c:pt idx="4">
                  <c:v>2.759999999999998</c:v>
                </c:pt>
                <c:pt idx="5">
                  <c:v>2.7999999999999972</c:v>
                </c:pt>
              </c:numCache>
            </c:numRef>
          </c:val>
          <c:extLst>
            <c:ext xmlns:c16="http://schemas.microsoft.com/office/drawing/2014/chart" uri="{C3380CC4-5D6E-409C-BE32-E72D297353CC}">
              <c16:uniqueId val="{00000001-EF1C-4171-B8C7-CDD35AACE5C4}"/>
            </c:ext>
          </c:extLst>
        </c:ser>
        <c:ser>
          <c:idx val="2"/>
          <c:order val="2"/>
          <c:spPr>
            <a:solidFill>
              <a:schemeClr val="accent1"/>
            </a:solidFill>
            <a:ln>
              <a:noFill/>
            </a:ln>
          </c:spPr>
          <c:invertIfNegative val="0"/>
          <c:val>
            <c:numRef>
              <c:f>Sheet1!$A$3:$F$3</c:f>
              <c:numCache>
                <c:formatCode>General</c:formatCode>
                <c:ptCount val="6"/>
                <c:pt idx="0">
                  <c:v>5.759999999999998</c:v>
                </c:pt>
                <c:pt idx="1">
                  <c:v>9.6199999999999974</c:v>
                </c:pt>
                <c:pt idx="2">
                  <c:v>12.109999999999992</c:v>
                </c:pt>
                <c:pt idx="3">
                  <c:v>13.020000000000003</c:v>
                </c:pt>
                <c:pt idx="4">
                  <c:v>14.219999999999999</c:v>
                </c:pt>
                <c:pt idx="5">
                  <c:v>15.130000000000003</c:v>
                </c:pt>
              </c:numCache>
            </c:numRef>
          </c:val>
          <c:extLst>
            <c:ext xmlns:c16="http://schemas.microsoft.com/office/drawing/2014/chart" uri="{C3380CC4-5D6E-409C-BE32-E72D297353CC}">
              <c16:uniqueId val="{00000002-EF1C-4171-B8C7-CDD35AACE5C4}"/>
            </c:ext>
          </c:extLst>
        </c:ser>
        <c:dLbls>
          <c:showLegendKey val="0"/>
          <c:showVal val="0"/>
          <c:showCatName val="0"/>
          <c:showSerName val="0"/>
          <c:showPercent val="0"/>
          <c:showBubbleSize val="0"/>
        </c:dLbls>
        <c:gapWidth val="80"/>
        <c:overlap val="100"/>
        <c:axId val="1712044703"/>
        <c:axId val="1"/>
      </c:barChart>
      <c:lineChart>
        <c:grouping val="standard"/>
        <c:varyColors val="0"/>
        <c:ser>
          <c:idx val="3"/>
          <c:order val="3"/>
          <c:spPr>
            <a:ln w="19050" cmpd="sng" algn="ctr">
              <a:solidFill>
                <a:schemeClr val="accent2"/>
              </a:solidFill>
              <a:prstDash val="solid"/>
            </a:ln>
          </c:spPr>
          <c:marker>
            <c:symbol val="none"/>
          </c:marker>
          <c:val>
            <c:numRef>
              <c:f>Sheet1!$A$4:$F$4</c:f>
              <c:numCache>
                <c:formatCode>General</c:formatCode>
                <c:ptCount val="6"/>
              </c:numCache>
            </c:numRef>
          </c:val>
          <c:smooth val="0"/>
          <c:extLst>
            <c:ext xmlns:c16="http://schemas.microsoft.com/office/drawing/2014/chart" uri="{C3380CC4-5D6E-409C-BE32-E72D297353CC}">
              <c16:uniqueId val="{00000003-EF1C-4171-B8C7-CDD35AACE5C4}"/>
            </c:ext>
          </c:extLst>
        </c:ser>
        <c:ser>
          <c:idx val="4"/>
          <c:order val="4"/>
          <c:spPr>
            <a:ln w="19050" cmpd="sng" algn="ctr">
              <a:solidFill>
                <a:schemeClr val="accent2"/>
              </a:solidFill>
              <a:prstDash val="solid"/>
            </a:ln>
          </c:spPr>
          <c:marker>
            <c:symbol val="none"/>
          </c:marker>
          <c:val>
            <c:numRef>
              <c:f>Sheet1!$A$5:$F$5</c:f>
              <c:numCache>
                <c:formatCode>General</c:formatCode>
                <c:ptCount val="6"/>
              </c:numCache>
            </c:numRef>
          </c:val>
          <c:smooth val="0"/>
          <c:extLst>
            <c:ext xmlns:c16="http://schemas.microsoft.com/office/drawing/2014/chart" uri="{C3380CC4-5D6E-409C-BE32-E72D297353CC}">
              <c16:uniqueId val="{00000004-EF1C-4171-B8C7-CDD35AACE5C4}"/>
            </c:ext>
          </c:extLst>
        </c:ser>
        <c:dLbls>
          <c:showLegendKey val="0"/>
          <c:showVal val="0"/>
          <c:showCatName val="0"/>
          <c:showSerName val="0"/>
          <c:showPercent val="0"/>
          <c:showBubbleSize val="0"/>
        </c:dLbls>
        <c:marker val="1"/>
        <c:smooth val="0"/>
        <c:axId val="1712044703"/>
        <c:axId val="1"/>
      </c:lineChart>
      <c:catAx>
        <c:axId val="171204470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5"/>
          <c:min val="30"/>
        </c:scaling>
        <c:delete val="0"/>
        <c:axPos val="l"/>
        <c:majorGridlines>
          <c:spPr>
            <a:ln>
              <a:noFill/>
            </a:ln>
          </c:spPr>
        </c:majorGridlines>
        <c:numFmt formatCode="General" sourceLinked="1"/>
        <c:majorTickMark val="none"/>
        <c:minorTickMark val="none"/>
        <c:tickLblPos val="none"/>
        <c:spPr>
          <a:ln w="9525" cmpd="sng" algn="ctr">
            <a:solidFill>
              <a:srgbClr val="3A3A3A"/>
            </a:solidFill>
            <a:prstDash val="solid"/>
          </a:ln>
        </c:spPr>
        <c:crossAx val="1712044703"/>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5374449339207E-2"/>
          <c:y val="9.8484848484848481E-2"/>
          <c:w val="0.97709251101321581"/>
          <c:h val="0.80303030303030298"/>
        </c:manualLayout>
      </c:layout>
      <c:lineChart>
        <c:grouping val="standard"/>
        <c:varyColors val="0"/>
        <c:ser>
          <c:idx val="0"/>
          <c:order val="0"/>
          <c:spPr>
            <a:ln w="19050" cmpd="sng" algn="ctr">
              <a:solidFill>
                <a:schemeClr val="accent2"/>
              </a:solidFill>
              <a:prstDash val="solid"/>
            </a:ln>
          </c:spPr>
          <c:marker>
            <c:symbol val="none"/>
          </c:marker>
          <c:val>
            <c:numRef>
              <c:f>Sheet1!$A$1:$F$1</c:f>
              <c:numCache>
                <c:formatCode>General</c:formatCode>
                <c:ptCount val="6"/>
                <c:pt idx="0">
                  <c:v>122.8</c:v>
                </c:pt>
                <c:pt idx="1">
                  <c:v>102.7</c:v>
                </c:pt>
                <c:pt idx="2">
                  <c:v>100.8</c:v>
                </c:pt>
              </c:numCache>
            </c:numRef>
          </c:val>
          <c:smooth val="0"/>
          <c:extLst>
            <c:ext xmlns:c16="http://schemas.microsoft.com/office/drawing/2014/chart" uri="{C3380CC4-5D6E-409C-BE32-E72D297353CC}">
              <c16:uniqueId val="{00000000-EAA2-4C9E-9DA5-45DE1ACB9611}"/>
            </c:ext>
          </c:extLst>
        </c:ser>
        <c:ser>
          <c:idx val="1"/>
          <c:order val="1"/>
          <c:spPr>
            <a:ln w="19050" cmpd="sng" algn="ctr">
              <a:solidFill>
                <a:schemeClr val="accent2"/>
              </a:solidFill>
              <a:prstDash val="solid"/>
            </a:ln>
          </c:spPr>
          <c:marker>
            <c:symbol val="none"/>
          </c:marker>
          <c:val>
            <c:numRef>
              <c:f>Sheet1!$A$2:$F$2</c:f>
              <c:numCache>
                <c:formatCode>General</c:formatCode>
                <c:ptCount val="6"/>
                <c:pt idx="3">
                  <c:v>85.7</c:v>
                </c:pt>
                <c:pt idx="4">
                  <c:v>75.599999999999994</c:v>
                </c:pt>
                <c:pt idx="5">
                  <c:v>72.599999999999994</c:v>
                </c:pt>
              </c:numCache>
            </c:numRef>
          </c:val>
          <c:smooth val="0"/>
          <c:extLst>
            <c:ext xmlns:c16="http://schemas.microsoft.com/office/drawing/2014/chart" uri="{C3380CC4-5D6E-409C-BE32-E72D297353CC}">
              <c16:uniqueId val="{00000001-EAA2-4C9E-9DA5-45DE1ACB9611}"/>
            </c:ext>
          </c:extLst>
        </c:ser>
        <c:dLbls>
          <c:showLegendKey val="0"/>
          <c:showVal val="0"/>
          <c:showCatName val="0"/>
          <c:showSerName val="0"/>
          <c:showPercent val="0"/>
          <c:showBubbleSize val="0"/>
        </c:dLbls>
        <c:smooth val="0"/>
        <c:axId val="1239713519"/>
        <c:axId val="1"/>
      </c:lineChart>
      <c:catAx>
        <c:axId val="1239713519"/>
        <c:scaling>
          <c:orientation val="minMax"/>
        </c:scaling>
        <c:delete val="0"/>
        <c:axPos val="b"/>
        <c:majorGridlines>
          <c:spPr>
            <a:ln>
              <a:noFill/>
            </a:ln>
          </c:spPr>
        </c:majorGridlines>
        <c:majorTickMark val="none"/>
        <c:minorTickMark val="none"/>
        <c:tickLblPos val="none"/>
        <c:spPr>
          <a:ln w="9525" cmpd="sng" algn="ctr">
            <a:solidFill>
              <a:srgbClr val="3A3A3A"/>
            </a:solidFill>
            <a:prstDash val="solid"/>
          </a:ln>
        </c:spPr>
        <c:crossAx val="1"/>
        <c:crosses val="min"/>
        <c:auto val="0"/>
        <c:lblAlgn val="ctr"/>
        <c:lblOffset val="100"/>
        <c:noMultiLvlLbl val="0"/>
      </c:catAx>
      <c:valAx>
        <c:axId val="1"/>
        <c:scaling>
          <c:orientation val="minMax"/>
          <c:max val="150"/>
          <c:min val="0"/>
        </c:scaling>
        <c:delete val="0"/>
        <c:axPos val="l"/>
        <c:majorGridlines>
          <c:spPr>
            <a:ln>
              <a:noFill/>
            </a:ln>
          </c:spPr>
        </c:majorGridlines>
        <c:numFmt formatCode="General" sourceLinked="1"/>
        <c:majorTickMark val="none"/>
        <c:minorTickMark val="none"/>
        <c:tickLblPos val="none"/>
        <c:spPr>
          <a:ln w="9525" cmpd="sng" algn="ctr">
            <a:solidFill>
              <a:srgbClr val="3A3A3A"/>
            </a:solidFill>
            <a:prstDash val="solid"/>
          </a:ln>
        </c:spPr>
        <c:crossAx val="1239713519"/>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5374449339207E-2"/>
          <c:y val="2.561576354679803E-2"/>
          <c:w val="0.97709251101321581"/>
          <c:h val="0.94876847290640398"/>
        </c:manualLayout>
      </c:layout>
      <c:barChart>
        <c:barDir val="col"/>
        <c:grouping val="stacked"/>
        <c:varyColors val="0"/>
        <c:ser>
          <c:idx val="0"/>
          <c:order val="0"/>
          <c:spPr>
            <a:solidFill>
              <a:srgbClr val="AA3804"/>
            </a:solidFill>
            <a:ln>
              <a:noFill/>
            </a:ln>
          </c:spPr>
          <c:invertIfNegative val="0"/>
          <c:val>
            <c:numRef>
              <c:f>Sheet1!$A$1:$F$1</c:f>
              <c:numCache>
                <c:formatCode>General</c:formatCode>
                <c:ptCount val="6"/>
                <c:pt idx="0">
                  <c:v>39.909999999999997</c:v>
                </c:pt>
                <c:pt idx="1">
                  <c:v>45.75</c:v>
                </c:pt>
                <c:pt idx="2">
                  <c:v>55.36</c:v>
                </c:pt>
                <c:pt idx="3">
                  <c:v>49.02</c:v>
                </c:pt>
                <c:pt idx="4">
                  <c:v>47.4</c:v>
                </c:pt>
                <c:pt idx="5">
                  <c:v>50.32</c:v>
                </c:pt>
              </c:numCache>
            </c:numRef>
          </c:val>
          <c:extLst>
            <c:ext xmlns:c16="http://schemas.microsoft.com/office/drawing/2014/chart" uri="{C3380CC4-5D6E-409C-BE32-E72D297353CC}">
              <c16:uniqueId val="{00000000-EF1C-4171-B8C7-CDD35AACE5C4}"/>
            </c:ext>
          </c:extLst>
        </c:ser>
        <c:ser>
          <c:idx val="1"/>
          <c:order val="1"/>
          <c:spPr>
            <a:solidFill>
              <a:srgbClr val="F9560C"/>
            </a:solidFill>
            <a:ln>
              <a:noFill/>
            </a:ln>
          </c:spPr>
          <c:invertIfNegative val="0"/>
          <c:val>
            <c:numRef>
              <c:f>Sheet1!$A$2:$F$2</c:f>
              <c:numCache>
                <c:formatCode>General</c:formatCode>
                <c:ptCount val="6"/>
                <c:pt idx="0">
                  <c:v>5.5</c:v>
                </c:pt>
                <c:pt idx="1">
                  <c:v>5.269999999999996</c:v>
                </c:pt>
                <c:pt idx="2">
                  <c:v>4.07</c:v>
                </c:pt>
                <c:pt idx="3">
                  <c:v>3.0600000000000023</c:v>
                </c:pt>
                <c:pt idx="4">
                  <c:v>2.759999999999998</c:v>
                </c:pt>
                <c:pt idx="5">
                  <c:v>2.7999999999999972</c:v>
                </c:pt>
              </c:numCache>
            </c:numRef>
          </c:val>
          <c:extLst>
            <c:ext xmlns:c16="http://schemas.microsoft.com/office/drawing/2014/chart" uri="{C3380CC4-5D6E-409C-BE32-E72D297353CC}">
              <c16:uniqueId val="{00000001-EF1C-4171-B8C7-CDD35AACE5C4}"/>
            </c:ext>
          </c:extLst>
        </c:ser>
        <c:ser>
          <c:idx val="2"/>
          <c:order val="2"/>
          <c:spPr>
            <a:solidFill>
              <a:schemeClr val="accent1"/>
            </a:solidFill>
            <a:ln>
              <a:noFill/>
            </a:ln>
          </c:spPr>
          <c:invertIfNegative val="0"/>
          <c:val>
            <c:numRef>
              <c:f>Sheet1!$A$3:$F$3</c:f>
              <c:numCache>
                <c:formatCode>General</c:formatCode>
                <c:ptCount val="6"/>
                <c:pt idx="0">
                  <c:v>5.759999999999998</c:v>
                </c:pt>
                <c:pt idx="1">
                  <c:v>9.6199999999999974</c:v>
                </c:pt>
                <c:pt idx="2">
                  <c:v>12.109999999999992</c:v>
                </c:pt>
                <c:pt idx="3">
                  <c:v>13.020000000000003</c:v>
                </c:pt>
                <c:pt idx="4">
                  <c:v>14.219999999999999</c:v>
                </c:pt>
                <c:pt idx="5">
                  <c:v>15.130000000000003</c:v>
                </c:pt>
              </c:numCache>
            </c:numRef>
          </c:val>
          <c:extLst>
            <c:ext xmlns:c16="http://schemas.microsoft.com/office/drawing/2014/chart" uri="{C3380CC4-5D6E-409C-BE32-E72D297353CC}">
              <c16:uniqueId val="{00000002-EF1C-4171-B8C7-CDD35AACE5C4}"/>
            </c:ext>
          </c:extLst>
        </c:ser>
        <c:dLbls>
          <c:showLegendKey val="0"/>
          <c:showVal val="0"/>
          <c:showCatName val="0"/>
          <c:showSerName val="0"/>
          <c:showPercent val="0"/>
          <c:showBubbleSize val="0"/>
        </c:dLbls>
        <c:gapWidth val="80"/>
        <c:overlap val="100"/>
        <c:axId val="1712044703"/>
        <c:axId val="1"/>
      </c:barChart>
      <c:lineChart>
        <c:grouping val="standard"/>
        <c:varyColors val="0"/>
        <c:ser>
          <c:idx val="3"/>
          <c:order val="3"/>
          <c:spPr>
            <a:ln w="19050" cmpd="sng" algn="ctr">
              <a:solidFill>
                <a:schemeClr val="accent2"/>
              </a:solidFill>
              <a:prstDash val="solid"/>
            </a:ln>
          </c:spPr>
          <c:marker>
            <c:symbol val="none"/>
          </c:marker>
          <c:val>
            <c:numRef>
              <c:f>Sheet1!$A$4:$F$4</c:f>
              <c:numCache>
                <c:formatCode>General</c:formatCode>
                <c:ptCount val="6"/>
              </c:numCache>
            </c:numRef>
          </c:val>
          <c:smooth val="0"/>
          <c:extLst>
            <c:ext xmlns:c16="http://schemas.microsoft.com/office/drawing/2014/chart" uri="{C3380CC4-5D6E-409C-BE32-E72D297353CC}">
              <c16:uniqueId val="{00000003-EF1C-4171-B8C7-CDD35AACE5C4}"/>
            </c:ext>
          </c:extLst>
        </c:ser>
        <c:ser>
          <c:idx val="4"/>
          <c:order val="4"/>
          <c:spPr>
            <a:ln w="19050" cmpd="sng" algn="ctr">
              <a:solidFill>
                <a:schemeClr val="accent2"/>
              </a:solidFill>
              <a:prstDash val="solid"/>
            </a:ln>
          </c:spPr>
          <c:marker>
            <c:symbol val="none"/>
          </c:marker>
          <c:val>
            <c:numRef>
              <c:f>Sheet1!$A$5:$F$5</c:f>
              <c:numCache>
                <c:formatCode>General</c:formatCode>
                <c:ptCount val="6"/>
              </c:numCache>
            </c:numRef>
          </c:val>
          <c:smooth val="0"/>
          <c:extLst>
            <c:ext xmlns:c16="http://schemas.microsoft.com/office/drawing/2014/chart" uri="{C3380CC4-5D6E-409C-BE32-E72D297353CC}">
              <c16:uniqueId val="{00000004-EF1C-4171-B8C7-CDD35AACE5C4}"/>
            </c:ext>
          </c:extLst>
        </c:ser>
        <c:dLbls>
          <c:showLegendKey val="0"/>
          <c:showVal val="0"/>
          <c:showCatName val="0"/>
          <c:showSerName val="0"/>
          <c:showPercent val="0"/>
          <c:showBubbleSize val="0"/>
        </c:dLbls>
        <c:marker val="1"/>
        <c:smooth val="0"/>
        <c:axId val="1712044703"/>
        <c:axId val="1"/>
      </c:lineChart>
      <c:catAx>
        <c:axId val="171204470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5"/>
          <c:min val="30"/>
        </c:scaling>
        <c:delete val="0"/>
        <c:axPos val="l"/>
        <c:majorGridlines>
          <c:spPr>
            <a:ln>
              <a:noFill/>
            </a:ln>
          </c:spPr>
        </c:majorGridlines>
        <c:numFmt formatCode="General" sourceLinked="1"/>
        <c:majorTickMark val="none"/>
        <c:minorTickMark val="none"/>
        <c:tickLblPos val="none"/>
        <c:spPr>
          <a:ln w="9525" cmpd="sng" algn="ctr">
            <a:solidFill>
              <a:srgbClr val="3A3A3A"/>
            </a:solidFill>
            <a:prstDash val="solid"/>
          </a:ln>
        </c:spPr>
        <c:crossAx val="1712044703"/>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5374449339207E-2"/>
          <c:y val="9.8484848484848481E-2"/>
          <c:w val="0.97709251101321581"/>
          <c:h val="0.80303030303030298"/>
        </c:manualLayout>
      </c:layout>
      <c:lineChart>
        <c:grouping val="standard"/>
        <c:varyColors val="0"/>
        <c:ser>
          <c:idx val="0"/>
          <c:order val="0"/>
          <c:spPr>
            <a:ln w="19050" cmpd="sng" algn="ctr">
              <a:solidFill>
                <a:schemeClr val="accent2"/>
              </a:solidFill>
              <a:prstDash val="solid"/>
            </a:ln>
          </c:spPr>
          <c:marker>
            <c:symbol val="none"/>
          </c:marker>
          <c:val>
            <c:numRef>
              <c:f>Sheet1!$A$1:$F$1</c:f>
              <c:numCache>
                <c:formatCode>General</c:formatCode>
                <c:ptCount val="6"/>
                <c:pt idx="0">
                  <c:v>122.8</c:v>
                </c:pt>
                <c:pt idx="1">
                  <c:v>102.7</c:v>
                </c:pt>
                <c:pt idx="2">
                  <c:v>100.8</c:v>
                </c:pt>
              </c:numCache>
            </c:numRef>
          </c:val>
          <c:smooth val="0"/>
          <c:extLst>
            <c:ext xmlns:c16="http://schemas.microsoft.com/office/drawing/2014/chart" uri="{C3380CC4-5D6E-409C-BE32-E72D297353CC}">
              <c16:uniqueId val="{00000000-EAA2-4C9E-9DA5-45DE1ACB9611}"/>
            </c:ext>
          </c:extLst>
        </c:ser>
        <c:ser>
          <c:idx val="1"/>
          <c:order val="1"/>
          <c:spPr>
            <a:ln w="19050" cmpd="sng" algn="ctr">
              <a:solidFill>
                <a:schemeClr val="accent2"/>
              </a:solidFill>
              <a:prstDash val="solid"/>
            </a:ln>
          </c:spPr>
          <c:marker>
            <c:symbol val="none"/>
          </c:marker>
          <c:val>
            <c:numRef>
              <c:f>Sheet1!$A$2:$F$2</c:f>
              <c:numCache>
                <c:formatCode>General</c:formatCode>
                <c:ptCount val="6"/>
                <c:pt idx="3">
                  <c:v>85.7</c:v>
                </c:pt>
                <c:pt idx="4">
                  <c:v>75.599999999999994</c:v>
                </c:pt>
                <c:pt idx="5">
                  <c:v>72.599999999999994</c:v>
                </c:pt>
              </c:numCache>
            </c:numRef>
          </c:val>
          <c:smooth val="0"/>
          <c:extLst>
            <c:ext xmlns:c16="http://schemas.microsoft.com/office/drawing/2014/chart" uri="{C3380CC4-5D6E-409C-BE32-E72D297353CC}">
              <c16:uniqueId val="{00000001-EAA2-4C9E-9DA5-45DE1ACB9611}"/>
            </c:ext>
          </c:extLst>
        </c:ser>
        <c:dLbls>
          <c:showLegendKey val="0"/>
          <c:showVal val="0"/>
          <c:showCatName val="0"/>
          <c:showSerName val="0"/>
          <c:showPercent val="0"/>
          <c:showBubbleSize val="0"/>
        </c:dLbls>
        <c:smooth val="0"/>
        <c:axId val="1239713519"/>
        <c:axId val="1"/>
      </c:lineChart>
      <c:catAx>
        <c:axId val="1239713519"/>
        <c:scaling>
          <c:orientation val="minMax"/>
        </c:scaling>
        <c:delete val="0"/>
        <c:axPos val="b"/>
        <c:majorGridlines>
          <c:spPr>
            <a:ln>
              <a:noFill/>
            </a:ln>
          </c:spPr>
        </c:majorGridlines>
        <c:majorTickMark val="none"/>
        <c:minorTickMark val="none"/>
        <c:tickLblPos val="none"/>
        <c:spPr>
          <a:ln w="9525" cmpd="sng" algn="ctr">
            <a:solidFill>
              <a:srgbClr val="3A3A3A"/>
            </a:solidFill>
            <a:prstDash val="solid"/>
          </a:ln>
        </c:spPr>
        <c:crossAx val="1"/>
        <c:crosses val="min"/>
        <c:auto val="0"/>
        <c:lblAlgn val="ctr"/>
        <c:lblOffset val="100"/>
        <c:noMultiLvlLbl val="0"/>
      </c:catAx>
      <c:valAx>
        <c:axId val="1"/>
        <c:scaling>
          <c:orientation val="minMax"/>
          <c:max val="150"/>
          <c:min val="0"/>
        </c:scaling>
        <c:delete val="0"/>
        <c:axPos val="l"/>
        <c:majorGridlines>
          <c:spPr>
            <a:ln>
              <a:noFill/>
            </a:ln>
          </c:spPr>
        </c:majorGridlines>
        <c:numFmt formatCode="General" sourceLinked="1"/>
        <c:majorTickMark val="none"/>
        <c:minorTickMark val="none"/>
        <c:tickLblPos val="none"/>
        <c:spPr>
          <a:ln w="9525" cmpd="sng" algn="ctr">
            <a:solidFill>
              <a:srgbClr val="3A3A3A"/>
            </a:solidFill>
            <a:prstDash val="solid"/>
          </a:ln>
        </c:spPr>
        <c:crossAx val="1239713519"/>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ADDD7A8B-1C90-40F5-8A30-F317DCF31332}" type="datetimeFigureOut">
              <a:rPr lang="en-US" smtClean="0"/>
              <a:pPr/>
              <a:t>2/13/2026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E1ACA51B-FAD1-4562-AE44-70F5B0838FA1}" type="slidenum">
              <a:rPr lang="en-US" smtClean="0"/>
              <a:pPr/>
              <a:t>‹#›</a:t>
            </a:fld>
            <a:endParaRPr lang="en-US" dirty="0"/>
          </a:p>
        </p:txBody>
      </p:sp>
    </p:spTree>
    <p:extLst>
      <p:ext uri="{BB962C8B-B14F-4D97-AF65-F5344CB8AC3E}">
        <p14:creationId xmlns:p14="http://schemas.microsoft.com/office/powerpoint/2010/main" val="396583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0</a:t>
            </a:fld>
            <a:endParaRPr lang="en-US" dirty="0"/>
          </a:p>
        </p:txBody>
      </p:sp>
    </p:spTree>
    <p:extLst>
      <p:ext uri="{BB962C8B-B14F-4D97-AF65-F5344CB8AC3E}">
        <p14:creationId xmlns:p14="http://schemas.microsoft.com/office/powerpoint/2010/main" val="3945428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CEF38-E492-65EC-42A2-AD8EA1E9E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34942-1D84-C547-24C7-CE0F3DBE7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7B717-7853-DC66-D254-96D85807C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3B3E2-191B-3D02-A585-65A798637753}"/>
              </a:ext>
            </a:extLst>
          </p:cNvPr>
          <p:cNvSpPr>
            <a:spLocks noGrp="1"/>
          </p:cNvSpPr>
          <p:nvPr>
            <p:ph type="sldNum" sz="quarter" idx="5"/>
          </p:nvPr>
        </p:nvSpPr>
        <p:spPr/>
        <p:txBody>
          <a:bodyPr/>
          <a:lstStyle/>
          <a:p>
            <a:fld id="{E1ACA51B-FAD1-4562-AE44-70F5B0838FA1}" type="slidenum">
              <a:rPr lang="en-US" smtClean="0"/>
              <a:pPr/>
              <a:t>1</a:t>
            </a:fld>
            <a:endParaRPr lang="en-US" dirty="0"/>
          </a:p>
        </p:txBody>
      </p:sp>
    </p:spTree>
    <p:extLst>
      <p:ext uri="{BB962C8B-B14F-4D97-AF65-F5344CB8AC3E}">
        <p14:creationId xmlns:p14="http://schemas.microsoft.com/office/powerpoint/2010/main" val="517972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2</a:t>
            </a:fld>
            <a:endParaRPr lang="en-US" dirty="0"/>
          </a:p>
        </p:txBody>
      </p:sp>
    </p:spTree>
    <p:extLst>
      <p:ext uri="{BB962C8B-B14F-4D97-AF65-F5344CB8AC3E}">
        <p14:creationId xmlns:p14="http://schemas.microsoft.com/office/powerpoint/2010/main" val="2744648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SCOT Team is </a:t>
            </a:r>
            <a:r>
              <a:rPr lang="en-GB" sz="1200" dirty="0"/>
              <a:t>the "nervous system" that manages the lifecycle of hundreds of millions of products.</a:t>
            </a:r>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91174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most significant advancements Amazon has made is in its demand forecasting capabilities. Traditional forecasting methods often rely on historical data and can be inaccurate when faced with sudden changes in market conditions. </a:t>
            </a:r>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4</a:t>
            </a:fld>
            <a:endParaRPr lang="en-US" dirty="0"/>
          </a:p>
        </p:txBody>
      </p:sp>
    </p:spTree>
    <p:extLst>
      <p:ext uri="{BB962C8B-B14F-4D97-AF65-F5344CB8AC3E}">
        <p14:creationId xmlns:p14="http://schemas.microsoft.com/office/powerpoint/2010/main" val="2008661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5</a:t>
            </a:fld>
            <a:endParaRPr lang="en-US" dirty="0"/>
          </a:p>
        </p:txBody>
      </p:sp>
    </p:spTree>
    <p:extLst>
      <p:ext uri="{BB962C8B-B14F-4D97-AF65-F5344CB8AC3E}">
        <p14:creationId xmlns:p14="http://schemas.microsoft.com/office/powerpoint/2010/main" val="2537759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Robots equipped with AI algorithms manage the movement of goods within warehouses</a:t>
            </a:r>
            <a:r>
              <a:rPr lang="en-US" sz="1200" noProof="0" dirty="0">
                <a:solidFill>
                  <a:schemeClr val="bg1"/>
                </a:solidFill>
              </a:rPr>
              <a:t>,</a:t>
            </a:r>
            <a:r>
              <a:rPr lang="en-US" sz="1200" noProof="0" dirty="0">
                <a:solidFill>
                  <a:schemeClr val="tx2"/>
                </a:solidFill>
              </a:rPr>
              <a:t> optimizing the layout and retrieval processes</a:t>
            </a:r>
            <a:r>
              <a:rPr lang="en-US" sz="1200" noProof="0" dirty="0"/>
              <a:t>. This reduces the time it takes to pick and pack items, increasing overall efficiency.</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noProof="0" dirty="0"/>
            </a:br>
            <a:r>
              <a:rPr lang="en-US" sz="1200" noProof="0" dirty="0"/>
              <a:t>These algorithms continuously analyze data from across the supply chain to </a:t>
            </a:r>
            <a:r>
              <a:rPr lang="en-US" sz="1200" noProof="0" dirty="0">
                <a:solidFill>
                  <a:schemeClr val="tx2"/>
                </a:solidFill>
              </a:rPr>
              <a:t>optimize stock levels, reorder points, and replenishment strategies</a:t>
            </a:r>
            <a:r>
              <a:rPr lang="en-US" sz="1200" noProof="0" dirty="0"/>
              <a:t>. This dynamic approach ensures that Amazon’s inventory is always aligned with current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dirty="0"/>
          </a:p>
          <a:p>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6</a:t>
            </a:fld>
            <a:endParaRPr lang="en-US" dirty="0"/>
          </a:p>
        </p:txBody>
      </p:sp>
    </p:spTree>
    <p:extLst>
      <p:ext uri="{BB962C8B-B14F-4D97-AF65-F5344CB8AC3E}">
        <p14:creationId xmlns:p14="http://schemas.microsoft.com/office/powerpoint/2010/main" val="4133708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Dynamic Route Planning: Using AI, Amazon can adjust delivery routes in real time based on traffic conditions, weather, and other factors. This reduces delivery times and fuel costs, contributing to the company’s sustainability goals.</a:t>
            </a:r>
          </a:p>
          <a:p>
            <a:r>
              <a:rPr lang="en-GB" sz="1200" b="0" i="0" kern="1200" dirty="0">
                <a:solidFill>
                  <a:schemeClr val="tx1"/>
                </a:solidFill>
                <a:effectLst/>
                <a:latin typeface="+mn-lt"/>
                <a:ea typeface="+mn-ea"/>
                <a:cs typeface="+mn-cs"/>
              </a:rPr>
              <a:t>Load Balancing: AI algorithms </a:t>
            </a:r>
            <a:r>
              <a:rPr lang="en-GB" sz="1200" b="0" i="0" kern="1200" dirty="0" err="1">
                <a:solidFill>
                  <a:schemeClr val="tx1"/>
                </a:solidFill>
                <a:effectLst/>
                <a:latin typeface="+mn-lt"/>
                <a:ea typeface="+mn-ea"/>
                <a:cs typeface="+mn-cs"/>
              </a:rPr>
              <a:t>analyze</a:t>
            </a:r>
            <a:r>
              <a:rPr lang="en-GB" sz="1200" b="0" i="0" kern="1200" dirty="0">
                <a:solidFill>
                  <a:schemeClr val="tx1"/>
                </a:solidFill>
                <a:effectLst/>
                <a:latin typeface="+mn-lt"/>
                <a:ea typeface="+mn-ea"/>
                <a:cs typeface="+mn-cs"/>
              </a:rPr>
              <a:t> the flow of goods through the logistics network and automatically adjust the distribution of goods to prevent bottlenecks. This ensures that no single warehouse or delivery route is overwhelmed, leading to faster and more reliable deliveries.</a:t>
            </a:r>
          </a:p>
          <a:p>
            <a:endParaRPr lang="en-US" dirty="0"/>
          </a:p>
          <a:p>
            <a:endParaRPr lang="en-US" dirty="0"/>
          </a:p>
        </p:txBody>
      </p:sp>
      <p:sp>
        <p:nvSpPr>
          <p:cNvPr id="4" name="Slide Number Placeholder 3"/>
          <p:cNvSpPr>
            <a:spLocks noGrp="1"/>
          </p:cNvSpPr>
          <p:nvPr>
            <p:ph type="sldNum" sz="quarter" idx="5"/>
          </p:nvPr>
        </p:nvSpPr>
        <p:spPr/>
        <p:txBody>
          <a:bodyPr/>
          <a:lstStyle/>
          <a:p>
            <a:fld id="{E1ACA51B-FAD1-4562-AE44-70F5B0838FA1}" type="slidenum">
              <a:rPr lang="en-US" smtClean="0"/>
              <a:pPr/>
              <a:t>7</a:t>
            </a:fld>
            <a:endParaRPr lang="en-US" dirty="0"/>
          </a:p>
        </p:txBody>
      </p:sp>
    </p:spTree>
    <p:extLst>
      <p:ext uri="{BB962C8B-B14F-4D97-AF65-F5344CB8AC3E}">
        <p14:creationId xmlns:p14="http://schemas.microsoft.com/office/powerpoint/2010/main" val="968382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68D57-8F63-DBF0-6337-6E6274174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2D558-7E72-D56D-30F1-7EAF4226D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86C16-83EF-9B47-357C-3DE530032C18}"/>
              </a:ext>
            </a:extLst>
          </p:cNvPr>
          <p:cNvSpPr>
            <a:spLocks noGrp="1"/>
          </p:cNvSpPr>
          <p:nvPr>
            <p:ph type="body" idx="1"/>
          </p:nvPr>
        </p:nvSpPr>
        <p:spPr/>
        <p:txBody>
          <a:bodyPr/>
          <a:lstStyle/>
          <a:p>
            <a:r>
              <a:rPr lang="en-US" dirty="0"/>
              <a:t>Average delivery days is avg del days</a:t>
            </a:r>
          </a:p>
          <a:p>
            <a:pPr marL="540000" lvl="1" indent="-216000" eaLnBrk="0" fontAlgn="base" hangingPunct="0">
              <a:lnSpc>
                <a:spcPct val="100000"/>
              </a:lnSpc>
              <a:spcBef>
                <a:spcPct val="0"/>
              </a:spcBef>
              <a:spcAft>
                <a:spcPts val="600"/>
              </a:spcAft>
              <a:buFontTx/>
              <a:buChar char="•"/>
            </a:pPr>
            <a:r>
              <a:rPr lang="en-US" altLang="en-US" sz="1400" dirty="0"/>
              <a:t>Continuous improvement in average delivery times from 2019–2023 </a:t>
            </a:r>
          </a:p>
          <a:p>
            <a:pPr marL="540000" lvl="1" indent="-216000" eaLnBrk="0" fontAlgn="base" hangingPunct="0">
              <a:lnSpc>
                <a:spcPct val="100000"/>
              </a:lnSpc>
              <a:spcBef>
                <a:spcPct val="0"/>
              </a:spcBef>
              <a:spcAft>
                <a:spcPts val="600"/>
              </a:spcAft>
              <a:buFontTx/>
              <a:buChar char="•"/>
            </a:pPr>
            <a:r>
              <a:rPr lang="en-US" altLang="en-US" sz="1400" dirty="0"/>
              <a:t>Maintained record speeds despite the unprecedented logistics strain of COVID‑19</a:t>
            </a:r>
          </a:p>
          <a:p>
            <a:br>
              <a:rPr lang="en-US" dirty="0"/>
            </a:br>
            <a:br>
              <a:rPr lang="en-US" dirty="0"/>
            </a:br>
            <a:r>
              <a:rPr lang="en-GB" sz="1200" b="0" i="0" kern="1200" dirty="0">
                <a:solidFill>
                  <a:schemeClr val="tx1"/>
                </a:solidFill>
                <a:effectLst/>
                <a:latin typeface="+mn-lt"/>
                <a:ea typeface="+mn-ea"/>
                <a:cs typeface="+mn-cs"/>
              </a:rPr>
              <a:t>Inventory turnover rate (or ratio) is an indicator of how quickly a company sells its inventory in a given period of time, usually a year. The rate reveals the number of times a company has to restock their inventory per year. The higher the rate is, the faster the goods are moving.</a:t>
            </a:r>
            <a:endParaRPr lang="en-US" dirty="0"/>
          </a:p>
        </p:txBody>
      </p:sp>
      <p:sp>
        <p:nvSpPr>
          <p:cNvPr id="4" name="Slide Number Placeholder 3">
            <a:extLst>
              <a:ext uri="{FF2B5EF4-FFF2-40B4-BE49-F238E27FC236}">
                <a16:creationId xmlns:a16="http://schemas.microsoft.com/office/drawing/2014/main" id="{43842A01-01EE-B46E-EA96-8D01DB470E67}"/>
              </a:ext>
            </a:extLst>
          </p:cNvPr>
          <p:cNvSpPr>
            <a:spLocks noGrp="1"/>
          </p:cNvSpPr>
          <p:nvPr>
            <p:ph type="sldNum" sz="quarter" idx="5"/>
          </p:nvPr>
        </p:nvSpPr>
        <p:spPr/>
        <p:txBody>
          <a:bodyPr/>
          <a:lstStyle/>
          <a:p>
            <a:fld id="{E1ACA51B-FAD1-4562-AE44-70F5B0838FA1}" type="slidenum">
              <a:rPr lang="en-US" smtClean="0"/>
              <a:pPr/>
              <a:t>9</a:t>
            </a:fld>
            <a:endParaRPr lang="en-US" dirty="0"/>
          </a:p>
        </p:txBody>
      </p:sp>
    </p:spTree>
    <p:extLst>
      <p:ext uri="{BB962C8B-B14F-4D97-AF65-F5344CB8AC3E}">
        <p14:creationId xmlns:p14="http://schemas.microsoft.com/office/powerpoint/2010/main" val="2140195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2B30F-3E51-D1BA-E197-9085FA405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FEBEA-1DB8-8AC2-9465-5C0B4F86D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C49C7-6231-6BBE-9D3D-776EC15068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Direct Emissions: Greenhouse gases generated primarily from logistics fleet fuel and building refrigerants, managed by optimizing the end-to-end package journey.</a:t>
            </a:r>
            <a:br>
              <a:rPr lang="en-GB" sz="1200" dirty="0"/>
            </a:br>
            <a:endParaRPr lang="en-GB" sz="1200" dirty="0"/>
          </a:p>
          <a:p>
            <a:r>
              <a:rPr lang="en-GB" sz="1400" dirty="0"/>
              <a:t>Our indirect emissions from purchased electricity primarily come from electricity used to power buildings and charge EVs at our facilities. Two of the most effective ways we manage indirect emissions from purchased electricity are by transitioning to carbon-free energy sources and by improving energy efficiency. – AI chips very expensive on power too</a:t>
            </a:r>
            <a:br>
              <a:rPr lang="en-GB" sz="1400" dirty="0"/>
            </a:br>
            <a:br>
              <a:rPr lang="en-GB" sz="1400" dirty="0"/>
            </a:br>
            <a:r>
              <a:rPr lang="en-GB" sz="1400" dirty="0"/>
              <a:t>Indirect emissions from other sources are from activities beyond our direct operations, including building materials and construction, third-party transportation, and the production of Amazon-branded products and their components by our suppliers</a:t>
            </a:r>
            <a:endParaRPr lang="en-US" sz="1400" b="1"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045E779C-DEC0-32CE-5C46-37A983BE64CF}"/>
              </a:ext>
            </a:extLst>
          </p:cNvPr>
          <p:cNvSpPr>
            <a:spLocks noGrp="1"/>
          </p:cNvSpPr>
          <p:nvPr>
            <p:ph type="sldNum" sz="quarter" idx="5"/>
          </p:nvPr>
        </p:nvSpPr>
        <p:spPr/>
        <p:txBody>
          <a:bodyPr/>
          <a:lstStyle/>
          <a:p>
            <a:fld id="{E1ACA51B-FAD1-4562-AE44-70F5B0838FA1}" type="slidenum">
              <a:rPr lang="en-US" smtClean="0"/>
              <a:pPr/>
              <a:t>10</a:t>
            </a:fld>
            <a:endParaRPr lang="en-US" dirty="0"/>
          </a:p>
        </p:txBody>
      </p:sp>
    </p:spTree>
    <p:extLst>
      <p:ext uri="{BB962C8B-B14F-4D97-AF65-F5344CB8AC3E}">
        <p14:creationId xmlns:p14="http://schemas.microsoft.com/office/powerpoint/2010/main" val="3398779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3986-1229-AF8B-AEA6-5ADD9DE55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2DA91-BC07-6982-6763-A930928A4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3C869-0982-293C-4023-E16F9CE6BB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Direct Emissions: Greenhouse gases generated primarily from logistics fleet fuel and building refrigerants, managed by optimizing the end-to-end package journey.</a:t>
            </a:r>
            <a:br>
              <a:rPr lang="en-GB" sz="1200" dirty="0"/>
            </a:br>
            <a:endParaRPr lang="en-GB" sz="1200" dirty="0"/>
          </a:p>
          <a:p>
            <a:r>
              <a:rPr lang="en-GB" sz="1400" dirty="0"/>
              <a:t>Our indirect emissions from purchased electricity primarily come from electricity used to power buildings and charge EVs at our facilities. Two of the most effective ways we manage indirect emissions from purchased electricity are by transitioning to carbon-free energy sources and by improving energy efficiency. – AI chips very expensive on power too</a:t>
            </a:r>
            <a:br>
              <a:rPr lang="en-GB" sz="1400" dirty="0"/>
            </a:br>
            <a:br>
              <a:rPr lang="en-GB" sz="1400" dirty="0"/>
            </a:br>
            <a:r>
              <a:rPr lang="en-GB" sz="1400" dirty="0"/>
              <a:t>Indirect emissions from other sources are from activities beyond our direct operations, including building materials and construction, third-party transportation, and the production of Amazon-branded products and their components by our suppliers</a:t>
            </a:r>
            <a:endParaRPr lang="en-US" sz="1400" b="1"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0AD2E481-4F01-E24A-CC00-F3E332A99C11}"/>
              </a:ext>
            </a:extLst>
          </p:cNvPr>
          <p:cNvSpPr>
            <a:spLocks noGrp="1"/>
          </p:cNvSpPr>
          <p:nvPr>
            <p:ph type="sldNum" sz="quarter" idx="5"/>
          </p:nvPr>
        </p:nvSpPr>
        <p:spPr/>
        <p:txBody>
          <a:bodyPr/>
          <a:lstStyle/>
          <a:p>
            <a:fld id="{E1ACA51B-FAD1-4562-AE44-70F5B0838FA1}" type="slidenum">
              <a:rPr lang="en-US" smtClean="0"/>
              <a:pPr/>
              <a:t>12</a:t>
            </a:fld>
            <a:endParaRPr lang="en-US" dirty="0"/>
          </a:p>
        </p:txBody>
      </p:sp>
    </p:spTree>
    <p:extLst>
      <p:ext uri="{BB962C8B-B14F-4D97-AF65-F5344CB8AC3E}">
        <p14:creationId xmlns:p14="http://schemas.microsoft.com/office/powerpoint/2010/main" val="21595459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B124ECC-968F-E0FE-C88D-E7E9C8E27E42}"/>
              </a:ext>
            </a:extLst>
          </p:cNvPr>
          <p:cNvGraphicFramePr>
            <a:graphicFrameLocks/>
          </p:cNvGraphicFramePr>
          <p:nvPr userDrawn="1">
            <p:custDataLst>
              <p:tags r:id="rId1"/>
            </p:custDataLst>
            <p:extLst>
              <p:ext uri="{D42A27DB-BD31-4B8C-83A1-F6EECF244321}">
                <p14:modId xmlns:p14="http://schemas.microsoft.com/office/powerpoint/2010/main" val="2234413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9B124ECC-968F-E0FE-C88D-E7E9C8E27E42}"/>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EC697FE-5185-AF44-E047-052E5EEEE87C}"/>
              </a:ext>
            </a:extLst>
          </p:cNvPr>
          <p:cNvSpPr>
            <a:spLocks noGrp="1"/>
          </p:cNvSpPr>
          <p:nvPr>
            <p:ph type="ctrTitle"/>
          </p:nvPr>
        </p:nvSpPr>
        <p:spPr>
          <a:xfrm>
            <a:off x="1524000" y="1122363"/>
            <a:ext cx="9144000" cy="2387600"/>
          </a:xfrm>
        </p:spPr>
        <p:txBody>
          <a:bodyPr vert="horz" rIns="91440" anchor="b"/>
          <a:lstStyle>
            <a:lvl1pPr algn="ctr" rtl="0">
              <a:defRPr sz="6000"/>
            </a:lvl1pPr>
          </a:lstStyle>
          <a:p>
            <a:r>
              <a:rPr lang="en-US" dirty="0"/>
              <a:t>Click to edit Master title style</a:t>
            </a:r>
          </a:p>
        </p:txBody>
      </p:sp>
      <p:sp>
        <p:nvSpPr>
          <p:cNvPr id="3" name="Subtitle 2">
            <a:extLst>
              <a:ext uri="{FF2B5EF4-FFF2-40B4-BE49-F238E27FC236}">
                <a16:creationId xmlns:a16="http://schemas.microsoft.com/office/drawing/2014/main" id="{EB396BA5-8215-3A95-B8E5-060A5449C26A}"/>
              </a:ext>
            </a:extLst>
          </p:cNvPr>
          <p:cNvSpPr>
            <a:spLocks noGrp="1"/>
          </p:cNvSpPr>
          <p:nvPr>
            <p:ph type="subTitle" idx="1"/>
          </p:nvPr>
        </p:nvSpPr>
        <p:spPr>
          <a:xfrm>
            <a:off x="1524000" y="3602038"/>
            <a:ext cx="9144000" cy="1655762"/>
          </a:xfrm>
        </p:spPr>
        <p:txBody>
          <a:bodyPr/>
          <a:lstStyle>
            <a:lvl1pPr marL="0" indent="0" algn="ctr" rtl="0">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699210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8E2EA75-DFA0-1417-DF1B-1A7235BFC311}"/>
              </a:ext>
            </a:extLst>
          </p:cNvPr>
          <p:cNvGraphicFramePr>
            <a:graphicFrameLocks/>
          </p:cNvGraphicFramePr>
          <p:nvPr userDrawn="1">
            <p:custDataLst>
              <p:tags r:id="rId1"/>
            </p:custDataLst>
            <p:extLst>
              <p:ext uri="{D42A27DB-BD31-4B8C-83A1-F6EECF244321}">
                <p14:modId xmlns:p14="http://schemas.microsoft.com/office/powerpoint/2010/main" val="2509088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C8E2EA75-DFA0-1417-DF1B-1A7235BFC311}"/>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1F8043-F637-BAAD-2240-5ECF53F2BE90}"/>
              </a:ext>
            </a:extLst>
          </p:cNvPr>
          <p:cNvSpPr>
            <a:spLocks noGrp="1"/>
          </p:cNvSpPr>
          <p:nvPr>
            <p:ph type="title"/>
          </p:nvPr>
        </p:nvSpPr>
        <p:spPr/>
        <p:txBody>
          <a:bodyPr vert="horz" rIns="91440"/>
          <a:lstStyle>
            <a:lvl1pPr rtl="0">
              <a:defRPr/>
            </a:lvl1pPr>
          </a:lstStyle>
          <a:p>
            <a:r>
              <a:rPr lang="en-US" dirty="0"/>
              <a:t>Click to edit Master title style</a:t>
            </a:r>
          </a:p>
        </p:txBody>
      </p:sp>
      <p:sp>
        <p:nvSpPr>
          <p:cNvPr id="3" name="Content Placeholder 2">
            <a:extLst>
              <a:ext uri="{FF2B5EF4-FFF2-40B4-BE49-F238E27FC236}">
                <a16:creationId xmlns:a16="http://schemas.microsoft.com/office/drawing/2014/main" id="{6E76F532-2E85-1ACD-CD6E-27F1E560B45E}"/>
              </a:ext>
            </a:extLst>
          </p:cNvPr>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5AA062-D7EB-272F-5E4D-9AC0E6BF6A4A}"/>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
        <p:nvSpPr>
          <p:cNvPr id="8" name="Footer Placeholder 4">
            <a:extLst>
              <a:ext uri="{FF2B5EF4-FFF2-40B4-BE49-F238E27FC236}">
                <a16:creationId xmlns:a16="http://schemas.microsoft.com/office/drawing/2014/main" id="{5C0FD4E4-AB0D-A9AA-FA66-721FAD2C7CFD}"/>
              </a:ext>
            </a:extLst>
          </p:cNvPr>
          <p:cNvSpPr>
            <a:spLocks noGrp="1"/>
          </p:cNvSpPr>
          <p:nvPr>
            <p:ph type="ftr" sz="quarter" idx="11"/>
          </p:nvPr>
        </p:nvSpPr>
        <p:spPr>
          <a:xfrm>
            <a:off x="838200" y="6356350"/>
            <a:ext cx="8981364" cy="365125"/>
          </a:xfrm>
        </p:spPr>
        <p:txBody>
          <a:bodyPr/>
          <a:lstStyle>
            <a:lvl1pPr rtl="0">
              <a:defRPr/>
            </a:lvl1pPr>
          </a:lstStyle>
          <a:p>
            <a:endParaRPr lang="en-US" dirty="0"/>
          </a:p>
        </p:txBody>
      </p:sp>
    </p:spTree>
    <p:extLst>
      <p:ext uri="{BB962C8B-B14F-4D97-AF65-F5344CB8AC3E}">
        <p14:creationId xmlns:p14="http://schemas.microsoft.com/office/powerpoint/2010/main" val="339469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tx2">
                <a:lumMod val="89000"/>
              </a:schemeClr>
            </a:gs>
            <a:gs pos="23000">
              <a:schemeClr val="tx2">
                <a:lumMod val="89000"/>
              </a:schemeClr>
            </a:gs>
            <a:gs pos="69000">
              <a:schemeClr val="tx2">
                <a:lumMod val="75000"/>
              </a:schemeClr>
            </a:gs>
            <a:gs pos="97000">
              <a:schemeClr val="tx2">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1DB56C0-ABFF-F728-88CA-3DE50942D503}"/>
              </a:ext>
            </a:extLst>
          </p:cNvPr>
          <p:cNvGraphicFramePr>
            <a:graphicFrameLocks/>
          </p:cNvGraphicFramePr>
          <p:nvPr userDrawn="1">
            <p:custDataLst>
              <p:tags r:id="rId1"/>
            </p:custDataLst>
            <p:extLst>
              <p:ext uri="{D42A27DB-BD31-4B8C-83A1-F6EECF244321}">
                <p14:modId xmlns:p14="http://schemas.microsoft.com/office/powerpoint/2010/main" val="316962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D1DB56C0-ABFF-F728-88CA-3DE50942D503}"/>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A16841-2AE5-8885-5820-A609E893CF4C}"/>
              </a:ext>
            </a:extLst>
          </p:cNvPr>
          <p:cNvSpPr>
            <a:spLocks noGrp="1"/>
          </p:cNvSpPr>
          <p:nvPr>
            <p:ph type="title" hasCustomPrompt="1"/>
          </p:nvPr>
        </p:nvSpPr>
        <p:spPr>
          <a:xfrm>
            <a:off x="831850" y="1709738"/>
            <a:ext cx="10515600" cy="2852737"/>
          </a:xfrm>
        </p:spPr>
        <p:txBody>
          <a:bodyPr vert="horz" rIns="91440" anchor="b"/>
          <a:lstStyle>
            <a:lvl1pPr rtl="0">
              <a:defRPr sz="6000"/>
            </a:lvl1pPr>
          </a:lstStyle>
          <a:p>
            <a:r>
              <a:rPr lang="en-US" dirty="0"/>
              <a:t>Divider Slide</a:t>
            </a:r>
          </a:p>
        </p:txBody>
      </p:sp>
      <p:sp>
        <p:nvSpPr>
          <p:cNvPr id="3" name="Text Placeholder 2">
            <a:extLst>
              <a:ext uri="{FF2B5EF4-FFF2-40B4-BE49-F238E27FC236}">
                <a16:creationId xmlns:a16="http://schemas.microsoft.com/office/drawing/2014/main" id="{0451EC50-8513-136A-2D79-4C48BF777A82}"/>
              </a:ext>
            </a:extLst>
          </p:cNvPr>
          <p:cNvSpPr>
            <a:spLocks noGrp="1"/>
          </p:cNvSpPr>
          <p:nvPr>
            <p:ph type="body" idx="1"/>
          </p:nvPr>
        </p:nvSpPr>
        <p:spPr>
          <a:xfrm>
            <a:off x="831850" y="4589463"/>
            <a:ext cx="10515600" cy="1500187"/>
          </a:xfrm>
        </p:spPr>
        <p:txBody>
          <a:bodyPr/>
          <a:lstStyle>
            <a:lvl1pPr marL="0" indent="0" rtl="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D3D02CBF-DBBF-BA06-4965-397BDFEBF359}"/>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
        <p:nvSpPr>
          <p:cNvPr id="8" name="Footer Placeholder 4">
            <a:extLst>
              <a:ext uri="{FF2B5EF4-FFF2-40B4-BE49-F238E27FC236}">
                <a16:creationId xmlns:a16="http://schemas.microsoft.com/office/drawing/2014/main" id="{3AD2589D-CC1B-0470-16BD-A0BB161A175F}"/>
              </a:ext>
            </a:extLst>
          </p:cNvPr>
          <p:cNvSpPr>
            <a:spLocks noGrp="1"/>
          </p:cNvSpPr>
          <p:nvPr>
            <p:ph type="ftr" sz="quarter" idx="11"/>
          </p:nvPr>
        </p:nvSpPr>
        <p:spPr>
          <a:xfrm>
            <a:off x="838200" y="6356350"/>
            <a:ext cx="8981364" cy="365125"/>
          </a:xfrm>
        </p:spPr>
        <p:txBody>
          <a:bodyPr/>
          <a:lstStyle>
            <a:lvl1pPr rtl="0">
              <a:defRPr/>
            </a:lvl1pPr>
          </a:lstStyle>
          <a:p>
            <a:endParaRPr lang="en-US" dirty="0"/>
          </a:p>
        </p:txBody>
      </p:sp>
    </p:spTree>
    <p:extLst>
      <p:ext uri="{BB962C8B-B14F-4D97-AF65-F5344CB8AC3E}">
        <p14:creationId xmlns:p14="http://schemas.microsoft.com/office/powerpoint/2010/main" val="12874310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2739058-5CB5-70AB-1E41-10C1AAE36D0D}"/>
              </a:ext>
            </a:extLst>
          </p:cNvPr>
          <p:cNvGraphicFramePr>
            <a:graphicFrameLocks/>
          </p:cNvGraphicFramePr>
          <p:nvPr userDrawn="1">
            <p:custDataLst>
              <p:tags r:id="rId1"/>
            </p:custDataLst>
            <p:extLst>
              <p:ext uri="{D42A27DB-BD31-4B8C-83A1-F6EECF244321}">
                <p14:modId xmlns:p14="http://schemas.microsoft.com/office/powerpoint/2010/main" val="689233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8" name="think-cell data - do not delete" hidden="1">
                        <a:extLst>
                          <a:ext uri="{FF2B5EF4-FFF2-40B4-BE49-F238E27FC236}">
                            <a16:creationId xmlns:a16="http://schemas.microsoft.com/office/drawing/2014/main" id="{02739058-5CB5-70AB-1E41-10C1AAE36D0D}"/>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5901E5B-56D2-F581-566A-C34F72B3C32B}"/>
              </a:ext>
            </a:extLst>
          </p:cNvPr>
          <p:cNvSpPr>
            <a:spLocks noGrp="1"/>
          </p:cNvSpPr>
          <p:nvPr>
            <p:ph type="title"/>
          </p:nvPr>
        </p:nvSpPr>
        <p:spPr/>
        <p:txBody>
          <a:bodyPr vert="horz" rIns="91440"/>
          <a:lstStyle>
            <a:lvl1pPr rtl="0">
              <a:defRPr/>
            </a:lvl1pPr>
          </a:lstStyle>
          <a:p>
            <a:r>
              <a:rPr lang="en-US" dirty="0"/>
              <a:t>Click to edit Master title style</a:t>
            </a:r>
          </a:p>
        </p:txBody>
      </p:sp>
      <p:sp>
        <p:nvSpPr>
          <p:cNvPr id="3" name="Content Placeholder 2">
            <a:extLst>
              <a:ext uri="{FF2B5EF4-FFF2-40B4-BE49-F238E27FC236}">
                <a16:creationId xmlns:a16="http://schemas.microsoft.com/office/drawing/2014/main" id="{F7CBA016-F1EA-14DB-FCD7-6D4D28DCF775}"/>
              </a:ext>
            </a:extLst>
          </p:cNvPr>
          <p:cNvSpPr>
            <a:spLocks noGrp="1"/>
          </p:cNvSpPr>
          <p:nvPr>
            <p:ph sz="half" idx="1"/>
          </p:nvPr>
        </p:nvSpPr>
        <p:spPr>
          <a:xfrm>
            <a:off x="838200" y="1825625"/>
            <a:ext cx="5181600" cy="4351338"/>
          </a:xfrm>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85AB2F7-8257-554C-45CB-184FCEF11EDB}"/>
              </a:ext>
            </a:extLst>
          </p:cNvPr>
          <p:cNvSpPr>
            <a:spLocks noGrp="1"/>
          </p:cNvSpPr>
          <p:nvPr>
            <p:ph sz="half" idx="2"/>
          </p:nvPr>
        </p:nvSpPr>
        <p:spPr>
          <a:xfrm>
            <a:off x="6172200" y="1825625"/>
            <a:ext cx="5181600" cy="4351338"/>
          </a:xfrm>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A5D05489-716A-AAEB-5F57-EB2CA157BBFE}"/>
              </a:ext>
            </a:extLst>
          </p:cNvPr>
          <p:cNvSpPr>
            <a:spLocks noGrp="1"/>
          </p:cNvSpPr>
          <p:nvPr>
            <p:ph type="ftr" sz="quarter" idx="11"/>
          </p:nvPr>
        </p:nvSpPr>
        <p:spPr/>
        <p:txBody>
          <a:bodyPr/>
          <a:lstStyle>
            <a:lvl1pPr rtl="0">
              <a:defRPr/>
            </a:lvl1pPr>
          </a:lstStyle>
          <a:p>
            <a:endParaRPr lang="en-US" dirty="0"/>
          </a:p>
        </p:txBody>
      </p:sp>
      <p:sp>
        <p:nvSpPr>
          <p:cNvPr id="7" name="Slide Number Placeholder 6">
            <a:extLst>
              <a:ext uri="{FF2B5EF4-FFF2-40B4-BE49-F238E27FC236}">
                <a16:creationId xmlns:a16="http://schemas.microsoft.com/office/drawing/2014/main" id="{327EF462-8F1E-4F77-6902-6D5BE5B79AF5}"/>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Tree>
    <p:extLst>
      <p:ext uri="{BB962C8B-B14F-4D97-AF65-F5344CB8AC3E}">
        <p14:creationId xmlns:p14="http://schemas.microsoft.com/office/powerpoint/2010/main" val="3938614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C89EC0D-08EB-A091-DFDB-08F9D574DC70}"/>
              </a:ext>
            </a:extLst>
          </p:cNvPr>
          <p:cNvGraphicFramePr>
            <a:graphicFrameLocks/>
          </p:cNvGraphicFramePr>
          <p:nvPr userDrawn="1">
            <p:custDataLst>
              <p:tags r:id="rId1"/>
            </p:custDataLst>
            <p:extLst>
              <p:ext uri="{D42A27DB-BD31-4B8C-83A1-F6EECF244321}">
                <p14:modId xmlns:p14="http://schemas.microsoft.com/office/powerpoint/2010/main" val="25679768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10" name="think-cell data - do not delete" hidden="1">
                        <a:extLst>
                          <a:ext uri="{FF2B5EF4-FFF2-40B4-BE49-F238E27FC236}">
                            <a16:creationId xmlns:a16="http://schemas.microsoft.com/office/drawing/2014/main" id="{DC89EC0D-08EB-A091-DFDB-08F9D574DC70}"/>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7CAB41A-4E40-1854-AC26-DA91ECB8384D}"/>
              </a:ext>
            </a:extLst>
          </p:cNvPr>
          <p:cNvSpPr>
            <a:spLocks noGrp="1"/>
          </p:cNvSpPr>
          <p:nvPr>
            <p:ph type="title"/>
          </p:nvPr>
        </p:nvSpPr>
        <p:spPr>
          <a:xfrm>
            <a:off x="839788" y="365125"/>
            <a:ext cx="10515600" cy="1325563"/>
          </a:xfrm>
        </p:spPr>
        <p:txBody>
          <a:bodyPr vert="horz" rIns="91440"/>
          <a:lstStyle>
            <a:lvl1pPr rtl="0">
              <a:defRPr/>
            </a:lvl1pPr>
          </a:lstStyle>
          <a:p>
            <a:r>
              <a:rPr lang="en-US" dirty="0"/>
              <a:t>Click to edit Master title style</a:t>
            </a:r>
          </a:p>
        </p:txBody>
      </p:sp>
      <p:sp>
        <p:nvSpPr>
          <p:cNvPr id="3" name="Text Placeholder 2">
            <a:extLst>
              <a:ext uri="{FF2B5EF4-FFF2-40B4-BE49-F238E27FC236}">
                <a16:creationId xmlns:a16="http://schemas.microsoft.com/office/drawing/2014/main" id="{43A3A3F1-FACC-A3CC-4E57-0CA905770B45}"/>
              </a:ext>
            </a:extLst>
          </p:cNvPr>
          <p:cNvSpPr>
            <a:spLocks noGrp="1"/>
          </p:cNvSpPr>
          <p:nvPr>
            <p:ph type="body" idx="1"/>
          </p:nvPr>
        </p:nvSpPr>
        <p:spPr>
          <a:xfrm>
            <a:off x="839788" y="1681163"/>
            <a:ext cx="5157787" cy="82391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06BE3D7-553B-7072-1157-A7228A85AF34}"/>
              </a:ext>
            </a:extLst>
          </p:cNvPr>
          <p:cNvSpPr>
            <a:spLocks noGrp="1"/>
          </p:cNvSpPr>
          <p:nvPr>
            <p:ph sz="half" idx="2"/>
          </p:nvPr>
        </p:nvSpPr>
        <p:spPr>
          <a:xfrm>
            <a:off x="839788" y="2505075"/>
            <a:ext cx="5157787" cy="3684588"/>
          </a:xfrm>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E957059-D154-3B35-867F-D0D3958F65AC}"/>
              </a:ext>
            </a:extLst>
          </p:cNvPr>
          <p:cNvSpPr>
            <a:spLocks noGrp="1"/>
          </p:cNvSpPr>
          <p:nvPr>
            <p:ph type="body" sz="quarter" idx="3"/>
          </p:nvPr>
        </p:nvSpPr>
        <p:spPr>
          <a:xfrm>
            <a:off x="6172200" y="1681163"/>
            <a:ext cx="5183188" cy="823912"/>
          </a:xfrm>
        </p:spPr>
        <p:txBody>
          <a:bodyPr anchor="b"/>
          <a:lstStyle>
            <a:lvl1pPr marL="0" indent="0" rtl="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B0EC651-BC99-CBB2-2F0E-3968A0512CAA}"/>
              </a:ext>
            </a:extLst>
          </p:cNvPr>
          <p:cNvSpPr>
            <a:spLocks noGrp="1"/>
          </p:cNvSpPr>
          <p:nvPr>
            <p:ph sz="quarter" idx="4"/>
          </p:nvPr>
        </p:nvSpPr>
        <p:spPr>
          <a:xfrm>
            <a:off x="6172200" y="2505075"/>
            <a:ext cx="5183188" cy="3684588"/>
          </a:xfrm>
        </p:spPr>
        <p:txBody>
          <a:bodyPr/>
          <a:lstStyle>
            <a:lvl1pPr rtl="0">
              <a:defRPr/>
            </a:lvl1pPr>
            <a:lvl2pPr rtl="0">
              <a:defRPr/>
            </a:lvl2pPr>
            <a:lvl3pPr rtl="0">
              <a:defRPr/>
            </a:lvl3pPr>
            <a:lvl4pPr rtl="0">
              <a:defRPr/>
            </a:lvl4pPr>
            <a:lvl5pPr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3F785F81-09EC-7D4E-F357-C43DA7C7B263}"/>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
        <p:nvSpPr>
          <p:cNvPr id="11" name="Footer Placeholder 7">
            <a:extLst>
              <a:ext uri="{FF2B5EF4-FFF2-40B4-BE49-F238E27FC236}">
                <a16:creationId xmlns:a16="http://schemas.microsoft.com/office/drawing/2014/main" id="{0CE5AD33-5B9B-A7FB-BF2B-E50EF027A6E5}"/>
              </a:ext>
            </a:extLst>
          </p:cNvPr>
          <p:cNvSpPr>
            <a:spLocks noGrp="1"/>
          </p:cNvSpPr>
          <p:nvPr>
            <p:ph type="ftr" sz="quarter" idx="11"/>
          </p:nvPr>
        </p:nvSpPr>
        <p:spPr>
          <a:xfrm>
            <a:off x="838200" y="6356350"/>
            <a:ext cx="8981364" cy="365125"/>
          </a:xfrm>
        </p:spPr>
        <p:txBody>
          <a:bodyPr/>
          <a:lstStyle>
            <a:lvl1pPr rtl="0">
              <a:defRPr/>
            </a:lvl1pPr>
          </a:lstStyle>
          <a:p>
            <a:endParaRPr lang="en-US" dirty="0"/>
          </a:p>
        </p:txBody>
      </p:sp>
    </p:spTree>
    <p:extLst>
      <p:ext uri="{BB962C8B-B14F-4D97-AF65-F5344CB8AC3E}">
        <p14:creationId xmlns:p14="http://schemas.microsoft.com/office/powerpoint/2010/main" val="3966723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CD8B7D-F04F-10B1-3CA3-D260522CAA93}"/>
              </a:ext>
            </a:extLst>
          </p:cNvPr>
          <p:cNvGraphicFramePr>
            <a:graphicFrameLocks/>
          </p:cNvGraphicFramePr>
          <p:nvPr userDrawn="1">
            <p:custDataLst>
              <p:tags r:id="rId1"/>
            </p:custDataLst>
            <p:extLst>
              <p:ext uri="{D42A27DB-BD31-4B8C-83A1-F6EECF244321}">
                <p14:modId xmlns:p14="http://schemas.microsoft.com/office/powerpoint/2010/main" val="3427618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6" name="think-cell data - do not delete" hidden="1">
                        <a:extLst>
                          <a:ext uri="{FF2B5EF4-FFF2-40B4-BE49-F238E27FC236}">
                            <a16:creationId xmlns:a16="http://schemas.microsoft.com/office/drawing/2014/main" id="{F4CD8B7D-F04F-10B1-3CA3-D260522CAA93}"/>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583599-8633-147C-BE1C-8BBF1E864C57}"/>
              </a:ext>
            </a:extLst>
          </p:cNvPr>
          <p:cNvSpPr>
            <a:spLocks noGrp="1"/>
          </p:cNvSpPr>
          <p:nvPr>
            <p:ph type="title"/>
          </p:nvPr>
        </p:nvSpPr>
        <p:spPr/>
        <p:txBody>
          <a:bodyPr vert="horz" rIns="91440"/>
          <a:lstStyle>
            <a:lvl1pPr rtl="0">
              <a:defRPr/>
            </a:lvl1pPr>
          </a:lstStyle>
          <a:p>
            <a:r>
              <a:rPr lang="en-US" dirty="0"/>
              <a:t>Click to edit Master title style</a:t>
            </a:r>
          </a:p>
        </p:txBody>
      </p:sp>
      <p:sp>
        <p:nvSpPr>
          <p:cNvPr id="4" name="Footer Placeholder 3">
            <a:extLst>
              <a:ext uri="{FF2B5EF4-FFF2-40B4-BE49-F238E27FC236}">
                <a16:creationId xmlns:a16="http://schemas.microsoft.com/office/drawing/2014/main" id="{4A0BA924-7A45-2811-4DFF-0CF2305053A9}"/>
              </a:ext>
            </a:extLst>
          </p:cNvPr>
          <p:cNvSpPr>
            <a:spLocks noGrp="1"/>
          </p:cNvSpPr>
          <p:nvPr>
            <p:ph type="ftr" sz="quarter" idx="11"/>
          </p:nvPr>
        </p:nvSpPr>
        <p:spPr/>
        <p:txBody>
          <a:bodyPr/>
          <a:lstStyle>
            <a:lvl1pPr rtl="0">
              <a:defRPr/>
            </a:lvl1pPr>
          </a:lstStyle>
          <a:p>
            <a:endParaRPr lang="en-US" dirty="0"/>
          </a:p>
        </p:txBody>
      </p:sp>
      <p:sp>
        <p:nvSpPr>
          <p:cNvPr id="5" name="Slide Number Placeholder 4">
            <a:extLst>
              <a:ext uri="{FF2B5EF4-FFF2-40B4-BE49-F238E27FC236}">
                <a16:creationId xmlns:a16="http://schemas.microsoft.com/office/drawing/2014/main" id="{7E7EA874-4221-4BAB-89A8-263C8A0275C9}"/>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Tree>
    <p:extLst>
      <p:ext uri="{BB962C8B-B14F-4D97-AF65-F5344CB8AC3E}">
        <p14:creationId xmlns:p14="http://schemas.microsoft.com/office/powerpoint/2010/main" val="23372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bg>
      <p:bgPr>
        <a:gradFill flip="none" rotWithShape="1">
          <a:gsLst>
            <a:gs pos="0">
              <a:schemeClr val="bg2">
                <a:lumMod val="25000"/>
              </a:schemeClr>
            </a:gs>
            <a:gs pos="23000">
              <a:schemeClr val="bg2">
                <a:lumMod val="25000"/>
              </a:schemeClr>
            </a:gs>
            <a:gs pos="69000">
              <a:schemeClr val="bg2">
                <a:lumMod val="25000"/>
              </a:schemeClr>
            </a:gs>
            <a:gs pos="97000">
              <a:schemeClr val="bg2">
                <a:lumMod val="25000"/>
              </a:schemeClr>
            </a:gs>
          </a:gsLst>
          <a:path path="circle">
            <a:fillToRect l="50000" t="50000" r="50000" b="50000"/>
          </a:path>
          <a:tileRect/>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CD8B7D-F04F-10B1-3CA3-D260522CAA93}"/>
              </a:ext>
            </a:extLst>
          </p:cNvPr>
          <p:cNvGraphicFramePr>
            <a:graphicFrameLocks/>
          </p:cNvGraphicFramePr>
          <p:nvPr userDrawn="1">
            <p:custDataLst>
              <p:tags r:id="rId1"/>
            </p:custDataLst>
            <p:extLst>
              <p:ext uri="{D42A27DB-BD31-4B8C-83A1-F6EECF244321}">
                <p14:modId xmlns:p14="http://schemas.microsoft.com/office/powerpoint/2010/main" val="1991453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6" name="think-cell data - do not delete" hidden="1">
                        <a:extLst>
                          <a:ext uri="{FF2B5EF4-FFF2-40B4-BE49-F238E27FC236}">
                            <a16:creationId xmlns:a16="http://schemas.microsoft.com/office/drawing/2014/main" id="{F4CD8B7D-F04F-10B1-3CA3-D260522CAA93}"/>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583599-8633-147C-BE1C-8BBF1E864C57}"/>
              </a:ext>
            </a:extLst>
          </p:cNvPr>
          <p:cNvSpPr>
            <a:spLocks noGrp="1"/>
          </p:cNvSpPr>
          <p:nvPr>
            <p:ph type="title"/>
          </p:nvPr>
        </p:nvSpPr>
        <p:spPr>
          <a:xfrm>
            <a:off x="838200" y="374650"/>
            <a:ext cx="10515600" cy="1325563"/>
          </a:xfrm>
        </p:spPr>
        <p:txBody>
          <a:bodyPr vert="horz" lIns="0" tIns="0" rIns="0" bIns="0">
            <a:noAutofit/>
          </a:bodyPr>
          <a:lstStyle>
            <a:lvl1pPr rtl="0">
              <a:defRPr sz="360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4A0BA924-7A45-2811-4DFF-0CF2305053A9}"/>
              </a:ext>
            </a:extLst>
          </p:cNvPr>
          <p:cNvSpPr>
            <a:spLocks noGrp="1"/>
          </p:cNvSpPr>
          <p:nvPr>
            <p:ph type="ftr" sz="quarter" idx="11"/>
          </p:nvPr>
        </p:nvSpPr>
        <p:spPr/>
        <p:txBody>
          <a:bodyPr/>
          <a:lstStyle>
            <a:lvl1pPr rtl="0">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7E7EA874-4221-4BAB-89A8-263C8A0275C9}"/>
              </a:ext>
            </a:extLst>
          </p:cNvPr>
          <p:cNvSpPr>
            <a:spLocks noGrp="1"/>
          </p:cNvSpPr>
          <p:nvPr>
            <p:ph type="sldNum" sz="quarter" idx="12"/>
          </p:nvPr>
        </p:nvSpPr>
        <p:spPr/>
        <p:txBody>
          <a:bodyPr/>
          <a:lstStyle>
            <a:lvl1pPr rtl="0">
              <a:defRPr>
                <a:solidFill>
                  <a:schemeClr val="bg1"/>
                </a:solidFill>
              </a:defRPr>
            </a:lvl1pPr>
          </a:lstStyle>
          <a:p>
            <a:fld id="{49882A7A-00EB-4D45-AA64-F8A75FA21FCC}" type="slidenum">
              <a:rPr lang="en-US" smtClean="0"/>
              <a:pPr/>
              <a:t>‹#›</a:t>
            </a:fld>
            <a:endParaRPr lang="en-US" dirty="0"/>
          </a:p>
        </p:txBody>
      </p:sp>
    </p:spTree>
    <p:extLst>
      <p:ext uri="{BB962C8B-B14F-4D97-AF65-F5344CB8AC3E}">
        <p14:creationId xmlns:p14="http://schemas.microsoft.com/office/powerpoint/2010/main" val="2077234772"/>
      </p:ext>
    </p:extLst>
  </p:cSld>
  <p:clrMapOvr>
    <a:masterClrMapping/>
  </p:clrMapOvr>
  <p:extLst>
    <p:ext uri="{DCECCB84-F9BA-43D5-87BE-67443E8EF086}">
      <p15:sldGuideLst xmlns:p15="http://schemas.microsoft.com/office/powerpoint/2012/main">
        <p15:guide id="1" pos="529" userDrawn="1">
          <p15:clr>
            <a:srgbClr val="FBAE40"/>
          </p15:clr>
        </p15:guide>
        <p15:guide id="2" pos="7151" userDrawn="1">
          <p15:clr>
            <a:srgbClr val="FBAE40"/>
          </p15:clr>
        </p15:guide>
        <p15:guide id="3" orient="horz" pos="3770" userDrawn="1">
          <p15:clr>
            <a:srgbClr val="FBAE40"/>
          </p15:clr>
        </p15:guide>
        <p15:guide id="4" orient="horz" pos="107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8C1488-E7FF-C627-0E56-98E10BEF1AB9}"/>
              </a:ext>
            </a:extLst>
          </p:cNvPr>
          <p:cNvGraphicFramePr>
            <a:graphicFrameLocks noChangeAspect="1"/>
          </p:cNvGraphicFramePr>
          <p:nvPr userDrawn="1">
            <p:custDataLst>
              <p:tags r:id="rId1"/>
            </p:custDataLst>
            <p:extLst>
              <p:ext uri="{D42A27DB-BD31-4B8C-83A1-F6EECF244321}">
                <p14:modId xmlns:p14="http://schemas.microsoft.com/office/powerpoint/2010/main" val="670458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2" name="think-cell data - do not delete" hidden="1">
                        <a:extLst>
                          <a:ext uri="{FF2B5EF4-FFF2-40B4-BE49-F238E27FC236}">
                            <a16:creationId xmlns:a16="http://schemas.microsoft.com/office/drawing/2014/main" id="{858C1488-E7FF-C627-0E56-98E10BEF1A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E31A45BB-7A1E-9B31-E56C-E7841BFB4C1E}"/>
              </a:ext>
            </a:extLst>
          </p:cNvPr>
          <p:cNvSpPr>
            <a:spLocks noGrp="1"/>
          </p:cNvSpPr>
          <p:nvPr>
            <p:ph type="ftr" sz="quarter" idx="11"/>
          </p:nvPr>
        </p:nvSpPr>
        <p:spPr/>
        <p:txBody>
          <a:bodyPr/>
          <a:lstStyle>
            <a:lvl1pPr rtl="0">
              <a:defRPr/>
            </a:lvl1pPr>
          </a:lstStyle>
          <a:p>
            <a:endParaRPr lang="en-US" dirty="0"/>
          </a:p>
        </p:txBody>
      </p:sp>
      <p:sp>
        <p:nvSpPr>
          <p:cNvPr id="4" name="Slide Number Placeholder 3">
            <a:extLst>
              <a:ext uri="{FF2B5EF4-FFF2-40B4-BE49-F238E27FC236}">
                <a16:creationId xmlns:a16="http://schemas.microsoft.com/office/drawing/2014/main" id="{876A1632-68D7-09CF-61A7-DB351AAABAC2}"/>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Tree>
    <p:extLst>
      <p:ext uri="{BB962C8B-B14F-4D97-AF65-F5344CB8AC3E}">
        <p14:creationId xmlns:p14="http://schemas.microsoft.com/office/powerpoint/2010/main" val="350138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 Header">
    <p:bg>
      <p:bgPr>
        <a:gradFill flip="none" rotWithShape="1">
          <a:gsLst>
            <a:gs pos="0">
              <a:schemeClr val="tx2">
                <a:lumMod val="20000"/>
                <a:lumOff val="80000"/>
                <a:alpha val="5000"/>
              </a:schemeClr>
            </a:gs>
            <a:gs pos="74000">
              <a:schemeClr val="tx2">
                <a:lumMod val="20000"/>
                <a:lumOff val="80000"/>
              </a:schemeClr>
            </a:gs>
            <a:gs pos="83000">
              <a:schemeClr val="tx2">
                <a:lumMod val="20000"/>
                <a:lumOff val="80000"/>
              </a:schemeClr>
            </a:gs>
            <a:gs pos="100000">
              <a:schemeClr val="tx2">
                <a:lumMod val="20000"/>
                <a:lumOff val="80000"/>
              </a:schemeClr>
            </a:gs>
          </a:gsLst>
          <a:lin ang="18900000" scaled="1"/>
          <a:tileRect/>
        </a:gra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1DB56C0-ABFF-F728-88CA-3DE50942D503}"/>
              </a:ext>
            </a:extLst>
          </p:cNvPr>
          <p:cNvGraphicFramePr>
            <a:graphicFrameLocks/>
          </p:cNvGraphicFramePr>
          <p:nvPr userDrawn="1">
            <p:custDataLst>
              <p:tags r:id="rId1"/>
            </p:custDataLst>
            <p:extLst>
              <p:ext uri="{D42A27DB-BD31-4B8C-83A1-F6EECF244321}">
                <p14:modId xmlns:p14="http://schemas.microsoft.com/office/powerpoint/2010/main" val="2435619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7" name="think-cell data - do not delete" hidden="1">
                        <a:extLst>
                          <a:ext uri="{FF2B5EF4-FFF2-40B4-BE49-F238E27FC236}">
                            <a16:creationId xmlns:a16="http://schemas.microsoft.com/office/drawing/2014/main" id="{D1DB56C0-ABFF-F728-88CA-3DE50942D503}"/>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D3D02CBF-DBBF-BA06-4965-397BDFEBF359}"/>
              </a:ext>
            </a:extLst>
          </p:cNvPr>
          <p:cNvSpPr>
            <a:spLocks noGrp="1"/>
          </p:cNvSpPr>
          <p:nvPr>
            <p:ph type="sldNum" sz="quarter" idx="12"/>
          </p:nvPr>
        </p:nvSpPr>
        <p:spPr/>
        <p:txBody>
          <a:bodyPr/>
          <a:lstStyle>
            <a:lvl1pPr rtl="0">
              <a:defRPr/>
            </a:lvl1pPr>
          </a:lstStyle>
          <a:p>
            <a:fld id="{49882A7A-00EB-4D45-AA64-F8A75FA21FCC}" type="slidenum">
              <a:rPr lang="en-US" smtClean="0"/>
              <a:pPr/>
              <a:t>‹#›</a:t>
            </a:fld>
            <a:endParaRPr lang="en-US" dirty="0"/>
          </a:p>
        </p:txBody>
      </p:sp>
      <p:sp>
        <p:nvSpPr>
          <p:cNvPr id="8" name="Footer Placeholder 4">
            <a:extLst>
              <a:ext uri="{FF2B5EF4-FFF2-40B4-BE49-F238E27FC236}">
                <a16:creationId xmlns:a16="http://schemas.microsoft.com/office/drawing/2014/main" id="{3AD2589D-CC1B-0470-16BD-A0BB161A175F}"/>
              </a:ext>
            </a:extLst>
          </p:cNvPr>
          <p:cNvSpPr>
            <a:spLocks noGrp="1"/>
          </p:cNvSpPr>
          <p:nvPr>
            <p:ph type="ftr" sz="quarter" idx="11"/>
          </p:nvPr>
        </p:nvSpPr>
        <p:spPr>
          <a:xfrm>
            <a:off x="838200" y="6356350"/>
            <a:ext cx="8981364" cy="365125"/>
          </a:xfrm>
        </p:spPr>
        <p:txBody>
          <a:bodyPr/>
          <a:lstStyle>
            <a:lvl1pPr rtl="0">
              <a:defRPr/>
            </a:lvl1pPr>
          </a:lstStyle>
          <a:p>
            <a:endParaRPr lang="en-US" dirty="0"/>
          </a:p>
        </p:txBody>
      </p:sp>
    </p:spTree>
    <p:extLst>
      <p:ext uri="{BB962C8B-B14F-4D97-AF65-F5344CB8AC3E}">
        <p14:creationId xmlns:p14="http://schemas.microsoft.com/office/powerpoint/2010/main" val="2226419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5655278-E8D4-8381-32A6-AE889F198FB7}"/>
              </a:ext>
            </a:extLst>
          </p:cNvPr>
          <p:cNvGraphicFramePr>
            <a:graphicFrameLocks/>
          </p:cNvGraphicFramePr>
          <p:nvPr userDrawn="1">
            <p:custDataLst>
              <p:tags r:id="rId11"/>
            </p:custDataLst>
            <p:extLst>
              <p:ext uri="{D42A27DB-BD31-4B8C-83A1-F6EECF244321}">
                <p14:modId xmlns:p14="http://schemas.microsoft.com/office/powerpoint/2010/main" val="200142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05" imgH="405" progId="TCLayout.ActiveDocument.1">
                  <p:embed/>
                </p:oleObj>
              </mc:Choice>
              <mc:Fallback>
                <p:oleObj name="think-cell Slide" r:id="rId12" imgW="405" imgH="405" progId="TCLayout.ActiveDocument.1">
                  <p:embed/>
                  <p:pic>
                    <p:nvPicPr>
                      <p:cNvPr id="7" name="think-cell data - do not delete" hidden="1">
                        <a:extLst>
                          <a:ext uri="{FF2B5EF4-FFF2-40B4-BE49-F238E27FC236}">
                            <a16:creationId xmlns:a16="http://schemas.microsoft.com/office/drawing/2014/main" id="{85655278-E8D4-8381-32A6-AE889F198FB7}"/>
                          </a:ext>
                        </a:extLst>
                      </p:cNvPr>
                      <p:cNvPicPr/>
                      <p:nvPr/>
                    </p:nvPicPr>
                    <p:blipFill>
                      <a:blip/>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FF26EF5-8EF3-2751-C3A0-4E21267B12DB}"/>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D77BBC3C-CEC7-6BA1-7727-22B1BA6E6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0EFA7CD-87E1-AD3D-42A0-30F06A6A6F4C}"/>
              </a:ext>
            </a:extLst>
          </p:cNvPr>
          <p:cNvSpPr>
            <a:spLocks noGrp="1"/>
          </p:cNvSpPr>
          <p:nvPr>
            <p:ph type="ftr" sz="quarter" idx="3"/>
          </p:nvPr>
        </p:nvSpPr>
        <p:spPr>
          <a:xfrm>
            <a:off x="838200" y="6356350"/>
            <a:ext cx="8981364" cy="365125"/>
          </a:xfrm>
          <a:prstGeom prst="rect">
            <a:avLst/>
          </a:prstGeom>
        </p:spPr>
        <p:txBody>
          <a:bodyPr vert="horz" lIns="0" tIns="0" rIns="0" bIns="0" rtlCol="0" anchor="b"/>
          <a:lstStyle>
            <a:lvl1pPr algn="l" rtl="0">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88201E0-FE01-998B-B6AC-D41D54F7CB0B}"/>
              </a:ext>
            </a:extLst>
          </p:cNvPr>
          <p:cNvSpPr>
            <a:spLocks noGrp="1"/>
          </p:cNvSpPr>
          <p:nvPr>
            <p:ph type="sldNum" sz="quarter" idx="4"/>
          </p:nvPr>
        </p:nvSpPr>
        <p:spPr>
          <a:xfrm>
            <a:off x="10399594" y="6356350"/>
            <a:ext cx="954206" cy="365125"/>
          </a:xfrm>
          <a:prstGeom prst="rect">
            <a:avLst/>
          </a:prstGeom>
        </p:spPr>
        <p:txBody>
          <a:bodyPr vert="horz" lIns="91440" tIns="45720" rIns="91440" bIns="45720" rtlCol="0" anchor="ctr"/>
          <a:lstStyle>
            <a:lvl1pPr algn="r" rtl="0">
              <a:defRPr sz="1200">
                <a:solidFill>
                  <a:schemeClr val="tx1">
                    <a:tint val="82000"/>
                  </a:schemeClr>
                </a:solidFill>
              </a:defRPr>
            </a:lvl1pPr>
          </a:lstStyle>
          <a:p>
            <a:fld id="{49882A7A-00EB-4D45-AA64-F8A75FA21FCC}" type="slidenum">
              <a:rPr lang="en-US" smtClean="0"/>
              <a:pPr/>
              <a:t>‹#›</a:t>
            </a:fld>
            <a:endParaRPr lang="en-US" dirty="0"/>
          </a:p>
        </p:txBody>
      </p:sp>
    </p:spTree>
    <p:extLst>
      <p:ext uri="{BB962C8B-B14F-4D97-AF65-F5344CB8AC3E}">
        <p14:creationId xmlns:p14="http://schemas.microsoft.com/office/powerpoint/2010/main" val="819885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3.xml"/><Relationship Id="rId7" Type="http://schemas.openxmlformats.org/officeDocument/2006/relationships/image" Target="../media/image3.svg"/><Relationship Id="rId2" Type="http://schemas.openxmlformats.org/officeDocument/2006/relationships/slideLayout" Target="../slideLayouts/slideLayout7.xml"/><Relationship Id="rId1" Type="http://schemas.openxmlformats.org/officeDocument/2006/relationships/tags" Target="../tags/tag14.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3.bin"/><Relationship Id="rId9"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hyperlink" Target="https://docs.aws.amazon.com/personalize/latest/dg/recording-events.html" TargetMode="External"/><Relationship Id="rId13" Type="http://schemas.openxmlformats.org/officeDocument/2006/relationships/image" Target="../media/image10.png"/><Relationship Id="rId3" Type="http://schemas.openxmlformats.org/officeDocument/2006/relationships/notesSlide" Target="../notesSlides/notesSlide5.xml"/><Relationship Id="rId7" Type="http://schemas.openxmlformats.org/officeDocument/2006/relationships/hyperlink" Target="https://www.wpp.com/en-us/news/2024/05/wpp-integrates-anthropics-claude-3-using-amazon-bedrock-into-wpp-open" TargetMode="External"/><Relationship Id="rId12" Type="http://schemas.openxmlformats.org/officeDocument/2006/relationships/image" Target="../media/image9.svg"/><Relationship Id="rId2" Type="http://schemas.openxmlformats.org/officeDocument/2006/relationships/slideLayout" Target="../slideLayouts/slideLayout7.xml"/><Relationship Id="rId16" Type="http://schemas.openxmlformats.org/officeDocument/2006/relationships/image" Target="../media/image12.svg"/><Relationship Id="rId1" Type="http://schemas.openxmlformats.org/officeDocument/2006/relationships/tags" Target="../tags/tag17.xml"/><Relationship Id="rId6" Type="http://schemas.openxmlformats.org/officeDocument/2006/relationships/hyperlink" Target="https://www.traxtech.com/ai-in-supply-chain/amazons-ai-supply-chain-upgrades-set-new-standards-for-forecasting-and-warehouse-automation" TargetMode="External"/><Relationship Id="rId11" Type="http://schemas.openxmlformats.org/officeDocument/2006/relationships/image" Target="../media/image8.png"/><Relationship Id="rId5" Type="http://schemas.openxmlformats.org/officeDocument/2006/relationships/image" Target="../media/image1.emf"/><Relationship Id="rId15" Type="http://schemas.openxmlformats.org/officeDocument/2006/relationships/image" Target="../media/image4.png"/><Relationship Id="rId10" Type="http://schemas.openxmlformats.org/officeDocument/2006/relationships/image" Target="../media/image7.svg"/><Relationship Id="rId4" Type="http://schemas.openxmlformats.org/officeDocument/2006/relationships/oleObject" Target="../embeddings/oleObject15.bin"/><Relationship Id="rId9" Type="http://schemas.openxmlformats.org/officeDocument/2006/relationships/image" Target="../media/image6.png"/><Relationship Id="rId1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hyperlink" Target="https://www.shipbob.com/blog/inventory-placement/" TargetMode="External"/><Relationship Id="rId13" Type="http://schemas.openxmlformats.org/officeDocument/2006/relationships/image" Target="../media/image17.png"/><Relationship Id="rId3" Type="http://schemas.openxmlformats.org/officeDocument/2006/relationships/notesSlide" Target="../notesSlides/notesSlide6.xml"/><Relationship Id="rId7" Type="http://schemas.openxmlformats.org/officeDocument/2006/relationships/hyperlink" Target="https://patents.google.com/patent/US8615473B2/en" TargetMode="External"/><Relationship Id="rId12" Type="http://schemas.openxmlformats.org/officeDocument/2006/relationships/image" Target="../media/image16.svg"/><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hyperlink" Target="https://spinup-000d1a-wp-offload-media.s3.amazonaws.com/faculty/wp-content/uploads/sites/32/2021/11/Ship_then_shop_vs_shop_then_ship1.pdf" TargetMode="External"/><Relationship Id="rId11" Type="http://schemas.openxmlformats.org/officeDocument/2006/relationships/image" Target="../media/image15.png"/><Relationship Id="rId5" Type="http://schemas.openxmlformats.org/officeDocument/2006/relationships/image" Target="../media/image1.emf"/><Relationship Id="rId10" Type="http://schemas.openxmlformats.org/officeDocument/2006/relationships/image" Target="../media/image14.svg"/><Relationship Id="rId4" Type="http://schemas.openxmlformats.org/officeDocument/2006/relationships/oleObject" Target="../embeddings/oleObject16.bin"/><Relationship Id="rId9" Type="http://schemas.openxmlformats.org/officeDocument/2006/relationships/image" Target="../media/image13.png"/><Relationship Id="rId14" Type="http://schemas.openxmlformats.org/officeDocument/2006/relationships/image" Target="../media/image18.svg"/></Relationships>
</file>

<file path=ppt/slides/_rels/slide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notesSlide" Target="../notesSlides/notesSlide7.xml"/><Relationship Id="rId7"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19.xml"/><Relationship Id="rId6" Type="http://schemas.openxmlformats.org/officeDocument/2006/relationships/hyperlink" Target="https://cdotimes.com/2024/08/23/case-study-amazons-ai-driven-supply-chain-a-blueprint-for-the-future-of-global-logistics/" TargetMode="External"/><Relationship Id="rId5" Type="http://schemas.openxmlformats.org/officeDocument/2006/relationships/image" Target="../media/image1.emf"/><Relationship Id="rId10" Type="http://schemas.openxmlformats.org/officeDocument/2006/relationships/image" Target="../media/image22.svg"/><Relationship Id="rId4" Type="http://schemas.openxmlformats.org/officeDocument/2006/relationships/oleObject" Target="../embeddings/oleObject17.bin"/><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8.xml"/><Relationship Id="rId7" Type="http://schemas.openxmlformats.org/officeDocument/2006/relationships/image" Target="../media/image23.png"/><Relationship Id="rId2"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hyperlink" Target="https://cdotimes.com/2024/08/23/case-study-amazons-ai-driven-supply-chain-a-blueprint-for-the-future-of-global-logistics/" TargetMode="External"/><Relationship Id="rId5" Type="http://schemas.openxmlformats.org/officeDocument/2006/relationships/image" Target="../media/image1.emf"/><Relationship Id="rId10" Type="http://schemas.openxmlformats.org/officeDocument/2006/relationships/image" Target="../media/image26.svg"/><Relationship Id="rId4" Type="http://schemas.openxmlformats.org/officeDocument/2006/relationships/oleObject" Target="../embeddings/oleObject18.bin"/><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 Type="http://schemas.openxmlformats.org/officeDocument/2006/relationships/tags" Target="../tags/tag24.xml"/><Relationship Id="rId21" Type="http://schemas.openxmlformats.org/officeDocument/2006/relationships/tags" Target="../tags/tag42.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33" Type="http://schemas.openxmlformats.org/officeDocument/2006/relationships/hyperlink" Target="https://cdotimes.com/2024/08/23/case-study-amazons-ai-driven-supply-chain-a-blueprint-for-the-future-of-global-logistics/" TargetMode="Externa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notesSlide" Target="../notesSlides/notesSlide9.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chart" Target="../charts/chart1.xml"/><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slideLayout" Target="../slideLayouts/slideLayout7.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image" Target="../media/image1.emf"/><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tags" Target="../tags/tag48.xml"/><Relationship Id="rId30" Type="http://schemas.openxmlformats.org/officeDocument/2006/relationships/oleObject" Target="../embeddings/oleObject20.bin"/><Relationship Id="rId8" Type="http://schemas.openxmlformats.org/officeDocument/2006/relationships/tags" Target="../tags/tag29.xml"/></Relationships>
</file>

<file path=ppt/slides/_rels/slide11.xml.rels><?xml version="1.0" encoding="UTF-8" standalone="yes"?>
<Relationships xmlns="http://schemas.openxmlformats.org/package/2006/relationships"><Relationship Id="rId13" Type="http://schemas.openxmlformats.org/officeDocument/2006/relationships/tags" Target="../tags/tag61.xml"/><Relationship Id="rId18" Type="http://schemas.openxmlformats.org/officeDocument/2006/relationships/tags" Target="../tags/tag66.xml"/><Relationship Id="rId26" Type="http://schemas.openxmlformats.org/officeDocument/2006/relationships/tags" Target="../tags/tag74.xml"/><Relationship Id="rId39" Type="http://schemas.openxmlformats.org/officeDocument/2006/relationships/tags" Target="../tags/tag87.xml"/><Relationship Id="rId21" Type="http://schemas.openxmlformats.org/officeDocument/2006/relationships/tags" Target="../tags/tag69.xml"/><Relationship Id="rId34" Type="http://schemas.openxmlformats.org/officeDocument/2006/relationships/tags" Target="../tags/tag82.xml"/><Relationship Id="rId42" Type="http://schemas.openxmlformats.org/officeDocument/2006/relationships/tags" Target="../tags/tag90.xml"/><Relationship Id="rId47" Type="http://schemas.openxmlformats.org/officeDocument/2006/relationships/tags" Target="../tags/tag95.xml"/><Relationship Id="rId50" Type="http://schemas.openxmlformats.org/officeDocument/2006/relationships/tags" Target="../tags/tag98.xml"/><Relationship Id="rId55" Type="http://schemas.openxmlformats.org/officeDocument/2006/relationships/slideLayout" Target="../slideLayouts/slideLayout7.xml"/><Relationship Id="rId7" Type="http://schemas.openxmlformats.org/officeDocument/2006/relationships/tags" Target="../tags/tag55.xml"/><Relationship Id="rId2" Type="http://schemas.openxmlformats.org/officeDocument/2006/relationships/tags" Target="../tags/tag50.xml"/><Relationship Id="rId16" Type="http://schemas.openxmlformats.org/officeDocument/2006/relationships/tags" Target="../tags/tag64.xml"/><Relationship Id="rId29" Type="http://schemas.openxmlformats.org/officeDocument/2006/relationships/tags" Target="../tags/tag77.xml"/><Relationship Id="rId11" Type="http://schemas.openxmlformats.org/officeDocument/2006/relationships/tags" Target="../tags/tag59.xml"/><Relationship Id="rId24" Type="http://schemas.openxmlformats.org/officeDocument/2006/relationships/tags" Target="../tags/tag72.xml"/><Relationship Id="rId32" Type="http://schemas.openxmlformats.org/officeDocument/2006/relationships/tags" Target="../tags/tag80.xml"/><Relationship Id="rId37" Type="http://schemas.openxmlformats.org/officeDocument/2006/relationships/tags" Target="../tags/tag85.xml"/><Relationship Id="rId40" Type="http://schemas.openxmlformats.org/officeDocument/2006/relationships/tags" Target="../tags/tag88.xml"/><Relationship Id="rId45" Type="http://schemas.openxmlformats.org/officeDocument/2006/relationships/tags" Target="../tags/tag93.xml"/><Relationship Id="rId53" Type="http://schemas.openxmlformats.org/officeDocument/2006/relationships/tags" Target="../tags/tag101.xml"/><Relationship Id="rId58" Type="http://schemas.openxmlformats.org/officeDocument/2006/relationships/image" Target="../media/image1.emf"/><Relationship Id="rId5" Type="http://schemas.openxmlformats.org/officeDocument/2006/relationships/tags" Target="../tags/tag53.xml"/><Relationship Id="rId61" Type="http://schemas.openxmlformats.org/officeDocument/2006/relationships/hyperlink" Target="https://sustainability.aboutamazon.com/carbon-methodology.pdf" TargetMode="External"/><Relationship Id="rId19" Type="http://schemas.openxmlformats.org/officeDocument/2006/relationships/tags" Target="../tags/tag67.xml"/><Relationship Id="rId14" Type="http://schemas.openxmlformats.org/officeDocument/2006/relationships/tags" Target="../tags/tag62.xml"/><Relationship Id="rId22" Type="http://schemas.openxmlformats.org/officeDocument/2006/relationships/tags" Target="../tags/tag70.xml"/><Relationship Id="rId27" Type="http://schemas.openxmlformats.org/officeDocument/2006/relationships/tags" Target="../tags/tag75.xml"/><Relationship Id="rId30" Type="http://schemas.openxmlformats.org/officeDocument/2006/relationships/tags" Target="../tags/tag78.xml"/><Relationship Id="rId35" Type="http://schemas.openxmlformats.org/officeDocument/2006/relationships/tags" Target="../tags/tag83.xml"/><Relationship Id="rId43" Type="http://schemas.openxmlformats.org/officeDocument/2006/relationships/tags" Target="../tags/tag91.xml"/><Relationship Id="rId48" Type="http://schemas.openxmlformats.org/officeDocument/2006/relationships/tags" Target="../tags/tag96.xml"/><Relationship Id="rId56" Type="http://schemas.openxmlformats.org/officeDocument/2006/relationships/notesSlide" Target="../notesSlides/notesSlide10.xml"/><Relationship Id="rId8" Type="http://schemas.openxmlformats.org/officeDocument/2006/relationships/tags" Target="../tags/tag56.xml"/><Relationship Id="rId51" Type="http://schemas.openxmlformats.org/officeDocument/2006/relationships/tags" Target="../tags/tag99.xml"/><Relationship Id="rId3" Type="http://schemas.openxmlformats.org/officeDocument/2006/relationships/tags" Target="../tags/tag51.xml"/><Relationship Id="rId12" Type="http://schemas.openxmlformats.org/officeDocument/2006/relationships/tags" Target="../tags/tag60.xml"/><Relationship Id="rId17" Type="http://schemas.openxmlformats.org/officeDocument/2006/relationships/tags" Target="../tags/tag65.xml"/><Relationship Id="rId25" Type="http://schemas.openxmlformats.org/officeDocument/2006/relationships/tags" Target="../tags/tag73.xml"/><Relationship Id="rId33" Type="http://schemas.openxmlformats.org/officeDocument/2006/relationships/tags" Target="../tags/tag81.xml"/><Relationship Id="rId38" Type="http://schemas.openxmlformats.org/officeDocument/2006/relationships/tags" Target="../tags/tag86.xml"/><Relationship Id="rId46" Type="http://schemas.openxmlformats.org/officeDocument/2006/relationships/tags" Target="../tags/tag94.xml"/><Relationship Id="rId59" Type="http://schemas.openxmlformats.org/officeDocument/2006/relationships/chart" Target="../charts/chart2.xml"/><Relationship Id="rId20" Type="http://schemas.openxmlformats.org/officeDocument/2006/relationships/tags" Target="../tags/tag68.xml"/><Relationship Id="rId41" Type="http://schemas.openxmlformats.org/officeDocument/2006/relationships/tags" Target="../tags/tag89.xml"/><Relationship Id="rId54" Type="http://schemas.openxmlformats.org/officeDocument/2006/relationships/tags" Target="../tags/tag102.xml"/><Relationship Id="rId62" Type="http://schemas.openxmlformats.org/officeDocument/2006/relationships/hyperlink" Target="https://sustainability.aboutamazon.com/2024-amazon-sustainability-report.pdf" TargetMode="External"/><Relationship Id="rId1" Type="http://schemas.openxmlformats.org/officeDocument/2006/relationships/tags" Target="../tags/tag49.xml"/><Relationship Id="rId6" Type="http://schemas.openxmlformats.org/officeDocument/2006/relationships/tags" Target="../tags/tag54.xml"/><Relationship Id="rId15" Type="http://schemas.openxmlformats.org/officeDocument/2006/relationships/tags" Target="../tags/tag63.xml"/><Relationship Id="rId23" Type="http://schemas.openxmlformats.org/officeDocument/2006/relationships/tags" Target="../tags/tag71.xml"/><Relationship Id="rId28" Type="http://schemas.openxmlformats.org/officeDocument/2006/relationships/tags" Target="../tags/tag76.xml"/><Relationship Id="rId36" Type="http://schemas.openxmlformats.org/officeDocument/2006/relationships/tags" Target="../tags/tag84.xml"/><Relationship Id="rId49" Type="http://schemas.openxmlformats.org/officeDocument/2006/relationships/tags" Target="../tags/tag97.xml"/><Relationship Id="rId57" Type="http://schemas.openxmlformats.org/officeDocument/2006/relationships/oleObject" Target="../embeddings/oleObject21.bin"/><Relationship Id="rId10" Type="http://schemas.openxmlformats.org/officeDocument/2006/relationships/tags" Target="../tags/tag58.xml"/><Relationship Id="rId31" Type="http://schemas.openxmlformats.org/officeDocument/2006/relationships/tags" Target="../tags/tag79.xml"/><Relationship Id="rId44" Type="http://schemas.openxmlformats.org/officeDocument/2006/relationships/tags" Target="../tags/tag92.xml"/><Relationship Id="rId52" Type="http://schemas.openxmlformats.org/officeDocument/2006/relationships/tags" Target="../tags/tag100.xml"/><Relationship Id="rId60" Type="http://schemas.openxmlformats.org/officeDocument/2006/relationships/chart" Target="../charts/chart3.xml"/><Relationship Id="rId4" Type="http://schemas.openxmlformats.org/officeDocument/2006/relationships/tags" Target="../tags/tag52.xml"/><Relationship Id="rId9" Type="http://schemas.openxmlformats.org/officeDocument/2006/relationships/tags" Target="../tags/tag5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tags" Target="../tags/tag103.xml"/><Relationship Id="rId6" Type="http://schemas.openxmlformats.org/officeDocument/2006/relationships/image" Target="../media/image27.png"/><Relationship Id="rId5" Type="http://schemas.openxmlformats.org/officeDocument/2006/relationships/hyperlink" Target="https://fortune.com/longform/amazon-web-services-ceo-adam-selipsky-cloud-computing/" TargetMode="Externa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tags" Target="../tags/tag129.xml"/><Relationship Id="rId39" Type="http://schemas.openxmlformats.org/officeDocument/2006/relationships/tags" Target="../tags/tag142.xml"/><Relationship Id="rId21" Type="http://schemas.openxmlformats.org/officeDocument/2006/relationships/tags" Target="../tags/tag124.xml"/><Relationship Id="rId34" Type="http://schemas.openxmlformats.org/officeDocument/2006/relationships/tags" Target="../tags/tag137.xml"/><Relationship Id="rId42" Type="http://schemas.openxmlformats.org/officeDocument/2006/relationships/tags" Target="../tags/tag145.xml"/><Relationship Id="rId47" Type="http://schemas.openxmlformats.org/officeDocument/2006/relationships/tags" Target="../tags/tag150.xml"/><Relationship Id="rId50" Type="http://schemas.openxmlformats.org/officeDocument/2006/relationships/tags" Target="../tags/tag153.xml"/><Relationship Id="rId55" Type="http://schemas.openxmlformats.org/officeDocument/2006/relationships/slideLayout" Target="../slideLayouts/slideLayout7.xml"/><Relationship Id="rId7" Type="http://schemas.openxmlformats.org/officeDocument/2006/relationships/tags" Target="../tags/tag110.xml"/><Relationship Id="rId2" Type="http://schemas.openxmlformats.org/officeDocument/2006/relationships/tags" Target="../tags/tag105.xml"/><Relationship Id="rId16" Type="http://schemas.openxmlformats.org/officeDocument/2006/relationships/tags" Target="../tags/tag119.xml"/><Relationship Id="rId29" Type="http://schemas.openxmlformats.org/officeDocument/2006/relationships/tags" Target="../tags/tag132.xml"/><Relationship Id="rId11" Type="http://schemas.openxmlformats.org/officeDocument/2006/relationships/tags" Target="../tags/tag114.xml"/><Relationship Id="rId24" Type="http://schemas.openxmlformats.org/officeDocument/2006/relationships/tags" Target="../tags/tag127.xml"/><Relationship Id="rId32" Type="http://schemas.openxmlformats.org/officeDocument/2006/relationships/tags" Target="../tags/tag135.xml"/><Relationship Id="rId37" Type="http://schemas.openxmlformats.org/officeDocument/2006/relationships/tags" Target="../tags/tag140.xml"/><Relationship Id="rId40" Type="http://schemas.openxmlformats.org/officeDocument/2006/relationships/tags" Target="../tags/tag143.xml"/><Relationship Id="rId45" Type="http://schemas.openxmlformats.org/officeDocument/2006/relationships/tags" Target="../tags/tag148.xml"/><Relationship Id="rId53" Type="http://schemas.openxmlformats.org/officeDocument/2006/relationships/tags" Target="../tags/tag156.xml"/><Relationship Id="rId58" Type="http://schemas.openxmlformats.org/officeDocument/2006/relationships/image" Target="../media/image1.emf"/><Relationship Id="rId5" Type="http://schemas.openxmlformats.org/officeDocument/2006/relationships/tags" Target="../tags/tag108.xml"/><Relationship Id="rId61" Type="http://schemas.openxmlformats.org/officeDocument/2006/relationships/hyperlink" Target="https://sustainability.aboutamazon.com/carbon-methodology.pdf" TargetMode="External"/><Relationship Id="rId19" Type="http://schemas.openxmlformats.org/officeDocument/2006/relationships/tags" Target="../tags/tag122.xml"/><Relationship Id="rId14" Type="http://schemas.openxmlformats.org/officeDocument/2006/relationships/tags" Target="../tags/tag117.xml"/><Relationship Id="rId22" Type="http://schemas.openxmlformats.org/officeDocument/2006/relationships/tags" Target="../tags/tag125.xml"/><Relationship Id="rId27" Type="http://schemas.openxmlformats.org/officeDocument/2006/relationships/tags" Target="../tags/tag130.xml"/><Relationship Id="rId30" Type="http://schemas.openxmlformats.org/officeDocument/2006/relationships/tags" Target="../tags/tag133.xml"/><Relationship Id="rId35" Type="http://schemas.openxmlformats.org/officeDocument/2006/relationships/tags" Target="../tags/tag138.xml"/><Relationship Id="rId43" Type="http://schemas.openxmlformats.org/officeDocument/2006/relationships/tags" Target="../tags/tag146.xml"/><Relationship Id="rId48" Type="http://schemas.openxmlformats.org/officeDocument/2006/relationships/tags" Target="../tags/tag151.xml"/><Relationship Id="rId56" Type="http://schemas.openxmlformats.org/officeDocument/2006/relationships/notesSlide" Target="../notesSlides/notesSlide11.xml"/><Relationship Id="rId8" Type="http://schemas.openxmlformats.org/officeDocument/2006/relationships/tags" Target="../tags/tag111.xml"/><Relationship Id="rId51" Type="http://schemas.openxmlformats.org/officeDocument/2006/relationships/tags" Target="../tags/tag154.xml"/><Relationship Id="rId3" Type="http://schemas.openxmlformats.org/officeDocument/2006/relationships/tags" Target="../tags/tag106.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tags" Target="../tags/tag128.xml"/><Relationship Id="rId33" Type="http://schemas.openxmlformats.org/officeDocument/2006/relationships/tags" Target="../tags/tag136.xml"/><Relationship Id="rId38" Type="http://schemas.openxmlformats.org/officeDocument/2006/relationships/tags" Target="../tags/tag141.xml"/><Relationship Id="rId46" Type="http://schemas.openxmlformats.org/officeDocument/2006/relationships/tags" Target="../tags/tag149.xml"/><Relationship Id="rId59" Type="http://schemas.openxmlformats.org/officeDocument/2006/relationships/chart" Target="../charts/chart4.xml"/><Relationship Id="rId20" Type="http://schemas.openxmlformats.org/officeDocument/2006/relationships/tags" Target="../tags/tag123.xml"/><Relationship Id="rId41" Type="http://schemas.openxmlformats.org/officeDocument/2006/relationships/tags" Target="../tags/tag144.xml"/><Relationship Id="rId54" Type="http://schemas.openxmlformats.org/officeDocument/2006/relationships/tags" Target="../tags/tag157.xml"/><Relationship Id="rId62" Type="http://schemas.openxmlformats.org/officeDocument/2006/relationships/hyperlink" Target="https://sustainability.aboutamazon.com/2024-amazon-sustainability-report.pdf" TargetMode="External"/><Relationship Id="rId1" Type="http://schemas.openxmlformats.org/officeDocument/2006/relationships/tags" Target="../tags/tag104.xml"/><Relationship Id="rId6" Type="http://schemas.openxmlformats.org/officeDocument/2006/relationships/tags" Target="../tags/tag109.xml"/><Relationship Id="rId15" Type="http://schemas.openxmlformats.org/officeDocument/2006/relationships/tags" Target="../tags/tag118.xml"/><Relationship Id="rId23" Type="http://schemas.openxmlformats.org/officeDocument/2006/relationships/tags" Target="../tags/tag126.xml"/><Relationship Id="rId28" Type="http://schemas.openxmlformats.org/officeDocument/2006/relationships/tags" Target="../tags/tag131.xml"/><Relationship Id="rId36" Type="http://schemas.openxmlformats.org/officeDocument/2006/relationships/tags" Target="../tags/tag139.xml"/><Relationship Id="rId49" Type="http://schemas.openxmlformats.org/officeDocument/2006/relationships/tags" Target="../tags/tag152.xml"/><Relationship Id="rId57" Type="http://schemas.openxmlformats.org/officeDocument/2006/relationships/oleObject" Target="../embeddings/oleObject21.bin"/><Relationship Id="rId10" Type="http://schemas.openxmlformats.org/officeDocument/2006/relationships/tags" Target="../tags/tag113.xml"/><Relationship Id="rId31" Type="http://schemas.openxmlformats.org/officeDocument/2006/relationships/tags" Target="../tags/tag134.xml"/><Relationship Id="rId44" Type="http://schemas.openxmlformats.org/officeDocument/2006/relationships/tags" Target="../tags/tag147.xml"/><Relationship Id="rId52" Type="http://schemas.openxmlformats.org/officeDocument/2006/relationships/tags" Target="../tags/tag155.xml"/><Relationship Id="rId60" Type="http://schemas.openxmlformats.org/officeDocument/2006/relationships/chart" Target="../charts/chart5.xml"/><Relationship Id="rId4" Type="http://schemas.openxmlformats.org/officeDocument/2006/relationships/tags" Target="../tags/tag107.xml"/><Relationship Id="rId9" Type="http://schemas.openxmlformats.org/officeDocument/2006/relationships/tags" Target="../tags/tag1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rgbClr val="FFFFFF"/>
              </a:solidFill>
            </a:endParaRPr>
          </a:p>
        </p:txBody>
      </p:sp>
      <p:sp>
        <p:nvSpPr>
          <p:cNvPr id="2" name="Title 1">
            <a:extLst>
              <a:ext uri="{FF2B5EF4-FFF2-40B4-BE49-F238E27FC236}">
                <a16:creationId xmlns:a16="http://schemas.microsoft.com/office/drawing/2014/main" id="{B0F26AF0-F21B-8055-B858-58CB24B12FE0}"/>
              </a:ext>
            </a:extLst>
          </p:cNvPr>
          <p:cNvSpPr>
            <a:spLocks noGrp="1"/>
          </p:cNvSpPr>
          <p:nvPr>
            <p:ph type="ctrTitle"/>
          </p:nvPr>
        </p:nvSpPr>
        <p:spPr>
          <a:xfrm>
            <a:off x="3880430" y="583345"/>
            <a:ext cx="7160357" cy="4164820"/>
          </a:xfrm>
        </p:spPr>
        <p:txBody>
          <a:bodyPr vert="horz" rIns="91440" anchor="t">
            <a:normAutofit/>
          </a:bodyPr>
          <a:lstStyle/>
          <a:p>
            <a:pPr algn="r"/>
            <a:r>
              <a:rPr lang="en-GB" dirty="0">
                <a:solidFill>
                  <a:srgbClr val="FFFFFF"/>
                </a:solidFill>
              </a:rPr>
              <a:t>Data driven decision making in Supply chain of Amazon</a:t>
            </a:r>
          </a:p>
        </p:txBody>
      </p:sp>
      <p:sp>
        <p:nvSpPr>
          <p:cNvPr id="3" name="Subtitle 2">
            <a:extLst>
              <a:ext uri="{FF2B5EF4-FFF2-40B4-BE49-F238E27FC236}">
                <a16:creationId xmlns:a16="http://schemas.microsoft.com/office/drawing/2014/main" id="{92D079D8-D4B6-8301-AE8D-BC0A060AD25F}"/>
              </a:ext>
            </a:extLst>
          </p:cNvPr>
          <p:cNvSpPr>
            <a:spLocks noGrp="1"/>
          </p:cNvSpPr>
          <p:nvPr>
            <p:ph type="subTitle" idx="1"/>
          </p:nvPr>
        </p:nvSpPr>
        <p:spPr>
          <a:xfrm>
            <a:off x="1208228" y="4763709"/>
            <a:ext cx="8983521" cy="1713290"/>
          </a:xfrm>
        </p:spPr>
        <p:txBody>
          <a:bodyPr anchor="b">
            <a:noAutofit/>
          </a:bodyPr>
          <a:lstStyle/>
          <a:p>
            <a:pPr algn="l"/>
            <a:r>
              <a:rPr lang="en-US" sz="1600" dirty="0">
                <a:solidFill>
                  <a:schemeClr val="bg2">
                    <a:lumMod val="25000"/>
                  </a:schemeClr>
                </a:solidFill>
              </a:rPr>
              <a:t>Athul Rohan Anil Kumar Rajitha</a:t>
            </a:r>
          </a:p>
          <a:p>
            <a:pPr algn="l"/>
            <a:r>
              <a:rPr lang="en-GB" sz="1600" dirty="0">
                <a:solidFill>
                  <a:schemeClr val="bg2">
                    <a:lumMod val="25000"/>
                  </a:schemeClr>
                </a:solidFill>
              </a:rPr>
              <a:t>Applied Data Science and Artificial Intelligence (Business Analytics)</a:t>
            </a:r>
          </a:p>
          <a:p>
            <a:pPr algn="l"/>
            <a:r>
              <a:rPr lang="en-GB" sz="1600" noProof="0" dirty="0" err="1">
                <a:solidFill>
                  <a:schemeClr val="bg2">
                    <a:lumMod val="25000"/>
                  </a:schemeClr>
                </a:solidFill>
              </a:rPr>
              <a:t>Srh</a:t>
            </a:r>
            <a:r>
              <a:rPr lang="en-GB" sz="1600" noProof="0" dirty="0">
                <a:solidFill>
                  <a:schemeClr val="bg2">
                    <a:lumMod val="25000"/>
                  </a:schemeClr>
                </a:solidFill>
              </a:rPr>
              <a:t> University – </a:t>
            </a:r>
            <a:r>
              <a:rPr lang="en-GB" sz="1600" dirty="0">
                <a:solidFill>
                  <a:schemeClr val="bg2">
                    <a:lumMod val="25000"/>
                  </a:schemeClr>
                </a:solidFill>
              </a:rPr>
              <a:t>Campus Fürth</a:t>
            </a:r>
          </a:p>
          <a:p>
            <a:pPr algn="l"/>
            <a:r>
              <a:rPr lang="en-GB" sz="1600" noProof="0" dirty="0">
                <a:solidFill>
                  <a:schemeClr val="bg2">
                    <a:lumMod val="25000"/>
                  </a:schemeClr>
                </a:solidFill>
              </a:rPr>
              <a:t>Supply Chain Analytics</a:t>
            </a:r>
          </a:p>
          <a:p>
            <a:pPr algn="l"/>
            <a:r>
              <a:rPr lang="en-GB" sz="1600" dirty="0">
                <a:solidFill>
                  <a:schemeClr val="bg2">
                    <a:lumMod val="25000"/>
                  </a:schemeClr>
                </a:solidFill>
              </a:rPr>
              <a:t>07 Feb 2026</a:t>
            </a:r>
            <a:endParaRPr lang="en-US" sz="1600" noProof="0" dirty="0">
              <a:solidFill>
                <a:schemeClr val="bg2">
                  <a:lumMod val="25000"/>
                </a:schemeClr>
              </a:solidFill>
            </a:endParaRPr>
          </a:p>
        </p:txBody>
      </p:sp>
      <p:sp>
        <p:nvSpPr>
          <p:cNvPr id="4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noProof="0" dirty="0">
              <a:solidFill>
                <a:srgbClr val="FFFFFF"/>
              </a:solidFill>
            </a:endParaRPr>
          </a:p>
        </p:txBody>
      </p:sp>
      <p:sp>
        <p:nvSpPr>
          <p:cNvPr id="5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noProof="0" dirty="0">
              <a:solidFill>
                <a:srgbClr val="FFFFFF"/>
              </a:solidFill>
            </a:endParaRPr>
          </a:p>
        </p:txBody>
      </p:sp>
      <p:sp>
        <p:nvSpPr>
          <p:cNvPr id="5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noProof="0" dirty="0">
              <a:solidFill>
                <a:srgbClr val="FFFFFF"/>
              </a:solidFill>
            </a:endParaRPr>
          </a:p>
        </p:txBody>
      </p:sp>
      <p:cxnSp>
        <p:nvCxnSpPr>
          <p:cNvPr id="54" name="Straight Connector 5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noProof="0" dirty="0">
              <a:solidFill>
                <a:srgbClr val="FFFFFF"/>
              </a:solidFill>
            </a:endParaRPr>
          </a:p>
        </p:txBody>
      </p:sp>
      <p:sp>
        <p:nvSpPr>
          <p:cNvPr id="5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noProof="0" dirty="0">
              <a:solidFill>
                <a:srgbClr val="FFFFFF"/>
              </a:solidFill>
            </a:endParaRPr>
          </a:p>
        </p:txBody>
      </p:sp>
      <p:sp>
        <p:nvSpPr>
          <p:cNvPr id="60"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noProof="0" dirty="0">
              <a:solidFill>
                <a:srgbClr val="FFFFFF"/>
              </a:solidFill>
            </a:endParaRPr>
          </a:p>
        </p:txBody>
      </p:sp>
      <p:graphicFrame>
        <p:nvGraphicFramePr>
          <p:cNvPr id="4" name="think-cell data - do not delete" hidden="1">
            <a:extLst>
              <a:ext uri="{FF2B5EF4-FFF2-40B4-BE49-F238E27FC236}">
                <a16:creationId xmlns:a16="http://schemas.microsoft.com/office/drawing/2014/main" id="{C8FC5E78-7037-A993-CD52-C8BB9ADE5DCD}"/>
              </a:ext>
            </a:extLst>
          </p:cNvPr>
          <p:cNvGraphicFramePr>
            <a:graphicFrameLocks/>
          </p:cNvGraphicFramePr>
          <p:nvPr>
            <p:custDataLst>
              <p:tags r:id="rId1"/>
            </p:custDataLst>
            <p:extLst>
              <p:ext uri="{D42A27DB-BD31-4B8C-83A1-F6EECF244321}">
                <p14:modId xmlns:p14="http://schemas.microsoft.com/office/powerpoint/2010/main" val="12953159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C8FC5E78-7037-A993-CD52-C8BB9ADE5DCD}"/>
                          </a:ext>
                        </a:extLst>
                      </p:cNvPr>
                      <p:cNvPicPr/>
                      <p:nvPr/>
                    </p:nvPicPr>
                    <p:blipFill>
                      <a:blip/>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141450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D3911-7155-EE5F-9E8E-BB60E308222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02E6A25-7814-2077-6898-EAAA90461C7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002E6A25-7814-2077-6898-EAAA90461C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EB52EBD-EDDD-5A09-028F-9D61545BF7E8}"/>
              </a:ext>
            </a:extLst>
          </p:cNvPr>
          <p:cNvSpPr>
            <a:spLocks noGrp="1"/>
          </p:cNvSpPr>
          <p:nvPr>
            <p:ph type="title"/>
          </p:nvPr>
        </p:nvSpPr>
        <p:spPr>
          <a:xfrm>
            <a:off x="838200" y="374650"/>
            <a:ext cx="10515600" cy="498598"/>
          </a:xfrm>
        </p:spPr>
        <p:txBody>
          <a:bodyPr vert="horz" rIns="91440">
            <a:noAutofit/>
          </a:bodyPr>
          <a:lstStyle/>
          <a:p>
            <a:r>
              <a:rPr lang="en-US" noProof="0" dirty="0"/>
              <a:t>Executive summary</a:t>
            </a:r>
            <a:br>
              <a:rPr lang="en-US" noProof="0" dirty="0"/>
            </a:br>
            <a:r>
              <a:rPr lang="en-US" sz="1800" dirty="0"/>
              <a:t>From 2019 to 2023 – Amazon has shown remarkable growth</a:t>
            </a:r>
            <a:br>
              <a:rPr lang="en-US" dirty="0"/>
            </a:br>
            <a:endParaRPr lang="en-US" noProof="0" dirty="0"/>
          </a:p>
        </p:txBody>
      </p:sp>
      <p:sp>
        <p:nvSpPr>
          <p:cNvPr id="5" name="Slide Number Placeholder 4">
            <a:extLst>
              <a:ext uri="{FF2B5EF4-FFF2-40B4-BE49-F238E27FC236}">
                <a16:creationId xmlns:a16="http://schemas.microsoft.com/office/drawing/2014/main" id="{47FEF95B-D74C-DFDB-E355-3A0ED0FD89CE}"/>
              </a:ext>
            </a:extLst>
          </p:cNvPr>
          <p:cNvSpPr>
            <a:spLocks noGrp="1"/>
          </p:cNvSpPr>
          <p:nvPr>
            <p:ph type="sldNum" sz="quarter" idx="12"/>
          </p:nvPr>
        </p:nvSpPr>
        <p:spPr/>
        <p:txBody>
          <a:bodyPr/>
          <a:lstStyle/>
          <a:p>
            <a:fld id="{49882A7A-00EB-4D45-AA64-F8A75FA21FCC}" type="slidenum">
              <a:rPr lang="en-US" noProof="0" smtClean="0"/>
              <a:pPr/>
              <a:t>1</a:t>
            </a:fld>
            <a:endParaRPr lang="en-US" noProof="0" dirty="0"/>
          </a:p>
        </p:txBody>
      </p:sp>
      <p:sp>
        <p:nvSpPr>
          <p:cNvPr id="39" name="TextBox 38">
            <a:extLst>
              <a:ext uri="{FF2B5EF4-FFF2-40B4-BE49-F238E27FC236}">
                <a16:creationId xmlns:a16="http://schemas.microsoft.com/office/drawing/2014/main" id="{46B9B8C9-2596-0EE5-B8EF-6C0D0DAE8690}"/>
              </a:ext>
            </a:extLst>
          </p:cNvPr>
          <p:cNvSpPr txBox="1">
            <a:spLocks noChangeAspect="1"/>
          </p:cNvSpPr>
          <p:nvPr/>
        </p:nvSpPr>
        <p:spPr>
          <a:xfrm>
            <a:off x="1588317" y="2247125"/>
            <a:ext cx="1848966" cy="1848966"/>
          </a:xfrm>
          <a:prstGeom prst="ellipse">
            <a:avLst/>
          </a:prstGeom>
          <a:noFill/>
          <a:ln>
            <a:solidFill>
              <a:schemeClr val="bg2">
                <a:lumMod val="75000"/>
              </a:schemeClr>
            </a:solidFill>
          </a:ln>
        </p:spPr>
        <p:txBody>
          <a:bodyPr wrap="none" lIns="0" tIns="0" rIns="0" bIns="0" anchor="ctr">
            <a:noAutofit/>
          </a:bodyPr>
          <a:lstStyle/>
          <a:p>
            <a:pPr algn="ctr"/>
            <a:r>
              <a:rPr lang="en-US" sz="4000" noProof="0" dirty="0">
                <a:solidFill>
                  <a:schemeClr val="tx2"/>
                </a:solidFill>
              </a:rPr>
              <a:t>20%</a:t>
            </a:r>
            <a:endParaRPr lang="en-US" sz="4000" dirty="0"/>
          </a:p>
        </p:txBody>
      </p:sp>
      <p:sp>
        <p:nvSpPr>
          <p:cNvPr id="42" name="TextBox 41">
            <a:extLst>
              <a:ext uri="{FF2B5EF4-FFF2-40B4-BE49-F238E27FC236}">
                <a16:creationId xmlns:a16="http://schemas.microsoft.com/office/drawing/2014/main" id="{09A2D669-B4D4-E798-09F8-68EF52099B71}"/>
              </a:ext>
            </a:extLst>
          </p:cNvPr>
          <p:cNvSpPr txBox="1">
            <a:spLocks noChangeAspect="1"/>
          </p:cNvSpPr>
          <p:nvPr/>
        </p:nvSpPr>
        <p:spPr>
          <a:xfrm>
            <a:off x="5081547" y="2247125"/>
            <a:ext cx="1848966" cy="1848966"/>
          </a:xfrm>
          <a:prstGeom prst="ellipse">
            <a:avLst/>
          </a:prstGeom>
          <a:noFill/>
          <a:ln>
            <a:solidFill>
              <a:schemeClr val="bg2">
                <a:lumMod val="75000"/>
              </a:schemeClr>
            </a:solidFill>
          </a:ln>
        </p:spPr>
        <p:txBody>
          <a:bodyPr wrap="none" lIns="0" tIns="0" rIns="0" bIns="0" anchor="ctr">
            <a:noAutofit/>
          </a:bodyPr>
          <a:lstStyle/>
          <a:p>
            <a:pPr algn="ctr"/>
            <a:r>
              <a:rPr lang="en-US" sz="4000" noProof="0" dirty="0">
                <a:solidFill>
                  <a:schemeClr val="tx2"/>
                </a:solidFill>
              </a:rPr>
              <a:t>8.5%</a:t>
            </a:r>
            <a:endParaRPr lang="en-US" sz="4000" dirty="0"/>
          </a:p>
        </p:txBody>
      </p:sp>
      <p:sp>
        <p:nvSpPr>
          <p:cNvPr id="15" name="TextBox 14">
            <a:extLst>
              <a:ext uri="{FF2B5EF4-FFF2-40B4-BE49-F238E27FC236}">
                <a16:creationId xmlns:a16="http://schemas.microsoft.com/office/drawing/2014/main" id="{06B2DEA2-F18A-744B-9356-AB15EFAFB62E}"/>
              </a:ext>
            </a:extLst>
          </p:cNvPr>
          <p:cNvSpPr txBox="1">
            <a:spLocks noChangeAspect="1"/>
          </p:cNvSpPr>
          <p:nvPr/>
        </p:nvSpPr>
        <p:spPr>
          <a:xfrm>
            <a:off x="8754718" y="2247125"/>
            <a:ext cx="1848966" cy="1848966"/>
          </a:xfrm>
          <a:prstGeom prst="ellipse">
            <a:avLst/>
          </a:prstGeom>
          <a:noFill/>
          <a:ln>
            <a:solidFill>
              <a:schemeClr val="bg2">
                <a:lumMod val="75000"/>
              </a:schemeClr>
            </a:solidFill>
          </a:ln>
        </p:spPr>
        <p:txBody>
          <a:bodyPr wrap="none" lIns="0" tIns="0" rIns="0" bIns="0" anchor="ctr">
            <a:noAutofit/>
          </a:bodyPr>
          <a:lstStyle/>
          <a:p>
            <a:pPr algn="ctr"/>
            <a:r>
              <a:rPr lang="en-GB" sz="4000" dirty="0">
                <a:solidFill>
                  <a:schemeClr val="tx2"/>
                </a:solidFill>
              </a:rPr>
              <a:t>~40%</a:t>
            </a:r>
            <a:endParaRPr lang="en-GB" sz="4000" noProof="0" dirty="0">
              <a:solidFill>
                <a:schemeClr val="tx2"/>
              </a:solidFill>
            </a:endParaRPr>
          </a:p>
        </p:txBody>
      </p:sp>
      <p:grpSp>
        <p:nvGrpSpPr>
          <p:cNvPr id="7" name="Group 6">
            <a:extLst>
              <a:ext uri="{FF2B5EF4-FFF2-40B4-BE49-F238E27FC236}">
                <a16:creationId xmlns:a16="http://schemas.microsoft.com/office/drawing/2014/main" id="{2AEE8DDF-0CBF-82CA-1731-DBF1F89A9FC0}"/>
              </a:ext>
            </a:extLst>
          </p:cNvPr>
          <p:cNvGrpSpPr/>
          <p:nvPr/>
        </p:nvGrpSpPr>
        <p:grpSpPr>
          <a:xfrm>
            <a:off x="838200" y="4476822"/>
            <a:ext cx="10515600" cy="646331"/>
            <a:chOff x="838200" y="4476822"/>
            <a:chExt cx="10515600" cy="646331"/>
          </a:xfrm>
        </p:grpSpPr>
        <p:sp>
          <p:nvSpPr>
            <p:cNvPr id="45" name="TextBox 44">
              <a:extLst>
                <a:ext uri="{FF2B5EF4-FFF2-40B4-BE49-F238E27FC236}">
                  <a16:creationId xmlns:a16="http://schemas.microsoft.com/office/drawing/2014/main" id="{808E83B1-4424-D075-C450-9612E318A1F4}"/>
                </a:ext>
              </a:extLst>
            </p:cNvPr>
            <p:cNvSpPr txBox="1"/>
            <p:nvPr/>
          </p:nvSpPr>
          <p:spPr>
            <a:xfrm>
              <a:off x="4421400" y="4476822"/>
              <a:ext cx="3349200" cy="646331"/>
            </a:xfrm>
            <a:prstGeom prst="rect">
              <a:avLst/>
            </a:prstGeom>
            <a:noFill/>
          </p:spPr>
          <p:txBody>
            <a:bodyPr wrap="square">
              <a:noAutofit/>
            </a:bodyPr>
            <a:lstStyle/>
            <a:p>
              <a:pPr algn="ctr"/>
              <a:r>
                <a:rPr lang="en-US" sz="1800" noProof="0" dirty="0"/>
                <a:t>Improvement in average delivery time</a:t>
              </a:r>
              <a:endParaRPr lang="en-US" dirty="0"/>
            </a:p>
          </p:txBody>
        </p:sp>
        <p:sp>
          <p:nvSpPr>
            <p:cNvPr id="53" name="TextBox 52">
              <a:extLst>
                <a:ext uri="{FF2B5EF4-FFF2-40B4-BE49-F238E27FC236}">
                  <a16:creationId xmlns:a16="http://schemas.microsoft.com/office/drawing/2014/main" id="{468F2D7F-CB61-1EA2-19EC-24C4C9BC87AF}"/>
                </a:ext>
              </a:extLst>
            </p:cNvPr>
            <p:cNvSpPr txBox="1"/>
            <p:nvPr/>
          </p:nvSpPr>
          <p:spPr>
            <a:xfrm>
              <a:off x="838200" y="4476822"/>
              <a:ext cx="3349200" cy="646331"/>
            </a:xfrm>
            <a:prstGeom prst="rect">
              <a:avLst/>
            </a:prstGeom>
            <a:noFill/>
          </p:spPr>
          <p:txBody>
            <a:bodyPr wrap="square">
              <a:noAutofit/>
            </a:bodyPr>
            <a:lstStyle/>
            <a:p>
              <a:pPr algn="ctr"/>
              <a:r>
                <a:rPr lang="en-US" sz="1800" noProof="0" dirty="0"/>
                <a:t>Improvement in Inventory turnover rate</a:t>
              </a:r>
              <a:endParaRPr lang="en-US" dirty="0"/>
            </a:p>
          </p:txBody>
        </p:sp>
        <p:sp>
          <p:nvSpPr>
            <p:cNvPr id="46" name="TextBox 45">
              <a:extLst>
                <a:ext uri="{FF2B5EF4-FFF2-40B4-BE49-F238E27FC236}">
                  <a16:creationId xmlns:a16="http://schemas.microsoft.com/office/drawing/2014/main" id="{3833EA06-FF77-791B-E663-5694CB779B16}"/>
                </a:ext>
              </a:extLst>
            </p:cNvPr>
            <p:cNvSpPr txBox="1"/>
            <p:nvPr/>
          </p:nvSpPr>
          <p:spPr>
            <a:xfrm>
              <a:off x="8004600" y="4476822"/>
              <a:ext cx="3349200" cy="646331"/>
            </a:xfrm>
            <a:prstGeom prst="rect">
              <a:avLst/>
            </a:prstGeom>
            <a:noFill/>
          </p:spPr>
          <p:txBody>
            <a:bodyPr wrap="square">
              <a:noAutofit/>
            </a:bodyPr>
            <a:lstStyle/>
            <a:p>
              <a:pPr algn="ctr"/>
              <a:r>
                <a:rPr lang="en-GB" dirty="0">
                  <a:solidFill>
                    <a:schemeClr val="bg1"/>
                  </a:solidFill>
                </a:rPr>
                <a:t>Reduction in </a:t>
              </a:r>
              <a:br>
                <a:rPr lang="en-GB" dirty="0">
                  <a:solidFill>
                    <a:schemeClr val="bg1"/>
                  </a:solidFill>
                </a:rPr>
              </a:br>
              <a:r>
                <a:rPr lang="en-GB" sz="1800" noProof="0" dirty="0">
                  <a:solidFill>
                    <a:schemeClr val="bg1"/>
                  </a:solidFill>
                </a:rPr>
                <a:t>Carbon intensity</a:t>
              </a:r>
              <a:endParaRPr lang="en-GB" sz="1800" noProof="0" dirty="0">
                <a:solidFill>
                  <a:schemeClr val="tx2"/>
                </a:solidFill>
              </a:endParaRPr>
            </a:p>
          </p:txBody>
        </p:sp>
      </p:grpSp>
    </p:spTree>
    <p:extLst>
      <p:ext uri="{BB962C8B-B14F-4D97-AF65-F5344CB8AC3E}">
        <p14:creationId xmlns:p14="http://schemas.microsoft.com/office/powerpoint/2010/main" val="315918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C6AE7-9E7D-D5A9-E005-9421CC0BEE05}"/>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212D4D9-F886-6677-6B12-E4E4EF2DFCF6}"/>
              </a:ext>
            </a:extLst>
          </p:cNvPr>
          <p:cNvGraphicFramePr>
            <a:graphicFrameLocks/>
          </p:cNvGraphicFramePr>
          <p:nvPr>
            <p:custDataLst>
              <p:tags r:id="rId1"/>
            </p:custDataLst>
            <p:extLst>
              <p:ext uri="{D42A27DB-BD31-4B8C-83A1-F6EECF244321}">
                <p14:modId xmlns:p14="http://schemas.microsoft.com/office/powerpoint/2010/main" val="3134238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7212D4D9-F886-6677-6B12-E4E4EF2DFC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8" name="Group 17">
            <a:extLst>
              <a:ext uri="{FF2B5EF4-FFF2-40B4-BE49-F238E27FC236}">
                <a16:creationId xmlns:a16="http://schemas.microsoft.com/office/drawing/2014/main" id="{4D96E12B-4F54-6FD5-07BE-DC134872C497}"/>
              </a:ext>
            </a:extLst>
          </p:cNvPr>
          <p:cNvGrpSpPr/>
          <p:nvPr/>
        </p:nvGrpSpPr>
        <p:grpSpPr>
          <a:xfrm>
            <a:off x="838200" y="2094606"/>
            <a:ext cx="6764045" cy="1635991"/>
            <a:chOff x="838200" y="2094606"/>
            <a:chExt cx="6764045" cy="1635991"/>
          </a:xfrm>
        </p:grpSpPr>
        <p:sp>
          <p:nvSpPr>
            <p:cNvPr id="6" name="Content Placeholder 2">
              <a:extLst>
                <a:ext uri="{FF2B5EF4-FFF2-40B4-BE49-F238E27FC236}">
                  <a16:creationId xmlns:a16="http://schemas.microsoft.com/office/drawing/2014/main" id="{54C47531-5844-F6EF-50E8-05FE79CC1F54}"/>
                </a:ext>
              </a:extLst>
            </p:cNvPr>
            <p:cNvSpPr txBox="1">
              <a:spLocks/>
            </p:cNvSpPr>
            <p:nvPr/>
          </p:nvSpPr>
          <p:spPr>
            <a:xfrm>
              <a:off x="1747838" y="2195042"/>
              <a:ext cx="5854407" cy="36933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b="1" noProof="0" dirty="0">
                  <a:solidFill>
                    <a:schemeClr val="tx2"/>
                  </a:solidFill>
                </a:rPr>
                <a:t>Predicting Demand</a:t>
              </a:r>
              <a:endParaRPr lang="en-US" sz="2000" noProof="0" dirty="0">
                <a:solidFill>
                  <a:schemeClr val="tx2"/>
                </a:solidFill>
              </a:endParaRPr>
            </a:p>
          </p:txBody>
        </p:sp>
        <p:sp>
          <p:nvSpPr>
            <p:cNvPr id="8" name="Content Placeholder 2">
              <a:extLst>
                <a:ext uri="{FF2B5EF4-FFF2-40B4-BE49-F238E27FC236}">
                  <a16:creationId xmlns:a16="http://schemas.microsoft.com/office/drawing/2014/main" id="{BB8B8201-EC2E-9563-AD0E-FD643E2EC4A2}"/>
                </a:ext>
              </a:extLst>
            </p:cNvPr>
            <p:cNvSpPr txBox="1">
              <a:spLocks/>
            </p:cNvSpPr>
            <p:nvPr/>
          </p:nvSpPr>
          <p:spPr>
            <a:xfrm>
              <a:off x="838200" y="2807267"/>
              <a:ext cx="6764045" cy="923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US" sz="1800" noProof="0" dirty="0">
                  <a:solidFill>
                    <a:schemeClr val="bg1"/>
                  </a:solidFill>
                </a:rPr>
                <a:t> Amazon needed to accurately forecast demand for millions of products across various regions to optimize inventory levels and minimize costs</a:t>
              </a:r>
            </a:p>
          </p:txBody>
        </p:sp>
        <p:pic>
          <p:nvPicPr>
            <p:cNvPr id="13" name="Graphic 12" descr="Research with solid fill">
              <a:extLst>
                <a:ext uri="{FF2B5EF4-FFF2-40B4-BE49-F238E27FC236}">
                  <a16:creationId xmlns:a16="http://schemas.microsoft.com/office/drawing/2014/main" id="{C6C3A8B2-C839-499C-F1CA-BFF3CE421D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6364" y="2094606"/>
              <a:ext cx="491923" cy="491923"/>
            </a:xfrm>
            <a:prstGeom prst="rect">
              <a:avLst/>
            </a:prstGeom>
          </p:spPr>
        </p:pic>
      </p:grpSp>
      <p:grpSp>
        <p:nvGrpSpPr>
          <p:cNvPr id="19" name="Group 18">
            <a:extLst>
              <a:ext uri="{FF2B5EF4-FFF2-40B4-BE49-F238E27FC236}">
                <a16:creationId xmlns:a16="http://schemas.microsoft.com/office/drawing/2014/main" id="{90EEA6D7-8998-160C-7406-7B7474124A2D}"/>
              </a:ext>
            </a:extLst>
          </p:cNvPr>
          <p:cNvGrpSpPr/>
          <p:nvPr/>
        </p:nvGrpSpPr>
        <p:grpSpPr>
          <a:xfrm>
            <a:off x="838200" y="4143377"/>
            <a:ext cx="6764044" cy="1591565"/>
            <a:chOff x="838200" y="4143377"/>
            <a:chExt cx="6764044" cy="1591565"/>
          </a:xfrm>
        </p:grpSpPr>
        <p:sp>
          <p:nvSpPr>
            <p:cNvPr id="7" name="Content Placeholder 2">
              <a:extLst>
                <a:ext uri="{FF2B5EF4-FFF2-40B4-BE49-F238E27FC236}">
                  <a16:creationId xmlns:a16="http://schemas.microsoft.com/office/drawing/2014/main" id="{A3038B02-FE0F-930F-31AA-80FCD35F2FC0}"/>
                </a:ext>
              </a:extLst>
            </p:cNvPr>
            <p:cNvSpPr txBox="1">
              <a:spLocks/>
            </p:cNvSpPr>
            <p:nvPr/>
          </p:nvSpPr>
          <p:spPr>
            <a:xfrm>
              <a:off x="1747838" y="4282487"/>
              <a:ext cx="5854406" cy="369332"/>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b="1" noProof="0" dirty="0">
                  <a:solidFill>
                    <a:srgbClr val="FB9161"/>
                  </a:solidFill>
                </a:rPr>
                <a:t>Optimizing Logistics</a:t>
              </a:r>
              <a:endParaRPr lang="en-US" sz="2000" noProof="0" dirty="0">
                <a:solidFill>
                  <a:srgbClr val="FB9161"/>
                </a:solidFill>
              </a:endParaRPr>
            </a:p>
          </p:txBody>
        </p:sp>
        <p:sp>
          <p:nvSpPr>
            <p:cNvPr id="9" name="Content Placeholder 2">
              <a:extLst>
                <a:ext uri="{FF2B5EF4-FFF2-40B4-BE49-F238E27FC236}">
                  <a16:creationId xmlns:a16="http://schemas.microsoft.com/office/drawing/2014/main" id="{9B3F84CB-7C87-CCEC-FB86-AC6776B49636}"/>
                </a:ext>
              </a:extLst>
            </p:cNvPr>
            <p:cNvSpPr txBox="1">
              <a:spLocks/>
            </p:cNvSpPr>
            <p:nvPr/>
          </p:nvSpPr>
          <p:spPr>
            <a:xfrm>
              <a:off x="838200" y="4894712"/>
              <a:ext cx="6764044" cy="8402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US" sz="1800" noProof="0" dirty="0">
                  <a:solidFill>
                    <a:schemeClr val="bg1"/>
                  </a:solidFill>
                </a:rPr>
                <a:t>The company needed to ensure that products were moved through the supply chain as efficiently as possible, from suppliers to warehouses to the final customer delivery</a:t>
              </a:r>
            </a:p>
          </p:txBody>
        </p:sp>
        <p:pic>
          <p:nvPicPr>
            <p:cNvPr id="21" name="Graphic 20" descr="Truck with solid fill">
              <a:extLst>
                <a:ext uri="{FF2B5EF4-FFF2-40B4-BE49-F238E27FC236}">
                  <a16:creationId xmlns:a16="http://schemas.microsoft.com/office/drawing/2014/main" id="{2877AE10-89B9-4479-6899-746D243D10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0155" y="4143377"/>
              <a:ext cx="701261" cy="701261"/>
            </a:xfrm>
            <a:prstGeom prst="rect">
              <a:avLst/>
            </a:prstGeom>
          </p:spPr>
        </p:pic>
      </p:grpSp>
      <p:grpSp>
        <p:nvGrpSpPr>
          <p:cNvPr id="17" name="Group 16">
            <a:extLst>
              <a:ext uri="{FF2B5EF4-FFF2-40B4-BE49-F238E27FC236}">
                <a16:creationId xmlns:a16="http://schemas.microsoft.com/office/drawing/2014/main" id="{CD0D5B47-2B3D-5943-8B7A-F153EE4596A7}"/>
              </a:ext>
            </a:extLst>
          </p:cNvPr>
          <p:cNvGrpSpPr/>
          <p:nvPr/>
        </p:nvGrpSpPr>
        <p:grpSpPr>
          <a:xfrm>
            <a:off x="8391525" y="0"/>
            <a:ext cx="3800475" cy="6858000"/>
            <a:chOff x="8391525" y="0"/>
            <a:chExt cx="3800475" cy="6858000"/>
          </a:xfrm>
        </p:grpSpPr>
        <p:sp>
          <p:nvSpPr>
            <p:cNvPr id="10" name="Rectangle 9">
              <a:extLst>
                <a:ext uri="{FF2B5EF4-FFF2-40B4-BE49-F238E27FC236}">
                  <a16:creationId xmlns:a16="http://schemas.microsoft.com/office/drawing/2014/main" id="{B9CA856E-4C34-A73D-0F26-1FD1DDB0A03D}"/>
                </a:ext>
              </a:extLst>
            </p:cNvPr>
            <p:cNvSpPr/>
            <p:nvPr/>
          </p:nvSpPr>
          <p:spPr>
            <a:xfrm>
              <a:off x="8391525" y="0"/>
              <a:ext cx="3800475" cy="6858000"/>
            </a:xfrm>
            <a:prstGeom prst="rect">
              <a:avLst/>
            </a:prstGeom>
            <a:solidFill>
              <a:schemeClr val="bg1">
                <a:lumMod val="95000"/>
                <a:alpha val="2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Content Placeholder 2">
              <a:extLst>
                <a:ext uri="{FF2B5EF4-FFF2-40B4-BE49-F238E27FC236}">
                  <a16:creationId xmlns:a16="http://schemas.microsoft.com/office/drawing/2014/main" id="{18D93A96-BCEC-04A4-8D05-114CA418AF6B}"/>
                </a:ext>
              </a:extLst>
            </p:cNvPr>
            <p:cNvSpPr txBox="1">
              <a:spLocks/>
            </p:cNvSpPr>
            <p:nvPr/>
          </p:nvSpPr>
          <p:spPr>
            <a:xfrm>
              <a:off x="8805863" y="1720840"/>
              <a:ext cx="2971800" cy="34163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buFont typeface="Arial" panose="020B0604020202020204" pitchFamily="34" charset="0"/>
                <a:buNone/>
              </a:pPr>
              <a:r>
                <a:rPr lang="en-US" sz="2400" dirty="0">
                  <a:solidFill>
                    <a:schemeClr val="bg1"/>
                  </a:solidFill>
                </a:rPr>
                <a:t>Traditional supply chain management methods, even those bolstered by advanced software, were </a:t>
              </a:r>
              <a:r>
                <a:rPr lang="en-US" sz="2400" dirty="0">
                  <a:solidFill>
                    <a:schemeClr val="accent2"/>
                  </a:solidFill>
                </a:rPr>
                <a:t>reaching their limits in managing the complexity</a:t>
              </a:r>
            </a:p>
          </p:txBody>
        </p:sp>
      </p:grpSp>
      <p:sp>
        <p:nvSpPr>
          <p:cNvPr id="2" name="Title 1">
            <a:extLst>
              <a:ext uri="{FF2B5EF4-FFF2-40B4-BE49-F238E27FC236}">
                <a16:creationId xmlns:a16="http://schemas.microsoft.com/office/drawing/2014/main" id="{DA4C5452-C8D8-F655-3351-5CE2D811EDE8}"/>
              </a:ext>
            </a:extLst>
          </p:cNvPr>
          <p:cNvSpPr>
            <a:spLocks noGrp="1"/>
          </p:cNvSpPr>
          <p:nvPr>
            <p:ph type="title"/>
          </p:nvPr>
        </p:nvSpPr>
        <p:spPr>
          <a:xfrm>
            <a:off x="838199" y="365125"/>
            <a:ext cx="6929927" cy="1325563"/>
          </a:xfrm>
        </p:spPr>
        <p:txBody>
          <a:bodyPr vert="horz" rIns="91440">
            <a:noAutofit/>
          </a:bodyPr>
          <a:lstStyle/>
          <a:p>
            <a:r>
              <a:rPr lang="en-GB" sz="2800" dirty="0"/>
              <a:t>The Complexity Ceiling: Why Traditional Logistics Scaled No Further</a:t>
            </a:r>
            <a:endParaRPr lang="en-US" sz="2800" noProof="0" dirty="0"/>
          </a:p>
        </p:txBody>
      </p:sp>
      <p:sp>
        <p:nvSpPr>
          <p:cNvPr id="5" name="Slide Number Placeholder 4">
            <a:extLst>
              <a:ext uri="{FF2B5EF4-FFF2-40B4-BE49-F238E27FC236}">
                <a16:creationId xmlns:a16="http://schemas.microsoft.com/office/drawing/2014/main" id="{F74DB676-8A24-6726-A120-CE6946679390}"/>
              </a:ext>
            </a:extLst>
          </p:cNvPr>
          <p:cNvSpPr>
            <a:spLocks noGrp="1"/>
          </p:cNvSpPr>
          <p:nvPr>
            <p:ph type="sldNum" sz="quarter" idx="12"/>
          </p:nvPr>
        </p:nvSpPr>
        <p:spPr/>
        <p:txBody>
          <a:bodyPr/>
          <a:lstStyle/>
          <a:p>
            <a:fld id="{49882A7A-00EB-4D45-AA64-F8A75FA21FCC}" type="slidenum">
              <a:rPr lang="en-US" noProof="0" smtClean="0"/>
              <a:pPr/>
              <a:t>2</a:t>
            </a:fld>
            <a:endParaRPr lang="en-US" noProof="0" dirty="0"/>
          </a:p>
        </p:txBody>
      </p:sp>
      <p:cxnSp>
        <p:nvCxnSpPr>
          <p:cNvPr id="15" name="Straight Arrow Connector 14">
            <a:extLst>
              <a:ext uri="{FF2B5EF4-FFF2-40B4-BE49-F238E27FC236}">
                <a16:creationId xmlns:a16="http://schemas.microsoft.com/office/drawing/2014/main" id="{44EAAA0E-3B85-B5E9-3607-574E086804E0}"/>
              </a:ext>
            </a:extLst>
          </p:cNvPr>
          <p:cNvCxnSpPr/>
          <p:nvPr/>
        </p:nvCxnSpPr>
        <p:spPr>
          <a:xfrm>
            <a:off x="838200" y="2637862"/>
            <a:ext cx="6764045"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62489D0-8D47-6B58-C51B-2FD676858B91}"/>
              </a:ext>
            </a:extLst>
          </p:cNvPr>
          <p:cNvCxnSpPr/>
          <p:nvPr/>
        </p:nvCxnSpPr>
        <p:spPr>
          <a:xfrm>
            <a:off x="838200" y="4725307"/>
            <a:ext cx="6764045"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sp>
        <p:nvSpPr>
          <p:cNvPr id="20" name="Freeform 11">
            <a:extLst>
              <a:ext uri="{FF2B5EF4-FFF2-40B4-BE49-F238E27FC236}">
                <a16:creationId xmlns:a16="http://schemas.microsoft.com/office/drawing/2014/main" id="{01B53F5B-240F-8052-0DA4-6CB39A129FC1}"/>
              </a:ext>
            </a:extLst>
          </p:cNvPr>
          <p:cNvSpPr>
            <a:spLocks/>
          </p:cNvSpPr>
          <p:nvPr/>
        </p:nvSpPr>
        <p:spPr bwMode="gray">
          <a:xfrm>
            <a:off x="-937508" y="6538912"/>
            <a:ext cx="1483858" cy="1490573"/>
          </a:xfrm>
          <a:custGeom>
            <a:avLst/>
            <a:gdLst>
              <a:gd name="T0" fmla="*/ 464 w 285"/>
              <a:gd name="T1" fmla="*/ 397 h 286"/>
              <a:gd name="T2" fmla="*/ 226 w 285"/>
              <a:gd name="T3" fmla="*/ 0 h 286"/>
              <a:gd name="T4" fmla="*/ 0 w 285"/>
              <a:gd name="T5" fmla="*/ 0 h 286"/>
              <a:gd name="T6" fmla="*/ 685 w 285"/>
              <a:gd name="T7" fmla="*/ 689 h 286"/>
              <a:gd name="T8" fmla="*/ 685 w 285"/>
              <a:gd name="T9" fmla="*/ 463 h 286"/>
              <a:gd name="T10" fmla="*/ 464 w 285"/>
              <a:gd name="T11" fmla="*/ 397 h 2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6">
                <a:moveTo>
                  <a:pt x="193" y="165"/>
                </a:moveTo>
                <a:cubicBezTo>
                  <a:pt x="132" y="130"/>
                  <a:pt x="97" y="66"/>
                  <a:pt x="94" y="0"/>
                </a:cubicBezTo>
                <a:cubicBezTo>
                  <a:pt x="0" y="0"/>
                  <a:pt x="0" y="0"/>
                  <a:pt x="0" y="0"/>
                </a:cubicBezTo>
                <a:cubicBezTo>
                  <a:pt x="3" y="156"/>
                  <a:pt x="129" y="282"/>
                  <a:pt x="285" y="286"/>
                </a:cubicBezTo>
                <a:cubicBezTo>
                  <a:pt x="285" y="192"/>
                  <a:pt x="285" y="192"/>
                  <a:pt x="285" y="192"/>
                </a:cubicBezTo>
                <a:cubicBezTo>
                  <a:pt x="254" y="190"/>
                  <a:pt x="222" y="182"/>
                  <a:pt x="193" y="165"/>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23" name="Freeform 12">
            <a:extLst>
              <a:ext uri="{FF2B5EF4-FFF2-40B4-BE49-F238E27FC236}">
                <a16:creationId xmlns:a16="http://schemas.microsoft.com/office/drawing/2014/main" id="{73D14510-F5B3-0747-F629-CDACA9786955}"/>
              </a:ext>
            </a:extLst>
          </p:cNvPr>
          <p:cNvSpPr>
            <a:spLocks/>
          </p:cNvSpPr>
          <p:nvPr/>
        </p:nvSpPr>
        <p:spPr bwMode="gray">
          <a:xfrm>
            <a:off x="-1269058" y="-1118734"/>
            <a:ext cx="1483858" cy="1483859"/>
          </a:xfrm>
          <a:custGeom>
            <a:avLst/>
            <a:gdLst>
              <a:gd name="T0" fmla="*/ 292 w 285"/>
              <a:gd name="T1" fmla="*/ 464 h 285"/>
              <a:gd name="T2" fmla="*/ 685 w 285"/>
              <a:gd name="T3" fmla="*/ 226 h 285"/>
              <a:gd name="T4" fmla="*/ 685 w 285"/>
              <a:gd name="T5" fmla="*/ 0 h 285"/>
              <a:gd name="T6" fmla="*/ 0 w 285"/>
              <a:gd name="T7" fmla="*/ 685 h 285"/>
              <a:gd name="T8" fmla="*/ 226 w 285"/>
              <a:gd name="T9" fmla="*/ 685 h 285"/>
              <a:gd name="T10" fmla="*/ 292 w 285"/>
              <a:gd name="T11" fmla="*/ 464 h 2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5">
                <a:moveTo>
                  <a:pt x="121" y="193"/>
                </a:moveTo>
                <a:cubicBezTo>
                  <a:pt x="156" y="132"/>
                  <a:pt x="219" y="96"/>
                  <a:pt x="285" y="94"/>
                </a:cubicBezTo>
                <a:cubicBezTo>
                  <a:pt x="285" y="0"/>
                  <a:pt x="285" y="0"/>
                  <a:pt x="285" y="0"/>
                </a:cubicBezTo>
                <a:cubicBezTo>
                  <a:pt x="129" y="3"/>
                  <a:pt x="4" y="129"/>
                  <a:pt x="0" y="285"/>
                </a:cubicBezTo>
                <a:cubicBezTo>
                  <a:pt x="94" y="285"/>
                  <a:pt x="94" y="285"/>
                  <a:pt x="94" y="285"/>
                </a:cubicBezTo>
                <a:cubicBezTo>
                  <a:pt x="95" y="253"/>
                  <a:pt x="104" y="222"/>
                  <a:pt x="121" y="193"/>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24" name="Freeform 13">
            <a:extLst>
              <a:ext uri="{FF2B5EF4-FFF2-40B4-BE49-F238E27FC236}">
                <a16:creationId xmlns:a16="http://schemas.microsoft.com/office/drawing/2014/main" id="{A06C3479-B61E-FBBD-8DF1-D49E9A2B3C5D}"/>
              </a:ext>
            </a:extLst>
          </p:cNvPr>
          <p:cNvSpPr>
            <a:spLocks/>
          </p:cNvSpPr>
          <p:nvPr/>
        </p:nvSpPr>
        <p:spPr bwMode="gray">
          <a:xfrm>
            <a:off x="12192000" y="-1275846"/>
            <a:ext cx="1483858" cy="1483859"/>
          </a:xfrm>
          <a:custGeom>
            <a:avLst/>
            <a:gdLst>
              <a:gd name="T0" fmla="*/ 222 w 285"/>
              <a:gd name="T1" fmla="*/ 288 h 285"/>
              <a:gd name="T2" fmla="*/ 459 w 285"/>
              <a:gd name="T3" fmla="*/ 685 h 285"/>
              <a:gd name="T4" fmla="*/ 685 w 285"/>
              <a:gd name="T5" fmla="*/ 685 h 285"/>
              <a:gd name="T6" fmla="*/ 0 w 285"/>
              <a:gd name="T7" fmla="*/ 0 h 285"/>
              <a:gd name="T8" fmla="*/ 0 w 285"/>
              <a:gd name="T9" fmla="*/ 226 h 285"/>
              <a:gd name="T10" fmla="*/ 222 w 285"/>
              <a:gd name="T11" fmla="*/ 288 h 2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5">
                <a:moveTo>
                  <a:pt x="92" y="120"/>
                </a:moveTo>
                <a:cubicBezTo>
                  <a:pt x="153" y="156"/>
                  <a:pt x="188" y="219"/>
                  <a:pt x="191" y="285"/>
                </a:cubicBezTo>
                <a:cubicBezTo>
                  <a:pt x="285" y="285"/>
                  <a:pt x="285" y="285"/>
                  <a:pt x="285" y="285"/>
                </a:cubicBezTo>
                <a:cubicBezTo>
                  <a:pt x="281" y="129"/>
                  <a:pt x="156" y="3"/>
                  <a:pt x="0" y="0"/>
                </a:cubicBezTo>
                <a:cubicBezTo>
                  <a:pt x="0" y="94"/>
                  <a:pt x="0" y="94"/>
                  <a:pt x="0" y="94"/>
                </a:cubicBezTo>
                <a:cubicBezTo>
                  <a:pt x="31" y="95"/>
                  <a:pt x="63" y="104"/>
                  <a:pt x="92" y="120"/>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25" name="Freeform 14">
            <a:extLst>
              <a:ext uri="{FF2B5EF4-FFF2-40B4-BE49-F238E27FC236}">
                <a16:creationId xmlns:a16="http://schemas.microsoft.com/office/drawing/2014/main" id="{611B9F16-D928-D66F-6499-B9765FAE74E6}"/>
              </a:ext>
            </a:extLst>
          </p:cNvPr>
          <p:cNvSpPr>
            <a:spLocks/>
          </p:cNvSpPr>
          <p:nvPr/>
        </p:nvSpPr>
        <p:spPr bwMode="gray">
          <a:xfrm>
            <a:off x="12192000" y="6538911"/>
            <a:ext cx="1483858" cy="1490573"/>
          </a:xfrm>
          <a:custGeom>
            <a:avLst/>
            <a:gdLst>
              <a:gd name="T0" fmla="*/ 394 w 285"/>
              <a:gd name="T1" fmla="*/ 222 h 286"/>
              <a:gd name="T2" fmla="*/ 0 w 285"/>
              <a:gd name="T3" fmla="*/ 461 h 286"/>
              <a:gd name="T4" fmla="*/ 0 w 285"/>
              <a:gd name="T5" fmla="*/ 689 h 286"/>
              <a:gd name="T6" fmla="*/ 685 w 285"/>
              <a:gd name="T7" fmla="*/ 0 h 286"/>
              <a:gd name="T8" fmla="*/ 459 w 285"/>
              <a:gd name="T9" fmla="*/ 0 h 286"/>
              <a:gd name="T10" fmla="*/ 394 w 285"/>
              <a:gd name="T11" fmla="*/ 222 h 2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6">
                <a:moveTo>
                  <a:pt x="164" y="92"/>
                </a:moveTo>
                <a:cubicBezTo>
                  <a:pt x="129" y="154"/>
                  <a:pt x="66" y="189"/>
                  <a:pt x="0" y="191"/>
                </a:cubicBezTo>
                <a:cubicBezTo>
                  <a:pt x="0" y="286"/>
                  <a:pt x="0" y="286"/>
                  <a:pt x="0" y="286"/>
                </a:cubicBezTo>
                <a:cubicBezTo>
                  <a:pt x="156" y="282"/>
                  <a:pt x="282" y="156"/>
                  <a:pt x="285" y="0"/>
                </a:cubicBezTo>
                <a:cubicBezTo>
                  <a:pt x="191" y="0"/>
                  <a:pt x="191" y="0"/>
                  <a:pt x="191" y="0"/>
                </a:cubicBezTo>
                <a:cubicBezTo>
                  <a:pt x="190" y="32"/>
                  <a:pt x="181" y="63"/>
                  <a:pt x="164" y="92"/>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Tree>
    <p:extLst>
      <p:ext uri="{BB962C8B-B14F-4D97-AF65-F5344CB8AC3E}">
        <p14:creationId xmlns:p14="http://schemas.microsoft.com/office/powerpoint/2010/main" val="2503829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F8CFAFE4-42EA-000E-0073-154FC332BF03}"/>
              </a:ext>
            </a:extLst>
          </p:cNvPr>
          <p:cNvGraphicFramePr>
            <a:graphicFrameLocks/>
          </p:cNvGraphicFramePr>
          <p:nvPr>
            <p:custDataLst>
              <p:tags r:id="rId1"/>
            </p:custDataLst>
            <p:extLst>
              <p:ext uri="{D42A27DB-BD31-4B8C-83A1-F6EECF244321}">
                <p14:modId xmlns:p14="http://schemas.microsoft.com/office/powerpoint/2010/main" val="1441398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5" imgH="405" progId="TCLayout.ActiveDocument.1">
                  <p:embed/>
                </p:oleObj>
              </mc:Choice>
              <mc:Fallback>
                <p:oleObj name="think-cell Slide" r:id="rId5" imgW="405" imgH="405" progId="TCLayout.ActiveDocument.1">
                  <p:embed/>
                  <p:pic>
                    <p:nvPicPr>
                      <p:cNvPr id="29" name="think-cell data - do not delete" hidden="1">
                        <a:extLst>
                          <a:ext uri="{FF2B5EF4-FFF2-40B4-BE49-F238E27FC236}">
                            <a16:creationId xmlns:a16="http://schemas.microsoft.com/office/drawing/2014/main" id="{F8CFAFE4-42EA-000E-0073-154FC332BF0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a:xfrm>
            <a:off x="838200" y="365125"/>
            <a:ext cx="10515600" cy="867930"/>
          </a:xfrm>
        </p:spPr>
        <p:txBody>
          <a:bodyPr vert="horz" rIns="91440">
            <a:noAutofit/>
          </a:bodyPr>
          <a:lstStyle/>
          <a:p>
            <a:r>
              <a:rPr lang="en-US" sz="2800" noProof="0" dirty="0"/>
              <a:t>The Solution? </a:t>
            </a:r>
            <a:r>
              <a:rPr lang="en-US" sz="2800" dirty="0"/>
              <a:t>Amazon’s SCOT team </a:t>
            </a:r>
            <a:r>
              <a:rPr lang="en-US" sz="2800" noProof="0" dirty="0"/>
              <a:t>(Supply Chain Optimization Technologies)</a:t>
            </a:r>
          </a:p>
        </p:txBody>
      </p:sp>
      <p:sp>
        <p:nvSpPr>
          <p:cNvPr id="42" name="Slide Number Placeholder 41">
            <a:extLst>
              <a:ext uri="{FF2B5EF4-FFF2-40B4-BE49-F238E27FC236}">
                <a16:creationId xmlns:a16="http://schemas.microsoft.com/office/drawing/2014/main" id="{C244E62D-FB76-1D6F-DED1-6D41C3DA37E5}"/>
              </a:ext>
            </a:extLst>
          </p:cNvPr>
          <p:cNvSpPr>
            <a:spLocks noGrp="1"/>
          </p:cNvSpPr>
          <p:nvPr>
            <p:ph type="sldNum" sz="quarter" idx="12"/>
          </p:nvPr>
        </p:nvSpPr>
        <p:spPr/>
        <p:txBody>
          <a:bodyPr/>
          <a:lstStyle/>
          <a:p>
            <a:fld id="{49882A7A-00EB-4D45-AA64-F8A75FA21FCC}" type="slidenum">
              <a:rPr lang="en-US" noProof="0" smtClean="0"/>
              <a:pPr/>
              <a:t>3</a:t>
            </a:fld>
            <a:endParaRPr lang="en-US" noProof="0" dirty="0"/>
          </a:p>
        </p:txBody>
      </p:sp>
      <p:sp>
        <p:nvSpPr>
          <p:cNvPr id="53" name="Textplatzhalter 13">
            <a:extLst>
              <a:ext uri="{FF2B5EF4-FFF2-40B4-BE49-F238E27FC236}">
                <a16:creationId xmlns:a16="http://schemas.microsoft.com/office/drawing/2014/main" id="{695728FC-269D-E4CE-296A-65BFE8871F6B}"/>
              </a:ext>
            </a:extLst>
          </p:cNvPr>
          <p:cNvSpPr txBox="1">
            <a:spLocks/>
          </p:cNvSpPr>
          <p:nvPr/>
        </p:nvSpPr>
        <p:spPr bwMode="gray">
          <a:xfrm rot="18900000">
            <a:off x="4845537" y="2107963"/>
            <a:ext cx="2538727" cy="2541396"/>
          </a:xfrm>
          <a:prstGeom prst="rect">
            <a:avLst/>
          </a:prstGeom>
        </p:spPr>
        <p:txBody>
          <a:bodyPr vert="horz" wrap="square" lIns="0" tIns="0" rIns="0" bIns="0" rtlCol="0" anchor="b">
            <a:prstTxWarp prst="textArchUp">
              <a:avLst/>
            </a:prstTxWarp>
            <a:spAutoFit/>
          </a:bodyPr>
          <a:lstStyle>
            <a:lvl1pPr marL="0" indent="0" algn="l" rtl="0" fontAlgn="base">
              <a:lnSpc>
                <a:spcPct val="95000"/>
              </a:lnSpc>
              <a:spcBef>
                <a:spcPts val="400"/>
              </a:spcBef>
              <a:spcAft>
                <a:spcPct val="0"/>
              </a:spcAft>
              <a:buFont typeface="Arial" pitchFamily="34" charset="0"/>
              <a:buNone/>
              <a:defRPr lang="de-DE" sz="1300" kern="1200" dirty="0" smtClean="0">
                <a:solidFill>
                  <a:schemeClr val="tx1"/>
                </a:solidFill>
                <a:latin typeface="+mn-lt"/>
                <a:ea typeface="Verdana" pitchFamily="34" charset="0"/>
                <a:cs typeface="Verdana" pitchFamily="34" charset="0"/>
              </a:defRPr>
            </a:lvl1pPr>
            <a:lvl2pPr marL="180975" indent="-180975" algn="l" rtl="0" fontAlgn="base">
              <a:lnSpc>
                <a:spcPct val="95000"/>
              </a:lnSpc>
              <a:spcBef>
                <a:spcPts val="400"/>
              </a:spcBef>
              <a:spcAft>
                <a:spcPct val="0"/>
              </a:spcAft>
              <a:buFont typeface="Wingdings" pitchFamily="2" charset="2"/>
              <a:buChar char="§"/>
              <a:defRPr sz="1300" kern="1200">
                <a:solidFill>
                  <a:schemeClr val="tx1"/>
                </a:solidFill>
                <a:latin typeface="+mn-lt"/>
                <a:ea typeface="Verdana" pitchFamily="34" charset="0"/>
                <a:cs typeface="Verdana" pitchFamily="34" charset="0"/>
              </a:defRPr>
            </a:lvl2pPr>
            <a:lvl3pPr marL="361950" indent="-180975" algn="l" rtl="0" fontAlgn="base">
              <a:lnSpc>
                <a:spcPct val="95000"/>
              </a:lnSpc>
              <a:spcBef>
                <a:spcPts val="400"/>
              </a:spcBef>
              <a:spcAft>
                <a:spcPct val="0"/>
              </a:spcAft>
              <a:buFont typeface="Arial" pitchFamily="34" charset="0"/>
              <a:buChar char="̵"/>
              <a:defRPr sz="1300" kern="1200">
                <a:solidFill>
                  <a:schemeClr val="tx1"/>
                </a:solidFill>
                <a:latin typeface="+mn-lt"/>
                <a:ea typeface="Verdana" pitchFamily="34" charset="0"/>
                <a:cs typeface="Verdana" pitchFamily="34" charset="0"/>
              </a:defRPr>
            </a:lvl3pPr>
            <a:lvl4pPr marL="534988" indent="-173038" algn="l" rtl="0" fontAlgn="base">
              <a:lnSpc>
                <a:spcPct val="95000"/>
              </a:lnSpc>
              <a:spcBef>
                <a:spcPts val="400"/>
              </a:spcBef>
              <a:spcAft>
                <a:spcPct val="0"/>
              </a:spcAft>
              <a:buFont typeface="Arial" pitchFamily="34" charset="0"/>
              <a:buChar char="̵"/>
              <a:defRPr sz="1300" kern="1200">
                <a:solidFill>
                  <a:schemeClr val="tx1"/>
                </a:solidFill>
                <a:latin typeface="+mn-lt"/>
                <a:ea typeface="Verdana" pitchFamily="34" charset="0"/>
                <a:cs typeface="Verdana" pitchFamily="34" charset="0"/>
              </a:defRPr>
            </a:lvl4pPr>
            <a:lvl5pPr marL="715963" indent="-180975" algn="l" rtl="0" fontAlgn="base">
              <a:lnSpc>
                <a:spcPct val="95000"/>
              </a:lnSpc>
              <a:spcBef>
                <a:spcPts val="400"/>
              </a:spcBef>
              <a:spcAft>
                <a:spcPct val="0"/>
              </a:spcAft>
              <a:buFont typeface="Arial" pitchFamily="34" charset="0"/>
              <a:buChar char="̵"/>
              <a:defRPr sz="1300" kern="1200">
                <a:solidFill>
                  <a:schemeClr val="tx1"/>
                </a:solidFill>
                <a:latin typeface="+mn-lt"/>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100000"/>
              </a:lnSpc>
            </a:pPr>
            <a:endParaRPr lang="en-US" sz="1800" noProof="0" dirty="0"/>
          </a:p>
        </p:txBody>
      </p:sp>
      <p:sp>
        <p:nvSpPr>
          <p:cNvPr id="47" name="Freeform 11">
            <a:extLst>
              <a:ext uri="{FF2B5EF4-FFF2-40B4-BE49-F238E27FC236}">
                <a16:creationId xmlns:a16="http://schemas.microsoft.com/office/drawing/2014/main" id="{1294B859-6110-2239-3D53-0775288EAF12}"/>
              </a:ext>
            </a:extLst>
          </p:cNvPr>
          <p:cNvSpPr>
            <a:spLocks/>
          </p:cNvSpPr>
          <p:nvPr/>
        </p:nvSpPr>
        <p:spPr bwMode="gray">
          <a:xfrm>
            <a:off x="4592435" y="4037713"/>
            <a:ext cx="1483858" cy="1490573"/>
          </a:xfrm>
          <a:custGeom>
            <a:avLst/>
            <a:gdLst>
              <a:gd name="T0" fmla="*/ 464 w 285"/>
              <a:gd name="T1" fmla="*/ 397 h 286"/>
              <a:gd name="T2" fmla="*/ 226 w 285"/>
              <a:gd name="T3" fmla="*/ 0 h 286"/>
              <a:gd name="T4" fmla="*/ 0 w 285"/>
              <a:gd name="T5" fmla="*/ 0 h 286"/>
              <a:gd name="T6" fmla="*/ 685 w 285"/>
              <a:gd name="T7" fmla="*/ 689 h 286"/>
              <a:gd name="T8" fmla="*/ 685 w 285"/>
              <a:gd name="T9" fmla="*/ 463 h 286"/>
              <a:gd name="T10" fmla="*/ 464 w 285"/>
              <a:gd name="T11" fmla="*/ 397 h 2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6">
                <a:moveTo>
                  <a:pt x="193" y="165"/>
                </a:moveTo>
                <a:cubicBezTo>
                  <a:pt x="132" y="130"/>
                  <a:pt x="97" y="66"/>
                  <a:pt x="94" y="0"/>
                </a:cubicBezTo>
                <a:cubicBezTo>
                  <a:pt x="0" y="0"/>
                  <a:pt x="0" y="0"/>
                  <a:pt x="0" y="0"/>
                </a:cubicBezTo>
                <a:cubicBezTo>
                  <a:pt x="3" y="156"/>
                  <a:pt x="129" y="282"/>
                  <a:pt x="285" y="286"/>
                </a:cubicBezTo>
                <a:cubicBezTo>
                  <a:pt x="285" y="192"/>
                  <a:pt x="285" y="192"/>
                  <a:pt x="285" y="192"/>
                </a:cubicBezTo>
                <a:cubicBezTo>
                  <a:pt x="254" y="190"/>
                  <a:pt x="222" y="182"/>
                  <a:pt x="193" y="165"/>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49" name="Freeform 12">
            <a:extLst>
              <a:ext uri="{FF2B5EF4-FFF2-40B4-BE49-F238E27FC236}">
                <a16:creationId xmlns:a16="http://schemas.microsoft.com/office/drawing/2014/main" id="{34520A4D-D729-0635-A294-FE678F9C843D}"/>
              </a:ext>
            </a:extLst>
          </p:cNvPr>
          <p:cNvSpPr>
            <a:spLocks/>
          </p:cNvSpPr>
          <p:nvPr/>
        </p:nvSpPr>
        <p:spPr bwMode="gray">
          <a:xfrm>
            <a:off x="4592435" y="2483354"/>
            <a:ext cx="1483858" cy="1483859"/>
          </a:xfrm>
          <a:custGeom>
            <a:avLst/>
            <a:gdLst>
              <a:gd name="T0" fmla="*/ 292 w 285"/>
              <a:gd name="T1" fmla="*/ 464 h 285"/>
              <a:gd name="T2" fmla="*/ 685 w 285"/>
              <a:gd name="T3" fmla="*/ 226 h 285"/>
              <a:gd name="T4" fmla="*/ 685 w 285"/>
              <a:gd name="T5" fmla="*/ 0 h 285"/>
              <a:gd name="T6" fmla="*/ 0 w 285"/>
              <a:gd name="T7" fmla="*/ 685 h 285"/>
              <a:gd name="T8" fmla="*/ 226 w 285"/>
              <a:gd name="T9" fmla="*/ 685 h 285"/>
              <a:gd name="T10" fmla="*/ 292 w 285"/>
              <a:gd name="T11" fmla="*/ 464 h 2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5">
                <a:moveTo>
                  <a:pt x="121" y="193"/>
                </a:moveTo>
                <a:cubicBezTo>
                  <a:pt x="156" y="132"/>
                  <a:pt x="219" y="96"/>
                  <a:pt x="285" y="94"/>
                </a:cubicBezTo>
                <a:cubicBezTo>
                  <a:pt x="285" y="0"/>
                  <a:pt x="285" y="0"/>
                  <a:pt x="285" y="0"/>
                </a:cubicBezTo>
                <a:cubicBezTo>
                  <a:pt x="129" y="3"/>
                  <a:pt x="4" y="129"/>
                  <a:pt x="0" y="285"/>
                </a:cubicBezTo>
                <a:cubicBezTo>
                  <a:pt x="94" y="285"/>
                  <a:pt x="94" y="285"/>
                  <a:pt x="94" y="285"/>
                </a:cubicBezTo>
                <a:cubicBezTo>
                  <a:pt x="95" y="253"/>
                  <a:pt x="104" y="222"/>
                  <a:pt x="121" y="193"/>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50" name="Freeform 13">
            <a:extLst>
              <a:ext uri="{FF2B5EF4-FFF2-40B4-BE49-F238E27FC236}">
                <a16:creationId xmlns:a16="http://schemas.microsoft.com/office/drawing/2014/main" id="{4E81C5CD-8589-7301-743A-D779AA1F50EF}"/>
              </a:ext>
            </a:extLst>
          </p:cNvPr>
          <p:cNvSpPr>
            <a:spLocks/>
          </p:cNvSpPr>
          <p:nvPr/>
        </p:nvSpPr>
        <p:spPr bwMode="gray">
          <a:xfrm>
            <a:off x="6153507" y="2483354"/>
            <a:ext cx="1483858" cy="1483859"/>
          </a:xfrm>
          <a:custGeom>
            <a:avLst/>
            <a:gdLst>
              <a:gd name="T0" fmla="*/ 222 w 285"/>
              <a:gd name="T1" fmla="*/ 288 h 285"/>
              <a:gd name="T2" fmla="*/ 459 w 285"/>
              <a:gd name="T3" fmla="*/ 685 h 285"/>
              <a:gd name="T4" fmla="*/ 685 w 285"/>
              <a:gd name="T5" fmla="*/ 685 h 285"/>
              <a:gd name="T6" fmla="*/ 0 w 285"/>
              <a:gd name="T7" fmla="*/ 0 h 285"/>
              <a:gd name="T8" fmla="*/ 0 w 285"/>
              <a:gd name="T9" fmla="*/ 226 h 285"/>
              <a:gd name="T10" fmla="*/ 222 w 285"/>
              <a:gd name="T11" fmla="*/ 288 h 2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5">
                <a:moveTo>
                  <a:pt x="92" y="120"/>
                </a:moveTo>
                <a:cubicBezTo>
                  <a:pt x="153" y="156"/>
                  <a:pt x="188" y="219"/>
                  <a:pt x="191" y="285"/>
                </a:cubicBezTo>
                <a:cubicBezTo>
                  <a:pt x="285" y="285"/>
                  <a:pt x="285" y="285"/>
                  <a:pt x="285" y="285"/>
                </a:cubicBezTo>
                <a:cubicBezTo>
                  <a:pt x="281" y="129"/>
                  <a:pt x="156" y="3"/>
                  <a:pt x="0" y="0"/>
                </a:cubicBezTo>
                <a:cubicBezTo>
                  <a:pt x="0" y="94"/>
                  <a:pt x="0" y="94"/>
                  <a:pt x="0" y="94"/>
                </a:cubicBezTo>
                <a:cubicBezTo>
                  <a:pt x="31" y="95"/>
                  <a:pt x="63" y="104"/>
                  <a:pt x="92" y="120"/>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52" name="Freeform 14">
            <a:extLst>
              <a:ext uri="{FF2B5EF4-FFF2-40B4-BE49-F238E27FC236}">
                <a16:creationId xmlns:a16="http://schemas.microsoft.com/office/drawing/2014/main" id="{2DBDE1B4-79AD-7B30-9C6F-8ACAEC631D7E}"/>
              </a:ext>
            </a:extLst>
          </p:cNvPr>
          <p:cNvSpPr>
            <a:spLocks/>
          </p:cNvSpPr>
          <p:nvPr/>
        </p:nvSpPr>
        <p:spPr bwMode="gray">
          <a:xfrm>
            <a:off x="6153507" y="4037713"/>
            <a:ext cx="1483858" cy="1490573"/>
          </a:xfrm>
          <a:custGeom>
            <a:avLst/>
            <a:gdLst>
              <a:gd name="T0" fmla="*/ 394 w 285"/>
              <a:gd name="T1" fmla="*/ 222 h 286"/>
              <a:gd name="T2" fmla="*/ 0 w 285"/>
              <a:gd name="T3" fmla="*/ 461 h 286"/>
              <a:gd name="T4" fmla="*/ 0 w 285"/>
              <a:gd name="T5" fmla="*/ 689 h 286"/>
              <a:gd name="T6" fmla="*/ 685 w 285"/>
              <a:gd name="T7" fmla="*/ 0 h 286"/>
              <a:gd name="T8" fmla="*/ 459 w 285"/>
              <a:gd name="T9" fmla="*/ 0 h 286"/>
              <a:gd name="T10" fmla="*/ 394 w 285"/>
              <a:gd name="T11" fmla="*/ 222 h 2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5" h="286">
                <a:moveTo>
                  <a:pt x="164" y="92"/>
                </a:moveTo>
                <a:cubicBezTo>
                  <a:pt x="129" y="154"/>
                  <a:pt x="66" y="189"/>
                  <a:pt x="0" y="191"/>
                </a:cubicBezTo>
                <a:cubicBezTo>
                  <a:pt x="0" y="286"/>
                  <a:pt x="0" y="286"/>
                  <a:pt x="0" y="286"/>
                </a:cubicBezTo>
                <a:cubicBezTo>
                  <a:pt x="156" y="282"/>
                  <a:pt x="282" y="156"/>
                  <a:pt x="285" y="0"/>
                </a:cubicBezTo>
                <a:cubicBezTo>
                  <a:pt x="191" y="0"/>
                  <a:pt x="191" y="0"/>
                  <a:pt x="191" y="0"/>
                </a:cubicBezTo>
                <a:cubicBezTo>
                  <a:pt x="190" y="32"/>
                  <a:pt x="181" y="63"/>
                  <a:pt x="164" y="92"/>
                </a:cubicBezTo>
                <a:close/>
              </a:path>
            </a:pathLst>
          </a:custGeom>
          <a:solidFill>
            <a:schemeClr val="bg1">
              <a:lumMod val="95000"/>
              <a:alpha val="2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lt1"/>
              </a:solidFill>
            </a:endParaRPr>
          </a:p>
        </p:txBody>
      </p:sp>
      <p:sp>
        <p:nvSpPr>
          <p:cNvPr id="30" name="Oval 52">
            <a:extLst>
              <a:ext uri="{FF2B5EF4-FFF2-40B4-BE49-F238E27FC236}">
                <a16:creationId xmlns:a16="http://schemas.microsoft.com/office/drawing/2014/main" id="{670A8A0B-AE8F-F79B-4224-81611C2F1D3A}"/>
              </a:ext>
            </a:extLst>
          </p:cNvPr>
          <p:cNvSpPr>
            <a:spLocks/>
          </p:cNvSpPr>
          <p:nvPr>
            <p:custDataLst>
              <p:tags r:id="rId2"/>
            </p:custDataLst>
          </p:nvPr>
        </p:nvSpPr>
        <p:spPr bwMode="gray">
          <a:xfrm>
            <a:off x="5142185" y="3027136"/>
            <a:ext cx="1945431" cy="1944619"/>
          </a:xfrm>
          <a:prstGeom prst="ellipse">
            <a:avLst/>
          </a:prstGeom>
          <a:noFill/>
          <a:ln w="38100">
            <a:noFill/>
            <a:prstDash val="solid"/>
          </a:ln>
        </p:spPr>
        <p:txBody>
          <a:bodyPr wrap="none" anchor="ctr"/>
          <a:lstStyle>
            <a:lvl1pPr marL="177800" indent="-177800" defTabSz="801688" eaLnBrk="0" hangingPunct="0">
              <a:defRPr sz="1200">
                <a:solidFill>
                  <a:schemeClr val="bg1"/>
                </a:solidFill>
                <a:latin typeface="Arial" charset="0"/>
                <a:cs typeface="Arial" charset="0"/>
              </a:defRPr>
            </a:lvl1pPr>
            <a:lvl2pPr marL="742950" indent="-285750" defTabSz="801688" eaLnBrk="0" hangingPunct="0">
              <a:defRPr sz="1200">
                <a:solidFill>
                  <a:schemeClr val="bg1"/>
                </a:solidFill>
                <a:latin typeface="Arial" charset="0"/>
                <a:cs typeface="Arial" charset="0"/>
              </a:defRPr>
            </a:lvl2pPr>
            <a:lvl3pPr marL="1143000" indent="-228600" defTabSz="801688" eaLnBrk="0" hangingPunct="0">
              <a:defRPr sz="1200">
                <a:solidFill>
                  <a:schemeClr val="bg1"/>
                </a:solidFill>
                <a:latin typeface="Arial" charset="0"/>
                <a:cs typeface="Arial" charset="0"/>
              </a:defRPr>
            </a:lvl3pPr>
            <a:lvl4pPr marL="1600200" indent="-228600" defTabSz="801688" eaLnBrk="0" hangingPunct="0">
              <a:defRPr sz="1200">
                <a:solidFill>
                  <a:schemeClr val="bg1"/>
                </a:solidFill>
                <a:latin typeface="Arial" charset="0"/>
                <a:cs typeface="Arial" charset="0"/>
              </a:defRPr>
            </a:lvl4pPr>
            <a:lvl5pPr marL="2057400" indent="-228600" defTabSz="801688" eaLnBrk="0" hangingPunct="0">
              <a:defRPr sz="1200">
                <a:solidFill>
                  <a:schemeClr val="bg1"/>
                </a:solidFill>
                <a:latin typeface="Arial" charset="0"/>
                <a:cs typeface="Arial" charset="0"/>
              </a:defRPr>
            </a:lvl5pPr>
            <a:lvl6pPr marL="2514600" indent="-228600" defTabSz="801688" eaLnBrk="0" fontAlgn="base" hangingPunct="0">
              <a:spcBef>
                <a:spcPct val="0"/>
              </a:spcBef>
              <a:spcAft>
                <a:spcPct val="0"/>
              </a:spcAft>
              <a:defRPr sz="1200">
                <a:solidFill>
                  <a:schemeClr val="bg1"/>
                </a:solidFill>
                <a:latin typeface="Arial" charset="0"/>
                <a:cs typeface="Arial" charset="0"/>
              </a:defRPr>
            </a:lvl6pPr>
            <a:lvl7pPr marL="2971800" indent="-228600" defTabSz="801688" eaLnBrk="0" fontAlgn="base" hangingPunct="0">
              <a:spcBef>
                <a:spcPct val="0"/>
              </a:spcBef>
              <a:spcAft>
                <a:spcPct val="0"/>
              </a:spcAft>
              <a:defRPr sz="1200">
                <a:solidFill>
                  <a:schemeClr val="bg1"/>
                </a:solidFill>
                <a:latin typeface="Arial" charset="0"/>
                <a:cs typeface="Arial" charset="0"/>
              </a:defRPr>
            </a:lvl7pPr>
            <a:lvl8pPr marL="3429000" indent="-228600" defTabSz="801688" eaLnBrk="0" fontAlgn="base" hangingPunct="0">
              <a:spcBef>
                <a:spcPct val="0"/>
              </a:spcBef>
              <a:spcAft>
                <a:spcPct val="0"/>
              </a:spcAft>
              <a:defRPr sz="1200">
                <a:solidFill>
                  <a:schemeClr val="bg1"/>
                </a:solidFill>
                <a:latin typeface="Arial" charset="0"/>
                <a:cs typeface="Arial" charset="0"/>
              </a:defRPr>
            </a:lvl8pPr>
            <a:lvl9pPr marL="3886200" indent="-228600" defTabSz="801688" eaLnBrk="0" fontAlgn="base" hangingPunct="0">
              <a:spcBef>
                <a:spcPct val="0"/>
              </a:spcBef>
              <a:spcAft>
                <a:spcPct val="0"/>
              </a:spcAft>
              <a:defRPr sz="1200">
                <a:solidFill>
                  <a:schemeClr val="bg1"/>
                </a:solidFill>
                <a:latin typeface="Arial" charset="0"/>
                <a:cs typeface="Arial" charset="0"/>
              </a:defRPr>
            </a:lvl9pPr>
          </a:lstStyle>
          <a:p>
            <a:pPr marL="0" marR="0" lvl="0" indent="0" algn="ctr" defTabSz="914400" eaLnBrk="1" fontAlgn="auto" latinLnBrk="0" hangingPunct="1">
              <a:lnSpc>
                <a:spcPct val="100000"/>
              </a:lnSpc>
              <a:spcBef>
                <a:spcPts val="0"/>
              </a:spcBef>
              <a:spcAft>
                <a:spcPts val="0"/>
              </a:spcAft>
              <a:buClr>
                <a:srgbClr val="000000"/>
              </a:buClr>
              <a:buSzTx/>
              <a:buFontTx/>
              <a:buNone/>
              <a:tabLst/>
              <a:defRPr/>
            </a:pPr>
            <a:endParaRPr kumimoji="0" lang="en-US" sz="1400" b="1" i="0" u="none" strike="noStrike" kern="1200" cap="none" spc="0" normalizeH="0" baseline="0" noProof="0" dirty="0">
              <a:ln>
                <a:noFill/>
              </a:ln>
              <a:solidFill>
                <a:schemeClr val="accent1"/>
              </a:solidFill>
              <a:effectLst/>
              <a:uLnTx/>
              <a:uFillTx/>
              <a:latin typeface="+mn-lt"/>
              <a:ea typeface="+mn-ea"/>
              <a:cs typeface="+mn-cs"/>
              <a:sym typeface="Futura"/>
            </a:endParaRPr>
          </a:p>
        </p:txBody>
      </p:sp>
      <p:grpSp>
        <p:nvGrpSpPr>
          <p:cNvPr id="3" name="Group 2">
            <a:extLst>
              <a:ext uri="{FF2B5EF4-FFF2-40B4-BE49-F238E27FC236}">
                <a16:creationId xmlns:a16="http://schemas.microsoft.com/office/drawing/2014/main" id="{55EAB6E0-4980-7CF3-B5E6-0258272945CE}"/>
              </a:ext>
            </a:extLst>
          </p:cNvPr>
          <p:cNvGrpSpPr/>
          <p:nvPr/>
        </p:nvGrpSpPr>
        <p:grpSpPr>
          <a:xfrm>
            <a:off x="419101" y="4321334"/>
            <a:ext cx="3809999" cy="923331"/>
            <a:chOff x="419101" y="4321334"/>
            <a:chExt cx="3809999" cy="923331"/>
          </a:xfrm>
        </p:grpSpPr>
        <p:sp>
          <p:nvSpPr>
            <p:cNvPr id="67" name="Inhaltsplatzhalter 2">
              <a:extLst>
                <a:ext uri="{FF2B5EF4-FFF2-40B4-BE49-F238E27FC236}">
                  <a16:creationId xmlns:a16="http://schemas.microsoft.com/office/drawing/2014/main" id="{FE92E5FE-2C2F-91D6-CCC7-8BA5EC532C43}"/>
                </a:ext>
              </a:extLst>
            </p:cNvPr>
            <p:cNvSpPr txBox="1">
              <a:spLocks/>
            </p:cNvSpPr>
            <p:nvPr/>
          </p:nvSpPr>
          <p:spPr>
            <a:xfrm>
              <a:off x="419101" y="4321334"/>
              <a:ext cx="2476499" cy="923330"/>
            </a:xfrm>
            <a:prstGeom prst="rect">
              <a:avLst/>
            </a:prstGeom>
          </p:spPr>
          <p:txBody>
            <a:bodyPr wrap="square" lIns="0" tIns="0" rIns="0" bIns="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000" b="1" noProof="0" dirty="0">
                  <a:solidFill>
                    <a:schemeClr val="tx2"/>
                  </a:solidFill>
                </a:rPr>
                <a:t>Automated Inventory Management</a:t>
              </a:r>
            </a:p>
          </p:txBody>
        </p:sp>
        <p:cxnSp>
          <p:nvCxnSpPr>
            <p:cNvPr id="51" name="Straight Connector 50">
              <a:extLst>
                <a:ext uri="{FF2B5EF4-FFF2-40B4-BE49-F238E27FC236}">
                  <a16:creationId xmlns:a16="http://schemas.microsoft.com/office/drawing/2014/main" id="{1341DB94-4E0D-0CA0-8BF5-434E8C648CC4}"/>
                </a:ext>
              </a:extLst>
            </p:cNvPr>
            <p:cNvCxnSpPr/>
            <p:nvPr/>
          </p:nvCxnSpPr>
          <p:spPr>
            <a:xfrm flipV="1">
              <a:off x="3076573" y="4321335"/>
              <a:ext cx="0" cy="923330"/>
            </a:xfrm>
            <a:prstGeom prst="line">
              <a:avLst/>
            </a:prstGeom>
            <a:ln w="952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034E9BE7-31A8-1A78-8303-96D72FFC6B6C}"/>
                </a:ext>
              </a:extLst>
            </p:cNvPr>
            <p:cNvCxnSpPr/>
            <p:nvPr/>
          </p:nvCxnSpPr>
          <p:spPr>
            <a:xfrm>
              <a:off x="3076573" y="4782999"/>
              <a:ext cx="1152527" cy="0"/>
            </a:xfrm>
            <a:prstGeom prst="straightConnector1">
              <a:avLst/>
            </a:prstGeom>
            <a:ln w="9525">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grpSp>
        <p:nvGrpSpPr>
          <p:cNvPr id="2" name="Group 1">
            <a:extLst>
              <a:ext uri="{FF2B5EF4-FFF2-40B4-BE49-F238E27FC236}">
                <a16:creationId xmlns:a16="http://schemas.microsoft.com/office/drawing/2014/main" id="{21DB862B-1878-B77D-6B01-18E328806CD5}"/>
              </a:ext>
            </a:extLst>
          </p:cNvPr>
          <p:cNvGrpSpPr/>
          <p:nvPr/>
        </p:nvGrpSpPr>
        <p:grpSpPr>
          <a:xfrm>
            <a:off x="419101" y="2763618"/>
            <a:ext cx="3809999" cy="923331"/>
            <a:chOff x="419101" y="2763618"/>
            <a:chExt cx="3809999" cy="923331"/>
          </a:xfrm>
        </p:grpSpPr>
        <p:sp>
          <p:nvSpPr>
            <p:cNvPr id="66" name="Inhaltsplatzhalter 2">
              <a:extLst>
                <a:ext uri="{FF2B5EF4-FFF2-40B4-BE49-F238E27FC236}">
                  <a16:creationId xmlns:a16="http://schemas.microsoft.com/office/drawing/2014/main" id="{B54F668D-633D-1AA5-3731-B5E60B269BB7}"/>
                </a:ext>
              </a:extLst>
            </p:cNvPr>
            <p:cNvSpPr txBox="1">
              <a:spLocks/>
            </p:cNvSpPr>
            <p:nvPr/>
          </p:nvSpPr>
          <p:spPr>
            <a:xfrm>
              <a:off x="419101" y="2763618"/>
              <a:ext cx="2476499" cy="923330"/>
            </a:xfrm>
            <a:prstGeom prst="rect">
              <a:avLst/>
            </a:prstGeom>
          </p:spPr>
          <p:txBody>
            <a:bodyPr wrap="square" lIns="0" tIns="0" rIns="0" bIns="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2000" b="1" noProof="0" dirty="0">
                  <a:solidFill>
                    <a:schemeClr val="tx2"/>
                  </a:solidFill>
                </a:rPr>
                <a:t>AI-Powered Demand Forecasting</a:t>
              </a:r>
            </a:p>
          </p:txBody>
        </p:sp>
        <p:cxnSp>
          <p:nvCxnSpPr>
            <p:cNvPr id="56" name="Straight Connector 55">
              <a:extLst>
                <a:ext uri="{FF2B5EF4-FFF2-40B4-BE49-F238E27FC236}">
                  <a16:creationId xmlns:a16="http://schemas.microsoft.com/office/drawing/2014/main" id="{326783CC-6245-03EF-AAB6-4AD4F798A218}"/>
                </a:ext>
              </a:extLst>
            </p:cNvPr>
            <p:cNvCxnSpPr/>
            <p:nvPr/>
          </p:nvCxnSpPr>
          <p:spPr>
            <a:xfrm flipV="1">
              <a:off x="3076573" y="2763619"/>
              <a:ext cx="0" cy="923330"/>
            </a:xfrm>
            <a:prstGeom prst="line">
              <a:avLst/>
            </a:prstGeom>
            <a:ln w="952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576BC657-04FD-CD77-A900-CD11E5E0E5C2}"/>
                </a:ext>
              </a:extLst>
            </p:cNvPr>
            <p:cNvCxnSpPr>
              <a:cxnSpLocks/>
            </p:cNvCxnSpPr>
            <p:nvPr/>
          </p:nvCxnSpPr>
          <p:spPr>
            <a:xfrm>
              <a:off x="3076573" y="3225284"/>
              <a:ext cx="1152527" cy="0"/>
            </a:xfrm>
            <a:prstGeom prst="straightConnector1">
              <a:avLst/>
            </a:prstGeom>
            <a:ln w="9525">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grpSp>
        <p:nvGrpSpPr>
          <p:cNvPr id="4" name="Group 3">
            <a:extLst>
              <a:ext uri="{FF2B5EF4-FFF2-40B4-BE49-F238E27FC236}">
                <a16:creationId xmlns:a16="http://schemas.microsoft.com/office/drawing/2014/main" id="{24962BDD-3EE1-280E-0C4A-630566557025}"/>
              </a:ext>
            </a:extLst>
          </p:cNvPr>
          <p:cNvGrpSpPr/>
          <p:nvPr/>
        </p:nvGrpSpPr>
        <p:grpSpPr>
          <a:xfrm>
            <a:off x="7962899" y="2763619"/>
            <a:ext cx="3848102" cy="923330"/>
            <a:chOff x="7962899" y="2763619"/>
            <a:chExt cx="3848102" cy="923330"/>
          </a:xfrm>
        </p:grpSpPr>
        <p:sp>
          <p:nvSpPr>
            <p:cNvPr id="68" name="Inhaltsplatzhalter 2">
              <a:extLst>
                <a:ext uri="{FF2B5EF4-FFF2-40B4-BE49-F238E27FC236}">
                  <a16:creationId xmlns:a16="http://schemas.microsoft.com/office/drawing/2014/main" id="{8793E852-84E4-B956-E821-BE6595B5F93B}"/>
                </a:ext>
              </a:extLst>
            </p:cNvPr>
            <p:cNvSpPr txBox="1">
              <a:spLocks/>
            </p:cNvSpPr>
            <p:nvPr/>
          </p:nvSpPr>
          <p:spPr>
            <a:xfrm>
              <a:off x="9334503" y="2763619"/>
              <a:ext cx="2476498" cy="923330"/>
            </a:xfrm>
            <a:prstGeom prst="rect">
              <a:avLst/>
            </a:prstGeom>
          </p:spPr>
          <p:txBody>
            <a:bodyPr lIns="0" tIns="0" rIns="0" bIns="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noProof="0" dirty="0">
                  <a:solidFill>
                    <a:schemeClr val="tx2"/>
                  </a:solidFill>
                </a:rPr>
                <a:t>Anticipatory Shipping</a:t>
              </a:r>
            </a:p>
          </p:txBody>
        </p:sp>
        <p:cxnSp>
          <p:nvCxnSpPr>
            <p:cNvPr id="45" name="Straight Connector 44">
              <a:extLst>
                <a:ext uri="{FF2B5EF4-FFF2-40B4-BE49-F238E27FC236}">
                  <a16:creationId xmlns:a16="http://schemas.microsoft.com/office/drawing/2014/main" id="{9607484D-B4E7-5551-F93A-0972A3097E14}"/>
                </a:ext>
              </a:extLst>
            </p:cNvPr>
            <p:cNvCxnSpPr/>
            <p:nvPr/>
          </p:nvCxnSpPr>
          <p:spPr>
            <a:xfrm flipV="1">
              <a:off x="9115426" y="2763619"/>
              <a:ext cx="0" cy="923330"/>
            </a:xfrm>
            <a:prstGeom prst="line">
              <a:avLst/>
            </a:prstGeom>
            <a:ln w="952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BA00F5E0-C310-1AF1-C4DA-CE4C915ECE7D}"/>
                </a:ext>
              </a:extLst>
            </p:cNvPr>
            <p:cNvCxnSpPr>
              <a:cxnSpLocks/>
            </p:cNvCxnSpPr>
            <p:nvPr/>
          </p:nvCxnSpPr>
          <p:spPr>
            <a:xfrm rot="10800000">
              <a:off x="7962899" y="3225284"/>
              <a:ext cx="1152527" cy="0"/>
            </a:xfrm>
            <a:prstGeom prst="straightConnector1">
              <a:avLst/>
            </a:prstGeom>
            <a:ln w="9525">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32F5149E-FFDB-0406-B8FD-AF78ECDC4E42}"/>
              </a:ext>
            </a:extLst>
          </p:cNvPr>
          <p:cNvGrpSpPr/>
          <p:nvPr/>
        </p:nvGrpSpPr>
        <p:grpSpPr>
          <a:xfrm>
            <a:off x="7962899" y="4321334"/>
            <a:ext cx="3848102" cy="923330"/>
            <a:chOff x="7962899" y="4321334"/>
            <a:chExt cx="3848102" cy="923330"/>
          </a:xfrm>
        </p:grpSpPr>
        <p:sp>
          <p:nvSpPr>
            <p:cNvPr id="69" name="Inhaltsplatzhalter 2">
              <a:extLst>
                <a:ext uri="{FF2B5EF4-FFF2-40B4-BE49-F238E27FC236}">
                  <a16:creationId xmlns:a16="http://schemas.microsoft.com/office/drawing/2014/main" id="{60860D5A-A3E9-74C5-AF5B-345A6432FE0A}"/>
                </a:ext>
              </a:extLst>
            </p:cNvPr>
            <p:cNvSpPr txBox="1">
              <a:spLocks/>
            </p:cNvSpPr>
            <p:nvPr/>
          </p:nvSpPr>
          <p:spPr>
            <a:xfrm>
              <a:off x="9334503" y="4321334"/>
              <a:ext cx="2476498" cy="923330"/>
            </a:xfrm>
            <a:prstGeom prst="rect">
              <a:avLst/>
            </a:prstGeom>
          </p:spPr>
          <p:txBody>
            <a:bodyPr lIns="0" tIns="0" rIns="0" bIns="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noProof="0" dirty="0">
                  <a:solidFill>
                    <a:schemeClr val="tx2"/>
                  </a:solidFill>
                </a:rPr>
                <a:t>Logistics Optimization and Route Planning</a:t>
              </a:r>
            </a:p>
          </p:txBody>
        </p:sp>
        <p:cxnSp>
          <p:nvCxnSpPr>
            <p:cNvPr id="44" name="Straight Connector 43">
              <a:extLst>
                <a:ext uri="{FF2B5EF4-FFF2-40B4-BE49-F238E27FC236}">
                  <a16:creationId xmlns:a16="http://schemas.microsoft.com/office/drawing/2014/main" id="{962AE359-21E2-6628-15E2-586132FC27BE}"/>
                </a:ext>
              </a:extLst>
            </p:cNvPr>
            <p:cNvCxnSpPr/>
            <p:nvPr/>
          </p:nvCxnSpPr>
          <p:spPr>
            <a:xfrm flipV="1">
              <a:off x="9115426" y="4321334"/>
              <a:ext cx="0" cy="923330"/>
            </a:xfrm>
            <a:prstGeom prst="line">
              <a:avLst/>
            </a:prstGeom>
            <a:ln w="952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2DAF8850-B43F-D680-8A7F-E05CA1B0AC37}"/>
                </a:ext>
              </a:extLst>
            </p:cNvPr>
            <p:cNvCxnSpPr>
              <a:cxnSpLocks/>
            </p:cNvCxnSpPr>
            <p:nvPr/>
          </p:nvCxnSpPr>
          <p:spPr>
            <a:xfrm rot="10800000">
              <a:off x="7962899" y="4783001"/>
              <a:ext cx="1152527" cy="0"/>
            </a:xfrm>
            <a:prstGeom prst="straightConnector1">
              <a:avLst/>
            </a:prstGeom>
            <a:ln w="9525">
              <a:solidFill>
                <a:schemeClr val="accent3"/>
              </a:solidFill>
              <a:tailEnd type="oval"/>
            </a:ln>
          </p:spPr>
          <p:style>
            <a:lnRef idx="2">
              <a:schemeClr val="accent1"/>
            </a:lnRef>
            <a:fillRef idx="0">
              <a:schemeClr val="accent1"/>
            </a:fillRef>
            <a:effectRef idx="1">
              <a:schemeClr val="accent1"/>
            </a:effectRef>
            <a:fontRef idx="minor">
              <a:schemeClr val="tx1"/>
            </a:fontRef>
          </p:style>
        </p:cxnSp>
      </p:grpSp>
      <p:sp>
        <p:nvSpPr>
          <p:cNvPr id="84" name="Freeform: Shape 83">
            <a:extLst>
              <a:ext uri="{FF2B5EF4-FFF2-40B4-BE49-F238E27FC236}">
                <a16:creationId xmlns:a16="http://schemas.microsoft.com/office/drawing/2014/main" id="{5AD29316-57B9-EAB4-E1C2-BD6A8D616A33}"/>
              </a:ext>
            </a:extLst>
          </p:cNvPr>
          <p:cNvSpPr/>
          <p:nvPr/>
        </p:nvSpPr>
        <p:spPr>
          <a:xfrm>
            <a:off x="5975994" y="3450766"/>
            <a:ext cx="591740" cy="590351"/>
          </a:xfrm>
          <a:custGeom>
            <a:avLst/>
            <a:gdLst>
              <a:gd name="csX0" fmla="*/ 295870 w 591740"/>
              <a:gd name="csY0" fmla="*/ 400050 h 590351"/>
              <a:gd name="csX1" fmla="*/ 191691 w 591740"/>
              <a:gd name="csY1" fmla="*/ 295870 h 590351"/>
              <a:gd name="csX2" fmla="*/ 295870 w 591740"/>
              <a:gd name="csY2" fmla="*/ 191691 h 590351"/>
              <a:gd name="csX3" fmla="*/ 400050 w 591740"/>
              <a:gd name="csY3" fmla="*/ 295870 h 590351"/>
              <a:gd name="csX4" fmla="*/ 295870 w 591740"/>
              <a:gd name="csY4" fmla="*/ 400050 h 590351"/>
              <a:gd name="csX5" fmla="*/ 530622 w 591740"/>
              <a:gd name="csY5" fmla="*/ 230584 h 590351"/>
              <a:gd name="csX6" fmla="*/ 508397 w 591740"/>
              <a:gd name="csY6" fmla="*/ 176411 h 590351"/>
              <a:gd name="csX7" fmla="*/ 530622 w 591740"/>
              <a:gd name="csY7" fmla="*/ 111125 h 590351"/>
              <a:gd name="csX8" fmla="*/ 480616 w 591740"/>
              <a:gd name="csY8" fmla="*/ 61119 h 590351"/>
              <a:gd name="csX9" fmla="*/ 415330 w 591740"/>
              <a:gd name="csY9" fmla="*/ 83344 h 590351"/>
              <a:gd name="csX10" fmla="*/ 361156 w 591740"/>
              <a:gd name="csY10" fmla="*/ 61119 h 590351"/>
              <a:gd name="csX11" fmla="*/ 330597 w 591740"/>
              <a:gd name="csY11" fmla="*/ 0 h 590351"/>
              <a:gd name="csX12" fmla="*/ 261144 w 591740"/>
              <a:gd name="csY12" fmla="*/ 0 h 590351"/>
              <a:gd name="csX13" fmla="*/ 230584 w 591740"/>
              <a:gd name="csY13" fmla="*/ 61119 h 590351"/>
              <a:gd name="csX14" fmla="*/ 176411 w 591740"/>
              <a:gd name="csY14" fmla="*/ 83344 h 590351"/>
              <a:gd name="csX15" fmla="*/ 111125 w 591740"/>
              <a:gd name="csY15" fmla="*/ 61119 h 590351"/>
              <a:gd name="csX16" fmla="*/ 61119 w 591740"/>
              <a:gd name="csY16" fmla="*/ 111125 h 590351"/>
              <a:gd name="csX17" fmla="*/ 83344 w 591740"/>
              <a:gd name="csY17" fmla="*/ 176411 h 590351"/>
              <a:gd name="csX18" fmla="*/ 61119 w 591740"/>
              <a:gd name="csY18" fmla="*/ 230584 h 590351"/>
              <a:gd name="csX19" fmla="*/ 0 w 591740"/>
              <a:gd name="csY19" fmla="*/ 261144 h 590351"/>
              <a:gd name="csX20" fmla="*/ 0 w 591740"/>
              <a:gd name="csY20" fmla="*/ 330597 h 590351"/>
              <a:gd name="csX21" fmla="*/ 61119 w 591740"/>
              <a:gd name="csY21" fmla="*/ 361156 h 590351"/>
              <a:gd name="csX22" fmla="*/ 83344 w 591740"/>
              <a:gd name="csY22" fmla="*/ 415330 h 590351"/>
              <a:gd name="csX23" fmla="*/ 61119 w 591740"/>
              <a:gd name="csY23" fmla="*/ 480616 h 590351"/>
              <a:gd name="csX24" fmla="*/ 109736 w 591740"/>
              <a:gd name="csY24" fmla="*/ 529233 h 590351"/>
              <a:gd name="csX25" fmla="*/ 175022 w 591740"/>
              <a:gd name="csY25" fmla="*/ 507008 h 590351"/>
              <a:gd name="csX26" fmla="*/ 229195 w 591740"/>
              <a:gd name="csY26" fmla="*/ 529233 h 590351"/>
              <a:gd name="csX27" fmla="*/ 259755 w 591740"/>
              <a:gd name="csY27" fmla="*/ 590352 h 590351"/>
              <a:gd name="csX28" fmla="*/ 329208 w 591740"/>
              <a:gd name="csY28" fmla="*/ 590352 h 590351"/>
              <a:gd name="csX29" fmla="*/ 359767 w 591740"/>
              <a:gd name="csY29" fmla="*/ 529233 h 590351"/>
              <a:gd name="csX30" fmla="*/ 413941 w 591740"/>
              <a:gd name="csY30" fmla="*/ 507008 h 590351"/>
              <a:gd name="csX31" fmla="*/ 479227 w 591740"/>
              <a:gd name="csY31" fmla="*/ 529233 h 590351"/>
              <a:gd name="csX32" fmla="*/ 529233 w 591740"/>
              <a:gd name="csY32" fmla="*/ 480616 h 590351"/>
              <a:gd name="csX33" fmla="*/ 507008 w 591740"/>
              <a:gd name="csY33" fmla="*/ 415330 h 590351"/>
              <a:gd name="csX34" fmla="*/ 530622 w 591740"/>
              <a:gd name="csY34" fmla="*/ 361156 h 590351"/>
              <a:gd name="csX35" fmla="*/ 591741 w 591740"/>
              <a:gd name="csY35" fmla="*/ 330597 h 590351"/>
              <a:gd name="csX36" fmla="*/ 591741 w 591740"/>
              <a:gd name="csY36" fmla="*/ 261144 h 590351"/>
              <a:gd name="csX37" fmla="*/ 530622 w 591740"/>
              <a:gd name="csY37" fmla="*/ 230584 h 5903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591740" h="590351">
                <a:moveTo>
                  <a:pt x="295870" y="400050"/>
                </a:moveTo>
                <a:cubicBezTo>
                  <a:pt x="237530" y="400050"/>
                  <a:pt x="191691" y="352822"/>
                  <a:pt x="191691" y="295870"/>
                </a:cubicBezTo>
                <a:cubicBezTo>
                  <a:pt x="191691" y="238919"/>
                  <a:pt x="238919" y="191691"/>
                  <a:pt x="295870" y="191691"/>
                </a:cubicBezTo>
                <a:cubicBezTo>
                  <a:pt x="354211" y="191691"/>
                  <a:pt x="400050" y="238919"/>
                  <a:pt x="400050" y="295870"/>
                </a:cubicBezTo>
                <a:cubicBezTo>
                  <a:pt x="400050" y="352822"/>
                  <a:pt x="352822" y="400050"/>
                  <a:pt x="295870" y="400050"/>
                </a:cubicBezTo>
                <a:close/>
                <a:moveTo>
                  <a:pt x="530622" y="230584"/>
                </a:moveTo>
                <a:cubicBezTo>
                  <a:pt x="525066" y="211138"/>
                  <a:pt x="518120" y="193080"/>
                  <a:pt x="508397" y="176411"/>
                </a:cubicBezTo>
                <a:lnTo>
                  <a:pt x="530622" y="111125"/>
                </a:lnTo>
                <a:lnTo>
                  <a:pt x="480616" y="61119"/>
                </a:lnTo>
                <a:lnTo>
                  <a:pt x="415330" y="83344"/>
                </a:lnTo>
                <a:cubicBezTo>
                  <a:pt x="398661" y="73620"/>
                  <a:pt x="380603" y="66675"/>
                  <a:pt x="361156" y="61119"/>
                </a:cubicBezTo>
                <a:lnTo>
                  <a:pt x="330597" y="0"/>
                </a:lnTo>
                <a:lnTo>
                  <a:pt x="261144" y="0"/>
                </a:lnTo>
                <a:lnTo>
                  <a:pt x="230584" y="61119"/>
                </a:lnTo>
                <a:cubicBezTo>
                  <a:pt x="211138" y="66675"/>
                  <a:pt x="193080" y="73620"/>
                  <a:pt x="176411" y="83344"/>
                </a:cubicBezTo>
                <a:lnTo>
                  <a:pt x="111125" y="61119"/>
                </a:lnTo>
                <a:lnTo>
                  <a:pt x="61119" y="111125"/>
                </a:lnTo>
                <a:lnTo>
                  <a:pt x="83344" y="176411"/>
                </a:lnTo>
                <a:cubicBezTo>
                  <a:pt x="73620" y="193080"/>
                  <a:pt x="66675" y="211138"/>
                  <a:pt x="61119" y="230584"/>
                </a:cubicBezTo>
                <a:lnTo>
                  <a:pt x="0" y="261144"/>
                </a:lnTo>
                <a:lnTo>
                  <a:pt x="0" y="330597"/>
                </a:lnTo>
                <a:lnTo>
                  <a:pt x="61119" y="361156"/>
                </a:lnTo>
                <a:cubicBezTo>
                  <a:pt x="66675" y="380603"/>
                  <a:pt x="73620" y="398661"/>
                  <a:pt x="83344" y="415330"/>
                </a:cubicBezTo>
                <a:lnTo>
                  <a:pt x="61119" y="480616"/>
                </a:lnTo>
                <a:lnTo>
                  <a:pt x="109736" y="529233"/>
                </a:lnTo>
                <a:lnTo>
                  <a:pt x="175022" y="507008"/>
                </a:lnTo>
                <a:cubicBezTo>
                  <a:pt x="191691" y="516731"/>
                  <a:pt x="209748" y="523677"/>
                  <a:pt x="229195" y="529233"/>
                </a:cubicBezTo>
                <a:lnTo>
                  <a:pt x="259755" y="590352"/>
                </a:lnTo>
                <a:lnTo>
                  <a:pt x="329208" y="590352"/>
                </a:lnTo>
                <a:lnTo>
                  <a:pt x="359767" y="529233"/>
                </a:lnTo>
                <a:cubicBezTo>
                  <a:pt x="379214" y="523677"/>
                  <a:pt x="397272" y="516731"/>
                  <a:pt x="413941" y="507008"/>
                </a:cubicBezTo>
                <a:lnTo>
                  <a:pt x="479227" y="529233"/>
                </a:lnTo>
                <a:lnTo>
                  <a:pt x="529233" y="480616"/>
                </a:lnTo>
                <a:lnTo>
                  <a:pt x="507008" y="415330"/>
                </a:lnTo>
                <a:cubicBezTo>
                  <a:pt x="516731" y="398661"/>
                  <a:pt x="525066" y="379214"/>
                  <a:pt x="530622" y="361156"/>
                </a:cubicBezTo>
                <a:lnTo>
                  <a:pt x="591741" y="330597"/>
                </a:lnTo>
                <a:lnTo>
                  <a:pt x="591741" y="261144"/>
                </a:lnTo>
                <a:lnTo>
                  <a:pt x="530622" y="230584"/>
                </a:lnTo>
                <a:close/>
              </a:path>
            </a:pathLst>
          </a:custGeom>
          <a:solidFill>
            <a:schemeClr val="bg1"/>
          </a:solidFill>
          <a:ln w="13891" cap="flat">
            <a:noFill/>
            <a:prstDash val="solid"/>
            <a:miter/>
          </a:ln>
        </p:spPr>
        <p:txBody>
          <a:bodyPr/>
          <a:lstStyle/>
          <a:p>
            <a:endParaRPr lang="en-US" noProof="0" dirty="0"/>
          </a:p>
        </p:txBody>
      </p:sp>
      <p:sp>
        <p:nvSpPr>
          <p:cNvPr id="85" name="Freeform: Shape 84">
            <a:extLst>
              <a:ext uri="{FF2B5EF4-FFF2-40B4-BE49-F238E27FC236}">
                <a16:creationId xmlns:a16="http://schemas.microsoft.com/office/drawing/2014/main" id="{2062EF82-153C-B5BA-8057-82C1A53E8A15}"/>
              </a:ext>
            </a:extLst>
          </p:cNvPr>
          <p:cNvSpPr/>
          <p:nvPr/>
        </p:nvSpPr>
        <p:spPr>
          <a:xfrm>
            <a:off x="5662066" y="3956385"/>
            <a:ext cx="591740" cy="590351"/>
          </a:xfrm>
          <a:custGeom>
            <a:avLst/>
            <a:gdLst>
              <a:gd name="csX0" fmla="*/ 295870 w 591740"/>
              <a:gd name="csY0" fmla="*/ 400050 h 590351"/>
              <a:gd name="csX1" fmla="*/ 191691 w 591740"/>
              <a:gd name="csY1" fmla="*/ 295870 h 590351"/>
              <a:gd name="csX2" fmla="*/ 295870 w 591740"/>
              <a:gd name="csY2" fmla="*/ 191691 h 590351"/>
              <a:gd name="csX3" fmla="*/ 400050 w 591740"/>
              <a:gd name="csY3" fmla="*/ 295870 h 590351"/>
              <a:gd name="csX4" fmla="*/ 295870 w 591740"/>
              <a:gd name="csY4" fmla="*/ 400050 h 590351"/>
              <a:gd name="csX5" fmla="*/ 295870 w 591740"/>
              <a:gd name="csY5" fmla="*/ 400050 h 590351"/>
              <a:gd name="csX6" fmla="*/ 508397 w 591740"/>
              <a:gd name="csY6" fmla="*/ 176411 h 590351"/>
              <a:gd name="csX7" fmla="*/ 530622 w 591740"/>
              <a:gd name="csY7" fmla="*/ 111125 h 590351"/>
              <a:gd name="csX8" fmla="*/ 480616 w 591740"/>
              <a:gd name="csY8" fmla="*/ 61119 h 590351"/>
              <a:gd name="csX9" fmla="*/ 415330 w 591740"/>
              <a:gd name="csY9" fmla="*/ 83344 h 590351"/>
              <a:gd name="csX10" fmla="*/ 361156 w 591740"/>
              <a:gd name="csY10" fmla="*/ 61119 h 590351"/>
              <a:gd name="csX11" fmla="*/ 330597 w 591740"/>
              <a:gd name="csY11" fmla="*/ 0 h 590351"/>
              <a:gd name="csX12" fmla="*/ 261144 w 591740"/>
              <a:gd name="csY12" fmla="*/ 0 h 590351"/>
              <a:gd name="csX13" fmla="*/ 230584 w 591740"/>
              <a:gd name="csY13" fmla="*/ 61119 h 590351"/>
              <a:gd name="csX14" fmla="*/ 176411 w 591740"/>
              <a:gd name="csY14" fmla="*/ 83344 h 590351"/>
              <a:gd name="csX15" fmla="*/ 111125 w 591740"/>
              <a:gd name="csY15" fmla="*/ 61119 h 590351"/>
              <a:gd name="csX16" fmla="*/ 62508 w 591740"/>
              <a:gd name="csY16" fmla="*/ 109736 h 590351"/>
              <a:gd name="csX17" fmla="*/ 83344 w 591740"/>
              <a:gd name="csY17" fmla="*/ 175022 h 590351"/>
              <a:gd name="csX18" fmla="*/ 61119 w 591740"/>
              <a:gd name="csY18" fmla="*/ 229195 h 590351"/>
              <a:gd name="csX19" fmla="*/ 0 w 591740"/>
              <a:gd name="csY19" fmla="*/ 259755 h 590351"/>
              <a:gd name="csX20" fmla="*/ 0 w 591740"/>
              <a:gd name="csY20" fmla="*/ 329208 h 590351"/>
              <a:gd name="csX21" fmla="*/ 61119 w 591740"/>
              <a:gd name="csY21" fmla="*/ 359767 h 590351"/>
              <a:gd name="csX22" fmla="*/ 83344 w 591740"/>
              <a:gd name="csY22" fmla="*/ 413941 h 590351"/>
              <a:gd name="csX23" fmla="*/ 62508 w 591740"/>
              <a:gd name="csY23" fmla="*/ 479227 h 590351"/>
              <a:gd name="csX24" fmla="*/ 111125 w 591740"/>
              <a:gd name="csY24" fmla="*/ 527844 h 590351"/>
              <a:gd name="csX25" fmla="*/ 176411 w 591740"/>
              <a:gd name="csY25" fmla="*/ 507008 h 590351"/>
              <a:gd name="csX26" fmla="*/ 230584 w 591740"/>
              <a:gd name="csY26" fmla="*/ 529233 h 590351"/>
              <a:gd name="csX27" fmla="*/ 261144 w 591740"/>
              <a:gd name="csY27" fmla="*/ 590352 h 590351"/>
              <a:gd name="csX28" fmla="*/ 330597 w 591740"/>
              <a:gd name="csY28" fmla="*/ 590352 h 590351"/>
              <a:gd name="csX29" fmla="*/ 361156 w 591740"/>
              <a:gd name="csY29" fmla="*/ 529233 h 590351"/>
              <a:gd name="csX30" fmla="*/ 415330 w 591740"/>
              <a:gd name="csY30" fmla="*/ 507008 h 590351"/>
              <a:gd name="csX31" fmla="*/ 480616 w 591740"/>
              <a:gd name="csY31" fmla="*/ 529233 h 590351"/>
              <a:gd name="csX32" fmla="*/ 529233 w 591740"/>
              <a:gd name="csY32" fmla="*/ 479227 h 590351"/>
              <a:gd name="csX33" fmla="*/ 508397 w 591740"/>
              <a:gd name="csY33" fmla="*/ 415330 h 590351"/>
              <a:gd name="csX34" fmla="*/ 530622 w 591740"/>
              <a:gd name="csY34" fmla="*/ 361156 h 590351"/>
              <a:gd name="csX35" fmla="*/ 591741 w 591740"/>
              <a:gd name="csY35" fmla="*/ 330597 h 590351"/>
              <a:gd name="csX36" fmla="*/ 591741 w 591740"/>
              <a:gd name="csY36" fmla="*/ 261144 h 590351"/>
              <a:gd name="csX37" fmla="*/ 530622 w 591740"/>
              <a:gd name="csY37" fmla="*/ 230584 h 590351"/>
              <a:gd name="csX38" fmla="*/ 508397 w 591740"/>
              <a:gd name="csY38" fmla="*/ 176411 h 5903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591740" h="590351">
                <a:moveTo>
                  <a:pt x="295870" y="400050"/>
                </a:moveTo>
                <a:cubicBezTo>
                  <a:pt x="237530" y="400050"/>
                  <a:pt x="191691" y="352822"/>
                  <a:pt x="191691" y="295870"/>
                </a:cubicBezTo>
                <a:cubicBezTo>
                  <a:pt x="191691" y="237530"/>
                  <a:pt x="238919" y="191691"/>
                  <a:pt x="295870" y="191691"/>
                </a:cubicBezTo>
                <a:cubicBezTo>
                  <a:pt x="354211" y="191691"/>
                  <a:pt x="400050" y="238919"/>
                  <a:pt x="400050" y="295870"/>
                </a:cubicBezTo>
                <a:cubicBezTo>
                  <a:pt x="400050" y="352822"/>
                  <a:pt x="354211" y="400050"/>
                  <a:pt x="295870" y="400050"/>
                </a:cubicBezTo>
                <a:lnTo>
                  <a:pt x="295870" y="400050"/>
                </a:lnTo>
                <a:close/>
                <a:moveTo>
                  <a:pt x="508397" y="176411"/>
                </a:moveTo>
                <a:lnTo>
                  <a:pt x="530622" y="111125"/>
                </a:lnTo>
                <a:lnTo>
                  <a:pt x="480616" y="61119"/>
                </a:lnTo>
                <a:lnTo>
                  <a:pt x="415330" y="83344"/>
                </a:lnTo>
                <a:cubicBezTo>
                  <a:pt x="398661" y="73620"/>
                  <a:pt x="379214" y="66675"/>
                  <a:pt x="361156" y="61119"/>
                </a:cubicBezTo>
                <a:lnTo>
                  <a:pt x="330597" y="0"/>
                </a:lnTo>
                <a:lnTo>
                  <a:pt x="261144" y="0"/>
                </a:lnTo>
                <a:lnTo>
                  <a:pt x="230584" y="61119"/>
                </a:lnTo>
                <a:cubicBezTo>
                  <a:pt x="211138" y="66675"/>
                  <a:pt x="193080" y="73620"/>
                  <a:pt x="176411" y="83344"/>
                </a:cubicBezTo>
                <a:lnTo>
                  <a:pt x="111125" y="61119"/>
                </a:lnTo>
                <a:lnTo>
                  <a:pt x="62508" y="109736"/>
                </a:lnTo>
                <a:lnTo>
                  <a:pt x="83344" y="175022"/>
                </a:lnTo>
                <a:cubicBezTo>
                  <a:pt x="73620" y="191691"/>
                  <a:pt x="66675" y="211137"/>
                  <a:pt x="61119" y="229195"/>
                </a:cubicBezTo>
                <a:lnTo>
                  <a:pt x="0" y="259755"/>
                </a:lnTo>
                <a:lnTo>
                  <a:pt x="0" y="329208"/>
                </a:lnTo>
                <a:lnTo>
                  <a:pt x="61119" y="359767"/>
                </a:lnTo>
                <a:cubicBezTo>
                  <a:pt x="66675" y="379214"/>
                  <a:pt x="73620" y="397272"/>
                  <a:pt x="83344" y="413941"/>
                </a:cubicBezTo>
                <a:lnTo>
                  <a:pt x="62508" y="479227"/>
                </a:lnTo>
                <a:lnTo>
                  <a:pt x="111125" y="527844"/>
                </a:lnTo>
                <a:lnTo>
                  <a:pt x="176411" y="507008"/>
                </a:lnTo>
                <a:cubicBezTo>
                  <a:pt x="193080" y="516731"/>
                  <a:pt x="211138" y="523677"/>
                  <a:pt x="230584" y="529233"/>
                </a:cubicBezTo>
                <a:lnTo>
                  <a:pt x="261144" y="590352"/>
                </a:lnTo>
                <a:lnTo>
                  <a:pt x="330597" y="590352"/>
                </a:lnTo>
                <a:lnTo>
                  <a:pt x="361156" y="529233"/>
                </a:lnTo>
                <a:cubicBezTo>
                  <a:pt x="380603" y="523677"/>
                  <a:pt x="398661" y="516731"/>
                  <a:pt x="415330" y="507008"/>
                </a:cubicBezTo>
                <a:lnTo>
                  <a:pt x="480616" y="529233"/>
                </a:lnTo>
                <a:lnTo>
                  <a:pt x="529233" y="479227"/>
                </a:lnTo>
                <a:lnTo>
                  <a:pt x="508397" y="415330"/>
                </a:lnTo>
                <a:cubicBezTo>
                  <a:pt x="518120" y="398661"/>
                  <a:pt x="525066" y="380603"/>
                  <a:pt x="530622" y="361156"/>
                </a:cubicBezTo>
                <a:lnTo>
                  <a:pt x="591741" y="330597"/>
                </a:lnTo>
                <a:lnTo>
                  <a:pt x="591741" y="261144"/>
                </a:lnTo>
                <a:lnTo>
                  <a:pt x="530622" y="230584"/>
                </a:lnTo>
                <a:cubicBezTo>
                  <a:pt x="525066" y="211137"/>
                  <a:pt x="518120" y="193080"/>
                  <a:pt x="508397" y="176411"/>
                </a:cubicBezTo>
                <a:close/>
              </a:path>
            </a:pathLst>
          </a:custGeom>
          <a:solidFill>
            <a:schemeClr val="bg1"/>
          </a:solidFill>
          <a:ln w="13891" cap="flat">
            <a:noFill/>
            <a:prstDash val="solid"/>
            <a:miter/>
          </a:ln>
        </p:spPr>
        <p:txBody>
          <a:bodyPr/>
          <a:lstStyle/>
          <a:p>
            <a:endParaRPr lang="en-US" noProof="0" dirty="0"/>
          </a:p>
        </p:txBody>
      </p:sp>
      <p:sp>
        <p:nvSpPr>
          <p:cNvPr id="82" name="Inhaltsplatzhalter 2">
            <a:extLst>
              <a:ext uri="{FF2B5EF4-FFF2-40B4-BE49-F238E27FC236}">
                <a16:creationId xmlns:a16="http://schemas.microsoft.com/office/drawing/2014/main" id="{215FAD10-5FC4-28D8-8E60-DA0F4B664408}"/>
              </a:ext>
            </a:extLst>
          </p:cNvPr>
          <p:cNvSpPr txBox="1">
            <a:spLocks/>
          </p:cNvSpPr>
          <p:nvPr/>
        </p:nvSpPr>
        <p:spPr>
          <a:xfrm>
            <a:off x="838200" y="6048573"/>
            <a:ext cx="10515600" cy="307777"/>
          </a:xfrm>
          <a:prstGeom prst="rect">
            <a:avLst/>
          </a:prstGeom>
        </p:spPr>
        <p:txBody>
          <a:bodyPr wrap="square" lIns="0" tIns="0" rIns="0" bIns="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noProof="0" dirty="0">
                <a:solidFill>
                  <a:schemeClr val="bg1"/>
                </a:solidFill>
              </a:rPr>
              <a:t>… and </a:t>
            </a:r>
            <a:r>
              <a:rPr lang="en-US" sz="2000" b="1" noProof="0" dirty="0">
                <a:solidFill>
                  <a:schemeClr val="accent2"/>
                </a:solidFill>
              </a:rPr>
              <a:t>data is the foundation </a:t>
            </a:r>
            <a:r>
              <a:rPr lang="en-US" sz="2000" b="1" noProof="0" dirty="0">
                <a:solidFill>
                  <a:schemeClr val="bg1"/>
                </a:solidFill>
              </a:rPr>
              <a:t>of </a:t>
            </a:r>
            <a:r>
              <a:rPr lang="en-US" sz="2000" b="1" dirty="0">
                <a:solidFill>
                  <a:schemeClr val="bg1"/>
                </a:solidFill>
              </a:rPr>
              <a:t>the entire process</a:t>
            </a:r>
            <a:endParaRPr lang="en-US" sz="2000" b="1" noProof="0" dirty="0">
              <a:solidFill>
                <a:schemeClr val="bg1"/>
              </a:solidFill>
            </a:endParaRPr>
          </a:p>
        </p:txBody>
      </p:sp>
      <p:sp>
        <p:nvSpPr>
          <p:cNvPr id="6" name="TextBox 5">
            <a:extLst>
              <a:ext uri="{FF2B5EF4-FFF2-40B4-BE49-F238E27FC236}">
                <a16:creationId xmlns:a16="http://schemas.microsoft.com/office/drawing/2014/main" id="{3B00C956-2DD0-F713-022E-C65C68FDA85B}"/>
              </a:ext>
            </a:extLst>
          </p:cNvPr>
          <p:cNvSpPr txBox="1"/>
          <p:nvPr/>
        </p:nvSpPr>
        <p:spPr>
          <a:xfrm>
            <a:off x="838200" y="1478355"/>
            <a:ext cx="10515600" cy="584775"/>
          </a:xfrm>
          <a:prstGeom prst="rect">
            <a:avLst/>
          </a:prstGeom>
          <a:noFill/>
        </p:spPr>
        <p:txBody>
          <a:bodyPr wrap="square">
            <a:noAutofit/>
          </a:bodyPr>
          <a:lstStyle/>
          <a:p>
            <a:r>
              <a:rPr lang="en-GB" sz="1600" dirty="0">
                <a:solidFill>
                  <a:schemeClr val="bg1"/>
                </a:solidFill>
              </a:rPr>
              <a:t>In 2025, SCOT transitioned to a Foundational AI Model that moves beyond simple sales history to “sense” demand before it happens.</a:t>
            </a:r>
            <a:endParaRPr lang="en-US" sz="1600" dirty="0">
              <a:solidFill>
                <a:schemeClr val="bg1"/>
              </a:solidFill>
            </a:endParaRPr>
          </a:p>
        </p:txBody>
      </p:sp>
    </p:spTree>
    <p:extLst>
      <p:ext uri="{BB962C8B-B14F-4D97-AF65-F5344CB8AC3E}">
        <p14:creationId xmlns:p14="http://schemas.microsoft.com/office/powerpoint/2010/main" val="413721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500"/>
                                        <p:tgtEl>
                                          <p:spTgt spid="8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2000"/>
                            </p:stCondLst>
                            <p:childTnLst>
                              <p:par>
                                <p:cTn id="29" presetID="10" presetClass="entr" presetSubtype="0" fill="hold" grpId="0" nodeType="afterEffect">
                                  <p:stCondLst>
                                    <p:cond delay="1000"/>
                                  </p:stCondLst>
                                  <p:childTnLst>
                                    <p:set>
                                      <p:cBhvr>
                                        <p:cTn id="30" dur="1" fill="hold">
                                          <p:stCondLst>
                                            <p:cond delay="0"/>
                                          </p:stCondLst>
                                        </p:cTn>
                                        <p:tgtEl>
                                          <p:spTgt spid="82"/>
                                        </p:tgtEl>
                                        <p:attrNameLst>
                                          <p:attrName>style.visibility</p:attrName>
                                        </p:attrNameLst>
                                      </p:cBhvr>
                                      <p:to>
                                        <p:strVal val="visible"/>
                                      </p:to>
                                    </p:set>
                                    <p:animEffect transition="in" filter="fade">
                                      <p:cBhvr>
                                        <p:cTn id="31" dur="500"/>
                                        <p:tgtEl>
                                          <p:spTgt spid="82"/>
                                        </p:tgtEl>
                                      </p:cBhvr>
                                    </p:animEffect>
                                  </p:childTnLst>
                                </p:cTn>
                              </p:par>
                            </p:childTnLst>
                          </p:cTn>
                        </p:par>
                        <p:par>
                          <p:cTn id="32" fill="hold">
                            <p:stCondLst>
                              <p:cond delay="3500"/>
                            </p:stCondLst>
                            <p:childTnLst>
                              <p:par>
                                <p:cTn id="33" presetID="8" presetClass="emph" presetSubtype="0" repeatCount="indefinite" fill="hold" grpId="1" nodeType="afterEffect">
                                  <p:stCondLst>
                                    <p:cond delay="0"/>
                                  </p:stCondLst>
                                  <p:childTnLst>
                                    <p:animRot by="21600000">
                                      <p:cBhvr>
                                        <p:cTn id="34" dur="3000" fill="hold"/>
                                        <p:tgtEl>
                                          <p:spTgt spid="85"/>
                                        </p:tgtEl>
                                        <p:attrNameLst>
                                          <p:attrName>r</p:attrName>
                                        </p:attrNameLst>
                                      </p:cBhvr>
                                    </p:animRot>
                                  </p:childTnLst>
                                </p:cTn>
                              </p:par>
                              <p:par>
                                <p:cTn id="35" presetID="8" presetClass="emph" presetSubtype="0" repeatCount="indefinite" fill="hold" grpId="1" nodeType="withEffect">
                                  <p:stCondLst>
                                    <p:cond delay="0"/>
                                  </p:stCondLst>
                                  <p:childTnLst>
                                    <p:animRot by="-21600000">
                                      <p:cBhvr>
                                        <p:cTn id="36" dur="3000" fill="hold"/>
                                        <p:tgtEl>
                                          <p:spTgt spid="8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5" grpId="0" animBg="1"/>
      <p:bldP spid="85" grpId="1" animBg="1"/>
      <p:bldP spid="8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8F7B8AC-1E25-3328-A500-BB1C1158349D}"/>
              </a:ext>
            </a:extLst>
          </p:cNvPr>
          <p:cNvGraphicFramePr>
            <a:graphicFrameLocks/>
          </p:cNvGraphicFramePr>
          <p:nvPr>
            <p:custDataLst>
              <p:tags r:id="rId1"/>
            </p:custDataLst>
            <p:extLst>
              <p:ext uri="{D42A27DB-BD31-4B8C-83A1-F6EECF244321}">
                <p14:modId xmlns:p14="http://schemas.microsoft.com/office/powerpoint/2010/main" val="931703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28F7B8AC-1E25-3328-A500-BB1C115834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B530AE2-465A-80BA-6D2F-0B8152B14DE9}"/>
              </a:ext>
            </a:extLst>
          </p:cNvPr>
          <p:cNvSpPr>
            <a:spLocks noGrp="1"/>
          </p:cNvSpPr>
          <p:nvPr>
            <p:ph type="title"/>
          </p:nvPr>
        </p:nvSpPr>
        <p:spPr>
          <a:xfrm>
            <a:off x="838200" y="365125"/>
            <a:ext cx="10515600" cy="812530"/>
          </a:xfrm>
        </p:spPr>
        <p:txBody>
          <a:bodyPr vert="horz" rIns="91440">
            <a:noAutofit/>
          </a:bodyPr>
          <a:lstStyle/>
          <a:p>
            <a:r>
              <a:rPr lang="en-US" sz="3600" b="1" noProof="0" dirty="0"/>
              <a:t>AI-Powered Demand Forecasting</a:t>
            </a:r>
            <a:br>
              <a:rPr lang="en-US" sz="3600" b="1" noProof="0" dirty="0"/>
            </a:br>
            <a:r>
              <a:rPr lang="en-US" sz="1600" noProof="0" dirty="0"/>
              <a:t>Amazon analyses vast amounts of data from various sources in real time for competitive advantage</a:t>
            </a:r>
            <a:endParaRPr lang="en-US" sz="3600" noProof="0" dirty="0"/>
          </a:p>
        </p:txBody>
      </p:sp>
      <p:sp>
        <p:nvSpPr>
          <p:cNvPr id="14" name="Slide Number Placeholder 13">
            <a:extLst>
              <a:ext uri="{FF2B5EF4-FFF2-40B4-BE49-F238E27FC236}">
                <a16:creationId xmlns:a16="http://schemas.microsoft.com/office/drawing/2014/main" id="{62558851-9472-166E-9ADF-91B048FF1499}"/>
              </a:ext>
            </a:extLst>
          </p:cNvPr>
          <p:cNvSpPr>
            <a:spLocks noGrp="1"/>
          </p:cNvSpPr>
          <p:nvPr>
            <p:ph type="sldNum" sz="quarter" idx="12"/>
          </p:nvPr>
        </p:nvSpPr>
        <p:spPr/>
        <p:txBody>
          <a:bodyPr/>
          <a:lstStyle/>
          <a:p>
            <a:fld id="{49882A7A-00EB-4D45-AA64-F8A75FA21FCC}" type="slidenum">
              <a:rPr lang="en-US" noProof="0" smtClean="0"/>
              <a:pPr/>
              <a:t>4</a:t>
            </a:fld>
            <a:endParaRPr lang="en-US" noProof="0" dirty="0"/>
          </a:p>
        </p:txBody>
      </p:sp>
      <p:sp>
        <p:nvSpPr>
          <p:cNvPr id="5" name="Content Placeholder 2">
            <a:extLst>
              <a:ext uri="{FF2B5EF4-FFF2-40B4-BE49-F238E27FC236}">
                <a16:creationId xmlns:a16="http://schemas.microsoft.com/office/drawing/2014/main" id="{3B5BFFAC-A330-C083-5FF4-89C0E1E7F0D1}"/>
              </a:ext>
            </a:extLst>
          </p:cNvPr>
          <p:cNvSpPr txBox="1">
            <a:spLocks/>
          </p:cNvSpPr>
          <p:nvPr/>
        </p:nvSpPr>
        <p:spPr>
          <a:xfrm>
            <a:off x="665527" y="5709476"/>
            <a:ext cx="10860946" cy="24929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en-US" sz="1800" noProof="0" dirty="0">
                <a:solidFill>
                  <a:schemeClr val="bg1"/>
                </a:solidFill>
              </a:rPr>
              <a:t>The result is </a:t>
            </a:r>
            <a:r>
              <a:rPr lang="en-US" sz="1800" b="1" noProof="0" dirty="0">
                <a:solidFill>
                  <a:schemeClr val="accent2"/>
                </a:solidFill>
              </a:rPr>
              <a:t>a system that can anticipate/respond to any demand shift </a:t>
            </a:r>
            <a:r>
              <a:rPr lang="en-US" sz="1800" noProof="0" dirty="0">
                <a:solidFill>
                  <a:schemeClr val="bg1"/>
                </a:solidFill>
              </a:rPr>
              <a:t>with remarkable accuracy</a:t>
            </a:r>
          </a:p>
        </p:txBody>
      </p:sp>
      <p:sp>
        <p:nvSpPr>
          <p:cNvPr id="72" name="Content Placeholder 2">
            <a:extLst>
              <a:ext uri="{FF2B5EF4-FFF2-40B4-BE49-F238E27FC236}">
                <a16:creationId xmlns:a16="http://schemas.microsoft.com/office/drawing/2014/main" id="{C69DF158-FCE6-6554-CC58-E466E9BDF279}"/>
              </a:ext>
            </a:extLst>
          </p:cNvPr>
          <p:cNvSpPr txBox="1">
            <a:spLocks/>
          </p:cNvSpPr>
          <p:nvPr/>
        </p:nvSpPr>
        <p:spPr>
          <a:xfrm>
            <a:off x="838200" y="6293684"/>
            <a:ext cx="9335723" cy="427791"/>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700" dirty="0">
                <a:solidFill>
                  <a:schemeClr val="bg1"/>
                </a:solidFill>
              </a:rPr>
              <a:t>Dynamic Forecasting -</a:t>
            </a:r>
            <a:r>
              <a:rPr lang="en-US" sz="700" dirty="0">
                <a:solidFill>
                  <a:srgbClr val="77F9F6"/>
                </a:solidFill>
              </a:rPr>
              <a:t> </a:t>
            </a:r>
            <a:r>
              <a:rPr lang="en-US" sz="700" dirty="0">
                <a:hlinkClick r:id="rId6"/>
              </a:rPr>
              <a:t>Amazon's AI Supply Chain Upgrades Set New Standards for Forecasting and Warehouse Automation</a:t>
            </a:r>
            <a:r>
              <a:rPr lang="en-US" sz="700" dirty="0"/>
              <a:t>,</a:t>
            </a:r>
          </a:p>
          <a:p>
            <a:pPr marL="0" indent="0">
              <a:spcBef>
                <a:spcPts val="0"/>
              </a:spcBef>
              <a:buNone/>
            </a:pPr>
            <a:r>
              <a:rPr lang="en-US" sz="700" dirty="0">
                <a:hlinkClick r:id="rId7"/>
              </a:rPr>
              <a:t>Social media analysis - WPP integrates </a:t>
            </a:r>
            <a:r>
              <a:rPr lang="en-US" sz="700" dirty="0" err="1">
                <a:hlinkClick r:id="rId7"/>
              </a:rPr>
              <a:t>Anthropic's</a:t>
            </a:r>
            <a:r>
              <a:rPr lang="en-US" sz="700" dirty="0">
                <a:hlinkClick r:id="rId7"/>
              </a:rPr>
              <a:t> Claude 3 using Amazon Bedrock into WPP Open | WPP</a:t>
            </a:r>
            <a:endParaRPr lang="en-US" sz="700" dirty="0"/>
          </a:p>
          <a:p>
            <a:pPr marL="0" indent="0">
              <a:spcBef>
                <a:spcPts val="0"/>
              </a:spcBef>
              <a:buNone/>
            </a:pPr>
            <a:r>
              <a:rPr lang="en-US" sz="700" dirty="0"/>
              <a:t>Latent demand - </a:t>
            </a:r>
            <a:r>
              <a:rPr lang="en-US" sz="700" dirty="0">
                <a:hlinkClick r:id="rId8"/>
              </a:rPr>
              <a:t>Recording real-time events to influence recommendations - Amazon Personalize</a:t>
            </a:r>
            <a:endParaRPr lang="en-US" sz="700" dirty="0"/>
          </a:p>
        </p:txBody>
      </p:sp>
      <p:grpSp>
        <p:nvGrpSpPr>
          <p:cNvPr id="16" name="Group 15">
            <a:extLst>
              <a:ext uri="{FF2B5EF4-FFF2-40B4-BE49-F238E27FC236}">
                <a16:creationId xmlns:a16="http://schemas.microsoft.com/office/drawing/2014/main" id="{69A1E4BE-0AAE-69D2-607F-45006892512A}"/>
              </a:ext>
            </a:extLst>
          </p:cNvPr>
          <p:cNvGrpSpPr/>
          <p:nvPr/>
        </p:nvGrpSpPr>
        <p:grpSpPr>
          <a:xfrm>
            <a:off x="838200" y="1807206"/>
            <a:ext cx="2493900" cy="3459857"/>
            <a:chOff x="838200" y="1807206"/>
            <a:chExt cx="2493900" cy="3459857"/>
          </a:xfrm>
        </p:grpSpPr>
        <p:sp>
          <p:nvSpPr>
            <p:cNvPr id="61" name="Rectangle: Rounded Corners 60">
              <a:extLst>
                <a:ext uri="{FF2B5EF4-FFF2-40B4-BE49-F238E27FC236}">
                  <a16:creationId xmlns:a16="http://schemas.microsoft.com/office/drawing/2014/main" id="{89427B60-216B-39DB-478E-16299EF23159}"/>
                </a:ext>
              </a:extLst>
            </p:cNvPr>
            <p:cNvSpPr/>
            <p:nvPr/>
          </p:nvSpPr>
          <p:spPr>
            <a:xfrm>
              <a:off x="838200" y="3155688"/>
              <a:ext cx="2493900" cy="2111375"/>
            </a:xfrm>
            <a:prstGeom prst="roundRect">
              <a:avLst>
                <a:gd name="adj" fmla="val 6145"/>
              </a:avLst>
            </a:prstGeom>
            <a:noFill/>
            <a:ln w="9525">
              <a:gradFill flip="none" rotWithShape="1">
                <a:gsLst>
                  <a:gs pos="0">
                    <a:srgbClr val="5C5C5C">
                      <a:alpha val="3000"/>
                    </a:srgbClr>
                  </a:gs>
                  <a:gs pos="100000">
                    <a:srgbClr val="5C5C5C"/>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r>
                <a:rPr lang="en-GB" sz="1400" dirty="0"/>
                <a:t>AI model adds </a:t>
              </a:r>
              <a:r>
                <a:rPr lang="en-GB" sz="1400" dirty="0">
                  <a:solidFill>
                    <a:schemeClr val="tx2"/>
                  </a:solidFill>
                </a:rPr>
                <a:t>time-bound data like weather patterns and holiday schedules </a:t>
              </a:r>
              <a:r>
                <a:rPr lang="en-GB" sz="1400" dirty="0"/>
                <a:t>to place the right products in the right locations more accurately</a:t>
              </a:r>
              <a:endParaRPr lang="en-US" sz="1400" noProof="0" dirty="0">
                <a:solidFill>
                  <a:srgbClr val="1F1F1F"/>
                </a:solidFill>
                <a:latin typeface="Inter" panose="02000503000000020004" pitchFamily="2" charset="0"/>
              </a:endParaRPr>
            </a:p>
          </p:txBody>
        </p:sp>
        <p:sp>
          <p:nvSpPr>
            <p:cNvPr id="47" name="Freeform: Shape 46">
              <a:extLst>
                <a:ext uri="{FF2B5EF4-FFF2-40B4-BE49-F238E27FC236}">
                  <a16:creationId xmlns:a16="http://schemas.microsoft.com/office/drawing/2014/main" id="{967D1A8D-3C71-EDBF-BF38-22EC46E2402F}"/>
                </a:ext>
              </a:extLst>
            </p:cNvPr>
            <p:cNvSpPr/>
            <p:nvPr/>
          </p:nvSpPr>
          <p:spPr>
            <a:xfrm>
              <a:off x="838200" y="2419461"/>
              <a:ext cx="2493900" cy="812530"/>
            </a:xfrm>
            <a:custGeom>
              <a:avLst/>
              <a:gdLst>
                <a:gd name="csX0" fmla="*/ 0 w 2493900"/>
                <a:gd name="csY0" fmla="*/ 0 h 812530"/>
                <a:gd name="csX1" fmla="*/ 748217 w 2493900"/>
                <a:gd name="csY1" fmla="*/ 0 h 812530"/>
                <a:gd name="csX2" fmla="*/ 763484 w 2493900"/>
                <a:gd name="csY2" fmla="*/ 49182 h 812530"/>
                <a:gd name="csX3" fmla="*/ 1246950 w 2493900"/>
                <a:gd name="csY3" fmla="*/ 369645 h 812530"/>
                <a:gd name="csX4" fmla="*/ 1730417 w 2493900"/>
                <a:gd name="csY4" fmla="*/ 49182 h 812530"/>
                <a:gd name="csX5" fmla="*/ 1745684 w 2493900"/>
                <a:gd name="csY5" fmla="*/ 0 h 812530"/>
                <a:gd name="csX6" fmla="*/ 2493900 w 2493900"/>
                <a:gd name="csY6" fmla="*/ 0 h 812530"/>
                <a:gd name="csX7" fmla="*/ 2493900 w 2493900"/>
                <a:gd name="csY7" fmla="*/ 812530 h 812530"/>
                <a:gd name="csX8" fmla="*/ 0 w 2493900"/>
                <a:gd name="csY8" fmla="*/ 812530 h 812530"/>
                <a:gd name="csX9" fmla="*/ 0 w 2493900"/>
                <a:gd name="csY9" fmla="*/ 0 h 812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493900" h="812530">
                  <a:moveTo>
                    <a:pt x="0" y="0"/>
                  </a:moveTo>
                  <a:lnTo>
                    <a:pt x="748217" y="0"/>
                  </a:lnTo>
                  <a:lnTo>
                    <a:pt x="763484" y="49182"/>
                  </a:lnTo>
                  <a:cubicBezTo>
                    <a:pt x="843137" y="237505"/>
                    <a:pt x="1029612" y="369645"/>
                    <a:pt x="1246950" y="369645"/>
                  </a:cubicBezTo>
                  <a:cubicBezTo>
                    <a:pt x="1464288" y="369645"/>
                    <a:pt x="1650763" y="237505"/>
                    <a:pt x="1730417" y="49182"/>
                  </a:cubicBezTo>
                  <a:lnTo>
                    <a:pt x="1745684" y="0"/>
                  </a:lnTo>
                  <a:lnTo>
                    <a:pt x="2493900" y="0"/>
                  </a:lnTo>
                  <a:lnTo>
                    <a:pt x="2493900" y="812530"/>
                  </a:lnTo>
                  <a:lnTo>
                    <a:pt x="0" y="812530"/>
                  </a:lnTo>
                  <a:lnTo>
                    <a:pt x="0" y="0"/>
                  </a:lnTo>
                  <a:close/>
                </a:path>
              </a:pathLst>
            </a:custGeom>
            <a:solidFill>
              <a:srgbClr val="5C5C5C"/>
            </a:solidFill>
            <a:ln w="9525">
              <a:solidFill>
                <a:srgbClr val="5C5C5C"/>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288000" rIns="0" rtlCol="0" anchor="ctr">
              <a:noAutofit/>
            </a:bodyPr>
            <a:lstStyle/>
            <a:p>
              <a:pPr algn="ctr"/>
              <a:r>
                <a:rPr lang="en-US" noProof="0" dirty="0">
                  <a:solidFill>
                    <a:srgbClr val="77F9F6"/>
                  </a:solidFill>
                </a:rPr>
                <a:t>Dynamic Forecasting</a:t>
              </a:r>
            </a:p>
          </p:txBody>
        </p:sp>
        <p:sp>
          <p:nvSpPr>
            <p:cNvPr id="50" name="Oval 49">
              <a:extLst>
                <a:ext uri="{FF2B5EF4-FFF2-40B4-BE49-F238E27FC236}">
                  <a16:creationId xmlns:a16="http://schemas.microsoft.com/office/drawing/2014/main" id="{6C4525B6-4A2E-71E4-099B-F9E5AE782FE7}"/>
                </a:ext>
              </a:extLst>
            </p:cNvPr>
            <p:cNvSpPr/>
            <p:nvPr/>
          </p:nvSpPr>
          <p:spPr>
            <a:xfrm>
              <a:off x="1627950" y="1807206"/>
              <a:ext cx="914400" cy="914400"/>
            </a:xfrm>
            <a:prstGeom prst="ellipse">
              <a:avLst/>
            </a:prstGeom>
            <a:solidFill>
              <a:schemeClr val="bg2">
                <a:alpha val="2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phic 5" descr="Bar graph with upward trend with solid fill">
              <a:extLst>
                <a:ext uri="{FF2B5EF4-FFF2-40B4-BE49-F238E27FC236}">
                  <a16:creationId xmlns:a16="http://schemas.microsoft.com/office/drawing/2014/main" id="{8651F1BB-4E58-AFF9-F4A3-8A31430D20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06707" y="1985963"/>
              <a:ext cx="556886" cy="556886"/>
            </a:xfrm>
            <a:prstGeom prst="rect">
              <a:avLst/>
            </a:prstGeom>
          </p:spPr>
        </p:pic>
      </p:grpSp>
      <p:grpSp>
        <p:nvGrpSpPr>
          <p:cNvPr id="17" name="Group 16">
            <a:extLst>
              <a:ext uri="{FF2B5EF4-FFF2-40B4-BE49-F238E27FC236}">
                <a16:creationId xmlns:a16="http://schemas.microsoft.com/office/drawing/2014/main" id="{B534D893-7D2C-66A5-9AC8-DEAA122F14FF}"/>
              </a:ext>
            </a:extLst>
          </p:cNvPr>
          <p:cNvGrpSpPr/>
          <p:nvPr/>
        </p:nvGrpSpPr>
        <p:grpSpPr>
          <a:xfrm>
            <a:off x="3512100" y="1807206"/>
            <a:ext cx="2493900" cy="3459857"/>
            <a:chOff x="3512100" y="1807206"/>
            <a:chExt cx="2493900" cy="3459857"/>
          </a:xfrm>
        </p:grpSpPr>
        <p:sp>
          <p:nvSpPr>
            <p:cNvPr id="53" name="Freeform: Shape 52">
              <a:extLst>
                <a:ext uri="{FF2B5EF4-FFF2-40B4-BE49-F238E27FC236}">
                  <a16:creationId xmlns:a16="http://schemas.microsoft.com/office/drawing/2014/main" id="{5667F913-52A7-3B68-566A-B67A7B99B6D7}"/>
                </a:ext>
              </a:extLst>
            </p:cNvPr>
            <p:cNvSpPr/>
            <p:nvPr/>
          </p:nvSpPr>
          <p:spPr>
            <a:xfrm>
              <a:off x="3512100" y="2419461"/>
              <a:ext cx="2493900" cy="812530"/>
            </a:xfrm>
            <a:custGeom>
              <a:avLst/>
              <a:gdLst>
                <a:gd name="csX0" fmla="*/ 0 w 2493900"/>
                <a:gd name="csY0" fmla="*/ 0 h 812530"/>
                <a:gd name="csX1" fmla="*/ 748217 w 2493900"/>
                <a:gd name="csY1" fmla="*/ 0 h 812530"/>
                <a:gd name="csX2" fmla="*/ 763484 w 2493900"/>
                <a:gd name="csY2" fmla="*/ 49182 h 812530"/>
                <a:gd name="csX3" fmla="*/ 1246950 w 2493900"/>
                <a:gd name="csY3" fmla="*/ 369645 h 812530"/>
                <a:gd name="csX4" fmla="*/ 1730417 w 2493900"/>
                <a:gd name="csY4" fmla="*/ 49182 h 812530"/>
                <a:gd name="csX5" fmla="*/ 1745684 w 2493900"/>
                <a:gd name="csY5" fmla="*/ 0 h 812530"/>
                <a:gd name="csX6" fmla="*/ 2493900 w 2493900"/>
                <a:gd name="csY6" fmla="*/ 0 h 812530"/>
                <a:gd name="csX7" fmla="*/ 2493900 w 2493900"/>
                <a:gd name="csY7" fmla="*/ 812530 h 812530"/>
                <a:gd name="csX8" fmla="*/ 0 w 2493900"/>
                <a:gd name="csY8" fmla="*/ 812530 h 812530"/>
                <a:gd name="csX9" fmla="*/ 0 w 2493900"/>
                <a:gd name="csY9" fmla="*/ 0 h 812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493900" h="812530">
                  <a:moveTo>
                    <a:pt x="0" y="0"/>
                  </a:moveTo>
                  <a:lnTo>
                    <a:pt x="748217" y="0"/>
                  </a:lnTo>
                  <a:lnTo>
                    <a:pt x="763484" y="49182"/>
                  </a:lnTo>
                  <a:cubicBezTo>
                    <a:pt x="843137" y="237505"/>
                    <a:pt x="1029612" y="369645"/>
                    <a:pt x="1246950" y="369645"/>
                  </a:cubicBezTo>
                  <a:cubicBezTo>
                    <a:pt x="1464288" y="369645"/>
                    <a:pt x="1650763" y="237505"/>
                    <a:pt x="1730417" y="49182"/>
                  </a:cubicBezTo>
                  <a:lnTo>
                    <a:pt x="1745684" y="0"/>
                  </a:lnTo>
                  <a:lnTo>
                    <a:pt x="2493900" y="0"/>
                  </a:lnTo>
                  <a:lnTo>
                    <a:pt x="2493900" y="812530"/>
                  </a:lnTo>
                  <a:lnTo>
                    <a:pt x="0" y="812530"/>
                  </a:lnTo>
                  <a:lnTo>
                    <a:pt x="0" y="0"/>
                  </a:lnTo>
                  <a:close/>
                </a:path>
              </a:pathLst>
            </a:custGeom>
            <a:solidFill>
              <a:srgbClr val="5C5C5C"/>
            </a:solidFill>
            <a:ln w="9525">
              <a:solidFill>
                <a:srgbClr val="5C5C5C"/>
              </a:solidFill>
            </a:ln>
          </p:spPr>
          <p:style>
            <a:lnRef idx="2">
              <a:schemeClr val="accent1">
                <a:shade val="15000"/>
              </a:schemeClr>
            </a:lnRef>
            <a:fillRef idx="1">
              <a:schemeClr val="accent1"/>
            </a:fillRef>
            <a:effectRef idx="0">
              <a:schemeClr val="accent1"/>
            </a:effectRef>
            <a:fontRef idx="minor">
              <a:schemeClr val="lt1"/>
            </a:fontRef>
          </p:style>
          <p:txBody>
            <a:bodyPr wrap="square" tIns="288000" rtlCol="0" anchor="ctr">
              <a:noAutofit/>
            </a:bodyPr>
            <a:lstStyle/>
            <a:p>
              <a:pPr algn="ctr"/>
              <a:r>
                <a:rPr lang="en-US" noProof="0" dirty="0">
                  <a:solidFill>
                    <a:schemeClr val="accent2"/>
                  </a:solidFill>
                </a:rPr>
                <a:t>Social media trends</a:t>
              </a:r>
            </a:p>
          </p:txBody>
        </p:sp>
        <p:sp>
          <p:nvSpPr>
            <p:cNvPr id="54" name="Oval 53">
              <a:extLst>
                <a:ext uri="{FF2B5EF4-FFF2-40B4-BE49-F238E27FC236}">
                  <a16:creationId xmlns:a16="http://schemas.microsoft.com/office/drawing/2014/main" id="{6555CCEF-2C79-D9D8-EFE9-C2750D9DFE3F}"/>
                </a:ext>
              </a:extLst>
            </p:cNvPr>
            <p:cNvSpPr/>
            <p:nvPr/>
          </p:nvSpPr>
          <p:spPr>
            <a:xfrm>
              <a:off x="4301850" y="1807206"/>
              <a:ext cx="914400" cy="914400"/>
            </a:xfrm>
            <a:prstGeom prst="ellipse">
              <a:avLst/>
            </a:prstGeom>
            <a:solidFill>
              <a:schemeClr val="bg2">
                <a:alpha val="2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7" name="Rectangle: Rounded Corners 66">
              <a:extLst>
                <a:ext uri="{FF2B5EF4-FFF2-40B4-BE49-F238E27FC236}">
                  <a16:creationId xmlns:a16="http://schemas.microsoft.com/office/drawing/2014/main" id="{5EBA24E4-3B99-FC44-02B0-7330FBC6D62A}"/>
                </a:ext>
              </a:extLst>
            </p:cNvPr>
            <p:cNvSpPr/>
            <p:nvPr/>
          </p:nvSpPr>
          <p:spPr>
            <a:xfrm>
              <a:off x="3512100" y="3155688"/>
              <a:ext cx="2493900" cy="2111375"/>
            </a:xfrm>
            <a:prstGeom prst="roundRect">
              <a:avLst>
                <a:gd name="adj" fmla="val 6145"/>
              </a:avLst>
            </a:prstGeom>
            <a:noFill/>
            <a:ln w="9525">
              <a:gradFill flip="none" rotWithShape="1">
                <a:gsLst>
                  <a:gs pos="0">
                    <a:srgbClr val="5C5C5C">
                      <a:alpha val="3000"/>
                    </a:srgbClr>
                  </a:gs>
                  <a:gs pos="100000">
                    <a:srgbClr val="5C5C5C"/>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r>
                <a:rPr lang="en-GB" sz="1400" noProof="0" dirty="0"/>
                <a:t>Amazon Bedrock leverages foundation models to </a:t>
              </a:r>
              <a:r>
                <a:rPr lang="en-GB" sz="1400" noProof="0" dirty="0">
                  <a:solidFill>
                    <a:schemeClr val="tx2"/>
                  </a:solidFill>
                </a:rPr>
                <a:t>scan massive datasets for “sentiment spikes” and “social buzz”, </a:t>
              </a:r>
              <a:r>
                <a:rPr lang="en-GB" sz="1400" noProof="0" dirty="0"/>
                <a:t>allowing brands to identify and capitalize on viral cultural shifts</a:t>
              </a:r>
              <a:endParaRPr lang="en-US" sz="1400" noProof="0" dirty="0"/>
            </a:p>
          </p:txBody>
        </p:sp>
        <p:pic>
          <p:nvPicPr>
            <p:cNvPr id="10" name="Graphic 9" descr="Statistics with solid fill">
              <a:extLst>
                <a:ext uri="{FF2B5EF4-FFF2-40B4-BE49-F238E27FC236}">
                  <a16:creationId xmlns:a16="http://schemas.microsoft.com/office/drawing/2014/main" id="{4A54A18D-9201-EE93-9C59-8AAB3684997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80607" y="1985963"/>
              <a:ext cx="556886" cy="556886"/>
            </a:xfrm>
            <a:prstGeom prst="rect">
              <a:avLst/>
            </a:prstGeom>
          </p:spPr>
        </p:pic>
      </p:grpSp>
      <p:grpSp>
        <p:nvGrpSpPr>
          <p:cNvPr id="18" name="Group 17">
            <a:extLst>
              <a:ext uri="{FF2B5EF4-FFF2-40B4-BE49-F238E27FC236}">
                <a16:creationId xmlns:a16="http://schemas.microsoft.com/office/drawing/2014/main" id="{C61EF316-F692-D797-5C65-66DBD8CD6C6A}"/>
              </a:ext>
            </a:extLst>
          </p:cNvPr>
          <p:cNvGrpSpPr/>
          <p:nvPr/>
        </p:nvGrpSpPr>
        <p:grpSpPr>
          <a:xfrm>
            <a:off x="6185999" y="1807206"/>
            <a:ext cx="2493901" cy="3459857"/>
            <a:chOff x="6185999" y="1807206"/>
            <a:chExt cx="2493901" cy="3459857"/>
          </a:xfrm>
        </p:grpSpPr>
        <p:sp>
          <p:nvSpPr>
            <p:cNvPr id="56" name="Freeform: Shape 55">
              <a:extLst>
                <a:ext uri="{FF2B5EF4-FFF2-40B4-BE49-F238E27FC236}">
                  <a16:creationId xmlns:a16="http://schemas.microsoft.com/office/drawing/2014/main" id="{817F20CF-4396-C49F-0390-866056D71660}"/>
                </a:ext>
              </a:extLst>
            </p:cNvPr>
            <p:cNvSpPr/>
            <p:nvPr/>
          </p:nvSpPr>
          <p:spPr>
            <a:xfrm>
              <a:off x="6186000" y="2419461"/>
              <a:ext cx="2493900" cy="812530"/>
            </a:xfrm>
            <a:custGeom>
              <a:avLst/>
              <a:gdLst>
                <a:gd name="csX0" fmla="*/ 0 w 2493900"/>
                <a:gd name="csY0" fmla="*/ 0 h 812530"/>
                <a:gd name="csX1" fmla="*/ 748217 w 2493900"/>
                <a:gd name="csY1" fmla="*/ 0 h 812530"/>
                <a:gd name="csX2" fmla="*/ 763484 w 2493900"/>
                <a:gd name="csY2" fmla="*/ 49182 h 812530"/>
                <a:gd name="csX3" fmla="*/ 1246950 w 2493900"/>
                <a:gd name="csY3" fmla="*/ 369645 h 812530"/>
                <a:gd name="csX4" fmla="*/ 1730417 w 2493900"/>
                <a:gd name="csY4" fmla="*/ 49182 h 812530"/>
                <a:gd name="csX5" fmla="*/ 1745684 w 2493900"/>
                <a:gd name="csY5" fmla="*/ 0 h 812530"/>
                <a:gd name="csX6" fmla="*/ 2493900 w 2493900"/>
                <a:gd name="csY6" fmla="*/ 0 h 812530"/>
                <a:gd name="csX7" fmla="*/ 2493900 w 2493900"/>
                <a:gd name="csY7" fmla="*/ 812530 h 812530"/>
                <a:gd name="csX8" fmla="*/ 0 w 2493900"/>
                <a:gd name="csY8" fmla="*/ 812530 h 812530"/>
                <a:gd name="csX9" fmla="*/ 0 w 2493900"/>
                <a:gd name="csY9" fmla="*/ 0 h 812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493900" h="812530">
                  <a:moveTo>
                    <a:pt x="0" y="0"/>
                  </a:moveTo>
                  <a:lnTo>
                    <a:pt x="748217" y="0"/>
                  </a:lnTo>
                  <a:lnTo>
                    <a:pt x="763484" y="49182"/>
                  </a:lnTo>
                  <a:cubicBezTo>
                    <a:pt x="843137" y="237505"/>
                    <a:pt x="1029612" y="369645"/>
                    <a:pt x="1246950" y="369645"/>
                  </a:cubicBezTo>
                  <a:cubicBezTo>
                    <a:pt x="1464288" y="369645"/>
                    <a:pt x="1650763" y="237505"/>
                    <a:pt x="1730417" y="49182"/>
                  </a:cubicBezTo>
                  <a:lnTo>
                    <a:pt x="1745684" y="0"/>
                  </a:lnTo>
                  <a:lnTo>
                    <a:pt x="2493900" y="0"/>
                  </a:lnTo>
                  <a:lnTo>
                    <a:pt x="2493900" y="812530"/>
                  </a:lnTo>
                  <a:lnTo>
                    <a:pt x="0" y="812530"/>
                  </a:lnTo>
                  <a:lnTo>
                    <a:pt x="0" y="0"/>
                  </a:lnTo>
                  <a:close/>
                </a:path>
              </a:pathLst>
            </a:custGeom>
            <a:solidFill>
              <a:srgbClr val="5C5C5C"/>
            </a:solidFill>
            <a:ln w="9525">
              <a:solidFill>
                <a:srgbClr val="5C5C5C"/>
              </a:solidFill>
            </a:ln>
          </p:spPr>
          <p:style>
            <a:lnRef idx="2">
              <a:schemeClr val="accent1">
                <a:shade val="15000"/>
              </a:schemeClr>
            </a:lnRef>
            <a:fillRef idx="1">
              <a:schemeClr val="accent1"/>
            </a:fillRef>
            <a:effectRef idx="0">
              <a:schemeClr val="accent1"/>
            </a:effectRef>
            <a:fontRef idx="minor">
              <a:schemeClr val="lt1"/>
            </a:fontRef>
          </p:style>
          <p:txBody>
            <a:bodyPr wrap="square" tIns="288000" rtlCol="0" anchor="ctr">
              <a:noAutofit/>
            </a:bodyPr>
            <a:lstStyle/>
            <a:p>
              <a:pPr algn="ctr"/>
              <a:r>
                <a:rPr lang="en-US" noProof="0" dirty="0">
                  <a:solidFill>
                    <a:schemeClr val="accent2"/>
                  </a:solidFill>
                </a:rPr>
                <a:t>Amazon Personalize</a:t>
              </a:r>
            </a:p>
          </p:txBody>
        </p:sp>
        <p:sp>
          <p:nvSpPr>
            <p:cNvPr id="57" name="Oval 56">
              <a:extLst>
                <a:ext uri="{FF2B5EF4-FFF2-40B4-BE49-F238E27FC236}">
                  <a16:creationId xmlns:a16="http://schemas.microsoft.com/office/drawing/2014/main" id="{BF00824E-FDFE-699E-5352-D8F35DF0B2EC}"/>
                </a:ext>
              </a:extLst>
            </p:cNvPr>
            <p:cNvSpPr/>
            <p:nvPr/>
          </p:nvSpPr>
          <p:spPr>
            <a:xfrm>
              <a:off x="6975750" y="1807206"/>
              <a:ext cx="914400" cy="914400"/>
            </a:xfrm>
            <a:prstGeom prst="ellipse">
              <a:avLst/>
            </a:prstGeom>
            <a:solidFill>
              <a:schemeClr val="bg2">
                <a:alpha val="2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8" name="Rectangle: Rounded Corners 67">
              <a:extLst>
                <a:ext uri="{FF2B5EF4-FFF2-40B4-BE49-F238E27FC236}">
                  <a16:creationId xmlns:a16="http://schemas.microsoft.com/office/drawing/2014/main" id="{FBB56FA8-6C55-5F5C-CA4C-68192FD1348B}"/>
                </a:ext>
              </a:extLst>
            </p:cNvPr>
            <p:cNvSpPr/>
            <p:nvPr/>
          </p:nvSpPr>
          <p:spPr>
            <a:xfrm>
              <a:off x="6185999" y="3155688"/>
              <a:ext cx="2493900" cy="2111375"/>
            </a:xfrm>
            <a:prstGeom prst="roundRect">
              <a:avLst>
                <a:gd name="adj" fmla="val 6145"/>
              </a:avLst>
            </a:prstGeom>
            <a:noFill/>
            <a:ln w="9525">
              <a:gradFill flip="none" rotWithShape="1">
                <a:gsLst>
                  <a:gs pos="0">
                    <a:srgbClr val="5C5C5C">
                      <a:alpha val="3000"/>
                    </a:srgbClr>
                  </a:gs>
                  <a:gs pos="100000">
                    <a:srgbClr val="5C5C5C"/>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r>
                <a:rPr lang="en-GB" sz="1400" dirty="0"/>
                <a:t>By monitoring various interactions to </a:t>
              </a:r>
              <a:r>
                <a:rPr lang="en-GB" sz="1400" dirty="0">
                  <a:solidFill>
                    <a:schemeClr val="tx2"/>
                  </a:solidFill>
                </a:rPr>
                <a:t>identify “latent demand”,</a:t>
              </a:r>
              <a:r>
                <a:rPr lang="en-GB" sz="1400" dirty="0"/>
                <a:t> Amazon Personalize blends real-time and historical data to ensure recommendations remain continuously fresh</a:t>
              </a:r>
              <a:endParaRPr lang="en-US" sz="1400" noProof="0" dirty="0">
                <a:solidFill>
                  <a:srgbClr val="1F1F1F"/>
                </a:solidFill>
                <a:latin typeface="Inter" panose="02000503000000020004" pitchFamily="2" charset="0"/>
              </a:endParaRPr>
            </a:p>
          </p:txBody>
        </p:sp>
        <p:pic>
          <p:nvPicPr>
            <p:cNvPr id="12" name="Graphic 11" descr="Target with solid fill">
              <a:extLst>
                <a:ext uri="{FF2B5EF4-FFF2-40B4-BE49-F238E27FC236}">
                  <a16:creationId xmlns:a16="http://schemas.microsoft.com/office/drawing/2014/main" id="{A4A203CF-2054-44D5-A4E2-AA087B31E81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54507" y="1985963"/>
              <a:ext cx="556886" cy="556886"/>
            </a:xfrm>
            <a:prstGeom prst="rect">
              <a:avLst/>
            </a:prstGeom>
          </p:spPr>
        </p:pic>
      </p:grpSp>
      <p:grpSp>
        <p:nvGrpSpPr>
          <p:cNvPr id="19" name="Group 18">
            <a:extLst>
              <a:ext uri="{FF2B5EF4-FFF2-40B4-BE49-F238E27FC236}">
                <a16:creationId xmlns:a16="http://schemas.microsoft.com/office/drawing/2014/main" id="{17757F6D-9384-99EC-2872-C9436C7B755E}"/>
              </a:ext>
            </a:extLst>
          </p:cNvPr>
          <p:cNvGrpSpPr/>
          <p:nvPr/>
        </p:nvGrpSpPr>
        <p:grpSpPr>
          <a:xfrm>
            <a:off x="8859900" y="1807206"/>
            <a:ext cx="2493900" cy="3459857"/>
            <a:chOff x="8859900" y="1807206"/>
            <a:chExt cx="2493900" cy="3459857"/>
          </a:xfrm>
        </p:grpSpPr>
        <p:sp>
          <p:nvSpPr>
            <p:cNvPr id="59" name="Freeform: Shape 58">
              <a:extLst>
                <a:ext uri="{FF2B5EF4-FFF2-40B4-BE49-F238E27FC236}">
                  <a16:creationId xmlns:a16="http://schemas.microsoft.com/office/drawing/2014/main" id="{C0DB9000-D712-B2AC-1577-C8439B3A4059}"/>
                </a:ext>
              </a:extLst>
            </p:cNvPr>
            <p:cNvSpPr/>
            <p:nvPr/>
          </p:nvSpPr>
          <p:spPr>
            <a:xfrm>
              <a:off x="8859900" y="2419461"/>
              <a:ext cx="2493900" cy="812530"/>
            </a:xfrm>
            <a:custGeom>
              <a:avLst/>
              <a:gdLst>
                <a:gd name="csX0" fmla="*/ 0 w 2493900"/>
                <a:gd name="csY0" fmla="*/ 0 h 812530"/>
                <a:gd name="csX1" fmla="*/ 748217 w 2493900"/>
                <a:gd name="csY1" fmla="*/ 0 h 812530"/>
                <a:gd name="csX2" fmla="*/ 763484 w 2493900"/>
                <a:gd name="csY2" fmla="*/ 49182 h 812530"/>
                <a:gd name="csX3" fmla="*/ 1246950 w 2493900"/>
                <a:gd name="csY3" fmla="*/ 369645 h 812530"/>
                <a:gd name="csX4" fmla="*/ 1730417 w 2493900"/>
                <a:gd name="csY4" fmla="*/ 49182 h 812530"/>
                <a:gd name="csX5" fmla="*/ 1745684 w 2493900"/>
                <a:gd name="csY5" fmla="*/ 0 h 812530"/>
                <a:gd name="csX6" fmla="*/ 2493900 w 2493900"/>
                <a:gd name="csY6" fmla="*/ 0 h 812530"/>
                <a:gd name="csX7" fmla="*/ 2493900 w 2493900"/>
                <a:gd name="csY7" fmla="*/ 812530 h 812530"/>
                <a:gd name="csX8" fmla="*/ 0 w 2493900"/>
                <a:gd name="csY8" fmla="*/ 812530 h 812530"/>
                <a:gd name="csX9" fmla="*/ 0 w 2493900"/>
                <a:gd name="csY9" fmla="*/ 0 h 8125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493900" h="812530">
                  <a:moveTo>
                    <a:pt x="0" y="0"/>
                  </a:moveTo>
                  <a:lnTo>
                    <a:pt x="748217" y="0"/>
                  </a:lnTo>
                  <a:lnTo>
                    <a:pt x="763484" y="49182"/>
                  </a:lnTo>
                  <a:cubicBezTo>
                    <a:pt x="843137" y="237505"/>
                    <a:pt x="1029612" y="369645"/>
                    <a:pt x="1246950" y="369645"/>
                  </a:cubicBezTo>
                  <a:cubicBezTo>
                    <a:pt x="1464288" y="369645"/>
                    <a:pt x="1650763" y="237505"/>
                    <a:pt x="1730417" y="49182"/>
                  </a:cubicBezTo>
                  <a:lnTo>
                    <a:pt x="1745684" y="0"/>
                  </a:lnTo>
                  <a:lnTo>
                    <a:pt x="2493900" y="0"/>
                  </a:lnTo>
                  <a:lnTo>
                    <a:pt x="2493900" y="812530"/>
                  </a:lnTo>
                  <a:lnTo>
                    <a:pt x="0" y="812530"/>
                  </a:lnTo>
                  <a:lnTo>
                    <a:pt x="0" y="0"/>
                  </a:lnTo>
                  <a:close/>
                </a:path>
              </a:pathLst>
            </a:custGeom>
            <a:solidFill>
              <a:srgbClr val="5C5C5C"/>
            </a:solidFill>
            <a:ln w="9525">
              <a:solidFill>
                <a:srgbClr val="5C5C5C"/>
              </a:solidFill>
            </a:ln>
          </p:spPr>
          <p:style>
            <a:lnRef idx="2">
              <a:schemeClr val="accent1">
                <a:shade val="15000"/>
              </a:schemeClr>
            </a:lnRef>
            <a:fillRef idx="1">
              <a:schemeClr val="accent1"/>
            </a:fillRef>
            <a:effectRef idx="0">
              <a:schemeClr val="accent1"/>
            </a:effectRef>
            <a:fontRef idx="minor">
              <a:schemeClr val="lt1"/>
            </a:fontRef>
          </p:style>
          <p:txBody>
            <a:bodyPr wrap="square" tIns="288000" rtlCol="0" anchor="ctr">
              <a:noAutofit/>
            </a:bodyPr>
            <a:lstStyle/>
            <a:p>
              <a:pPr algn="ctr"/>
              <a:r>
                <a:rPr lang="en-US" noProof="0" dirty="0">
                  <a:solidFill>
                    <a:schemeClr val="accent2"/>
                  </a:solidFill>
                </a:rPr>
                <a:t>Adaptive Logistics</a:t>
              </a:r>
            </a:p>
          </p:txBody>
        </p:sp>
        <p:sp>
          <p:nvSpPr>
            <p:cNvPr id="60" name="Oval 59">
              <a:extLst>
                <a:ext uri="{FF2B5EF4-FFF2-40B4-BE49-F238E27FC236}">
                  <a16:creationId xmlns:a16="http://schemas.microsoft.com/office/drawing/2014/main" id="{D0C320F2-255B-C641-748C-B6588DE0B872}"/>
                </a:ext>
              </a:extLst>
            </p:cNvPr>
            <p:cNvSpPr/>
            <p:nvPr/>
          </p:nvSpPr>
          <p:spPr>
            <a:xfrm>
              <a:off x="9649650" y="1807206"/>
              <a:ext cx="914400" cy="914400"/>
            </a:xfrm>
            <a:prstGeom prst="ellipse">
              <a:avLst/>
            </a:prstGeom>
            <a:solidFill>
              <a:schemeClr val="bg2">
                <a:alpha val="2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9" name="Rectangle: Rounded Corners 68">
              <a:extLst>
                <a:ext uri="{FF2B5EF4-FFF2-40B4-BE49-F238E27FC236}">
                  <a16:creationId xmlns:a16="http://schemas.microsoft.com/office/drawing/2014/main" id="{188537A3-192D-E039-82FE-F3FBD36231F4}"/>
                </a:ext>
              </a:extLst>
            </p:cNvPr>
            <p:cNvSpPr/>
            <p:nvPr/>
          </p:nvSpPr>
          <p:spPr>
            <a:xfrm>
              <a:off x="8859900" y="3155688"/>
              <a:ext cx="2493900" cy="2111375"/>
            </a:xfrm>
            <a:prstGeom prst="roundRect">
              <a:avLst>
                <a:gd name="adj" fmla="val 6145"/>
              </a:avLst>
            </a:prstGeom>
            <a:noFill/>
            <a:ln w="9525">
              <a:gradFill flip="none" rotWithShape="1">
                <a:gsLst>
                  <a:gs pos="0">
                    <a:srgbClr val="5C5C5C">
                      <a:alpha val="3000"/>
                    </a:srgbClr>
                  </a:gs>
                  <a:gs pos="100000">
                    <a:srgbClr val="5C5C5C"/>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r>
                <a:rPr lang="en-GB" sz="1400" noProof="0" dirty="0"/>
                <a:t>By integrating environmental data and regional preferences, they achieve </a:t>
              </a:r>
              <a:r>
                <a:rPr lang="en-GB" sz="1400" noProof="0" dirty="0">
                  <a:solidFill>
                    <a:schemeClr val="tx2"/>
                  </a:solidFill>
                </a:rPr>
                <a:t>unprecedented accuracy in optimizing millions of inventory </a:t>
              </a:r>
              <a:r>
                <a:rPr lang="en-GB" sz="1400" noProof="0" dirty="0"/>
                <a:t>and can reroute shipping </a:t>
              </a:r>
              <a:r>
                <a:rPr lang="en-GB" sz="1400" spc="-20" noProof="0" dirty="0"/>
                <a:t>for maximum value and safety</a:t>
              </a:r>
              <a:endParaRPr lang="en-US" sz="1400" spc="-20" noProof="0" dirty="0">
                <a:solidFill>
                  <a:srgbClr val="1F1F1F"/>
                </a:solidFill>
                <a:latin typeface="Inter" panose="02000503000000020004" pitchFamily="2" charset="0"/>
              </a:endParaRPr>
            </a:p>
          </p:txBody>
        </p:sp>
        <p:pic>
          <p:nvPicPr>
            <p:cNvPr id="15" name="Graphic 14" descr="Truck with solid fill">
              <a:extLst>
                <a:ext uri="{FF2B5EF4-FFF2-40B4-BE49-F238E27FC236}">
                  <a16:creationId xmlns:a16="http://schemas.microsoft.com/office/drawing/2014/main" id="{9DE74862-6FB5-A53A-704D-B12FF771CA7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828406" y="1985963"/>
              <a:ext cx="556886" cy="556886"/>
            </a:xfrm>
            <a:prstGeom prst="rect">
              <a:avLst/>
            </a:prstGeom>
          </p:spPr>
        </p:pic>
      </p:grpSp>
    </p:spTree>
    <p:extLst>
      <p:ext uri="{BB962C8B-B14F-4D97-AF65-F5344CB8AC3E}">
        <p14:creationId xmlns:p14="http://schemas.microsoft.com/office/powerpoint/2010/main" val="150793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1FA801A-6722-1A54-090E-57F370D12C30}"/>
              </a:ext>
            </a:extLst>
          </p:cNvPr>
          <p:cNvGraphicFramePr>
            <a:graphicFrameLocks/>
          </p:cNvGraphicFramePr>
          <p:nvPr>
            <p:custDataLst>
              <p:tags r:id="rId1"/>
            </p:custDataLst>
            <p:extLst>
              <p:ext uri="{D42A27DB-BD31-4B8C-83A1-F6EECF244321}">
                <p14:modId xmlns:p14="http://schemas.microsoft.com/office/powerpoint/2010/main" val="780880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6" name="think-cell data - do not delete" hidden="1">
                        <a:extLst>
                          <a:ext uri="{FF2B5EF4-FFF2-40B4-BE49-F238E27FC236}">
                            <a16:creationId xmlns:a16="http://schemas.microsoft.com/office/drawing/2014/main" id="{A1FA801A-6722-1A54-090E-57F370D12C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15" name="Gerader Verbinder 20">
            <a:extLst>
              <a:ext uri="{FF2B5EF4-FFF2-40B4-BE49-F238E27FC236}">
                <a16:creationId xmlns:a16="http://schemas.microsoft.com/office/drawing/2014/main" id="{C8634187-1ACC-E279-9A08-104911F42101}"/>
              </a:ext>
            </a:extLst>
          </p:cNvPr>
          <p:cNvCxnSpPr>
            <a:cxnSpLocks/>
          </p:cNvCxnSpPr>
          <p:nvPr/>
        </p:nvCxnSpPr>
        <p:spPr bwMode="gray">
          <a:xfrm>
            <a:off x="1139310" y="4391660"/>
            <a:ext cx="0" cy="1239520"/>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20">
            <a:extLst>
              <a:ext uri="{FF2B5EF4-FFF2-40B4-BE49-F238E27FC236}">
                <a16:creationId xmlns:a16="http://schemas.microsoft.com/office/drawing/2014/main" id="{F47E7570-8CD9-3513-CDF0-48E9D106ED02}"/>
              </a:ext>
            </a:extLst>
          </p:cNvPr>
          <p:cNvCxnSpPr>
            <a:cxnSpLocks/>
          </p:cNvCxnSpPr>
          <p:nvPr/>
        </p:nvCxnSpPr>
        <p:spPr bwMode="gray">
          <a:xfrm>
            <a:off x="1139310" y="3168650"/>
            <a:ext cx="0" cy="1239520"/>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C5AFA4F4-0E11-C7EB-1023-7A1A6F7E2801}"/>
              </a:ext>
            </a:extLst>
          </p:cNvPr>
          <p:cNvSpPr>
            <a:spLocks noGrp="1"/>
          </p:cNvSpPr>
          <p:nvPr>
            <p:ph type="title"/>
          </p:nvPr>
        </p:nvSpPr>
        <p:spPr>
          <a:xfrm>
            <a:off x="838200" y="365125"/>
            <a:ext cx="10515600" cy="840230"/>
          </a:xfrm>
        </p:spPr>
        <p:txBody>
          <a:bodyPr vert="horz" rIns="91440">
            <a:noAutofit/>
          </a:bodyPr>
          <a:lstStyle/>
          <a:p>
            <a:r>
              <a:rPr lang="en-US" dirty="0"/>
              <a:t>The power of Anticipatory shipping</a:t>
            </a:r>
            <a:br>
              <a:rPr lang="en-US" dirty="0"/>
            </a:br>
            <a:r>
              <a:rPr lang="en-IN" sz="1800" dirty="0"/>
              <a:t>Transforming</a:t>
            </a:r>
            <a:r>
              <a:rPr lang="en-GB" sz="1800" dirty="0"/>
              <a:t> logistics from reactive to proactive</a:t>
            </a:r>
            <a:endParaRPr lang="en-US" sz="1800" dirty="0"/>
          </a:p>
        </p:txBody>
      </p:sp>
      <p:sp>
        <p:nvSpPr>
          <p:cNvPr id="4" name="Slide Number Placeholder 3">
            <a:extLst>
              <a:ext uri="{FF2B5EF4-FFF2-40B4-BE49-F238E27FC236}">
                <a16:creationId xmlns:a16="http://schemas.microsoft.com/office/drawing/2014/main" id="{3722E237-5217-6B57-754C-DBDDC43686A8}"/>
              </a:ext>
            </a:extLst>
          </p:cNvPr>
          <p:cNvSpPr>
            <a:spLocks noGrp="1"/>
          </p:cNvSpPr>
          <p:nvPr>
            <p:ph type="sldNum" sz="quarter" idx="12"/>
          </p:nvPr>
        </p:nvSpPr>
        <p:spPr/>
        <p:txBody>
          <a:bodyPr/>
          <a:lstStyle/>
          <a:p>
            <a:fld id="{49882A7A-00EB-4D45-AA64-F8A75FA21FCC}" type="slidenum">
              <a:rPr lang="en-US" noProof="0" smtClean="0"/>
              <a:pPr/>
              <a:t>5</a:t>
            </a:fld>
            <a:endParaRPr lang="en-US" noProof="0" dirty="0"/>
          </a:p>
        </p:txBody>
      </p:sp>
      <p:sp>
        <p:nvSpPr>
          <p:cNvPr id="38" name="Content Placeholder 2">
            <a:extLst>
              <a:ext uri="{FF2B5EF4-FFF2-40B4-BE49-F238E27FC236}">
                <a16:creationId xmlns:a16="http://schemas.microsoft.com/office/drawing/2014/main" id="{D098793E-B76E-04B9-A283-98DB427213B4}"/>
              </a:ext>
            </a:extLst>
          </p:cNvPr>
          <p:cNvSpPr txBox="1">
            <a:spLocks/>
          </p:cNvSpPr>
          <p:nvPr/>
        </p:nvSpPr>
        <p:spPr>
          <a:xfrm>
            <a:off x="6243850" y="2798929"/>
            <a:ext cx="5109949" cy="92333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200" noProof="0" dirty="0"/>
              <a:t>Anticipatory shipping evolved from Amazon’s traditional demand forecasting techniques. While Amazon had long optimized inventory placement, their </a:t>
            </a:r>
            <a:r>
              <a:rPr lang="en-GB" sz="1200" noProof="0" dirty="0">
                <a:solidFill>
                  <a:schemeClr val="bg1"/>
                </a:solidFill>
              </a:rPr>
              <a:t>2013 patent took a bold step forward by </a:t>
            </a:r>
            <a:r>
              <a:rPr lang="en-GB" sz="1200" noProof="0" dirty="0">
                <a:solidFill>
                  <a:schemeClr val="tx2"/>
                </a:solidFill>
              </a:rPr>
              <a:t>shipping products based on predictions, rather than waiting for confirmed orders</a:t>
            </a:r>
            <a:endParaRPr lang="en-US" sz="1200" noProof="0" dirty="0"/>
          </a:p>
        </p:txBody>
      </p:sp>
      <p:sp>
        <p:nvSpPr>
          <p:cNvPr id="3" name="Content Placeholder 2">
            <a:extLst>
              <a:ext uri="{FF2B5EF4-FFF2-40B4-BE49-F238E27FC236}">
                <a16:creationId xmlns:a16="http://schemas.microsoft.com/office/drawing/2014/main" id="{C3720C82-18B6-330B-CB39-057AE1B61275}"/>
              </a:ext>
            </a:extLst>
          </p:cNvPr>
          <p:cNvSpPr txBox="1">
            <a:spLocks/>
          </p:cNvSpPr>
          <p:nvPr/>
        </p:nvSpPr>
        <p:spPr>
          <a:xfrm>
            <a:off x="6243850" y="3874659"/>
            <a:ext cx="5109949" cy="73866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200" noProof="0" dirty="0"/>
              <a:t>This concept exemplifies the </a:t>
            </a:r>
            <a:r>
              <a:rPr lang="en-GB" sz="1200" noProof="0" dirty="0">
                <a:solidFill>
                  <a:schemeClr val="tx2"/>
                </a:solidFill>
              </a:rPr>
              <a:t>shift described in later economic research, such as Agrawal, Gans, and Goldfarb’s </a:t>
            </a:r>
            <a:r>
              <a:rPr lang="en-GB" sz="1200" i="1" noProof="0" dirty="0">
                <a:solidFill>
                  <a:schemeClr val="tx2"/>
                </a:solidFill>
              </a:rPr>
              <a:t>Prediction Machines</a:t>
            </a:r>
            <a:r>
              <a:rPr lang="en-GB" sz="1200" noProof="0" dirty="0"/>
              <a:t>, which highlights how AI systems can transform business models</a:t>
            </a:r>
            <a:endParaRPr lang="en-US" sz="1200" noProof="0" dirty="0"/>
          </a:p>
        </p:txBody>
      </p:sp>
      <p:sp>
        <p:nvSpPr>
          <p:cNvPr id="5" name="Content Placeholder 2">
            <a:extLst>
              <a:ext uri="{FF2B5EF4-FFF2-40B4-BE49-F238E27FC236}">
                <a16:creationId xmlns:a16="http://schemas.microsoft.com/office/drawing/2014/main" id="{7C84AB95-D5E1-66DB-B4F4-72375ACC5187}"/>
              </a:ext>
            </a:extLst>
          </p:cNvPr>
          <p:cNvSpPr txBox="1">
            <a:spLocks/>
          </p:cNvSpPr>
          <p:nvPr/>
        </p:nvSpPr>
        <p:spPr>
          <a:xfrm>
            <a:off x="6243850" y="4765723"/>
            <a:ext cx="5109949" cy="1107996"/>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pPr>
            <a:r>
              <a:rPr lang="en-GB" sz="1200" noProof="0" dirty="0"/>
              <a:t>Unlike the </a:t>
            </a:r>
            <a:r>
              <a:rPr lang="en-GB" sz="1200" dirty="0"/>
              <a:t>traditional </a:t>
            </a:r>
            <a:r>
              <a:rPr lang="en-GB" sz="1200" b="1" dirty="0"/>
              <a:t>shop‑then</a:t>
            </a:r>
            <a:r>
              <a:rPr lang="en-GB" sz="1200" b="1" noProof="0" dirty="0"/>
              <a:t>‑ship model</a:t>
            </a:r>
            <a:r>
              <a:rPr lang="en-GB" sz="1200" noProof="0" dirty="0"/>
              <a:t>, which begins with consumer search and ends with product shipment, under the </a:t>
            </a:r>
            <a:r>
              <a:rPr lang="en-GB" sz="1200" b="1" noProof="0" dirty="0"/>
              <a:t>ship</a:t>
            </a:r>
            <a:r>
              <a:rPr lang="en-GB" sz="1200" b="1" dirty="0"/>
              <a:t>‑</a:t>
            </a:r>
            <a:r>
              <a:rPr lang="en-GB" sz="1200" b="1" noProof="0" dirty="0"/>
              <a:t>then</a:t>
            </a:r>
            <a:r>
              <a:rPr lang="en-GB" sz="1200" b="1" dirty="0"/>
              <a:t>‑</a:t>
            </a:r>
            <a:r>
              <a:rPr lang="en-GB" sz="1200" b="1" noProof="0" dirty="0"/>
              <a:t>shop model</a:t>
            </a:r>
            <a:r>
              <a:rPr lang="en-GB" sz="1200" noProof="0" dirty="0"/>
              <a:t>, </a:t>
            </a:r>
            <a:r>
              <a:rPr lang="en-GB" sz="1200" noProof="0" dirty="0">
                <a:solidFill>
                  <a:schemeClr val="tx2"/>
                </a:solidFill>
              </a:rPr>
              <a:t>the firm leverages its AI capability to predict consumers’ preferences and ships the product to them</a:t>
            </a:r>
            <a:r>
              <a:rPr lang="en-GB" sz="1200" noProof="0" dirty="0"/>
              <a:t>; consumers then evaluate product fit and decide whether to purchase or return the product.</a:t>
            </a:r>
            <a:endParaRPr lang="en-US" sz="1200" noProof="0" dirty="0"/>
          </a:p>
        </p:txBody>
      </p:sp>
      <p:sp>
        <p:nvSpPr>
          <p:cNvPr id="12" name="Title 6">
            <a:extLst>
              <a:ext uri="{FF2B5EF4-FFF2-40B4-BE49-F238E27FC236}">
                <a16:creationId xmlns:a16="http://schemas.microsoft.com/office/drawing/2014/main" id="{D107E7AB-1094-5A0F-771C-BF053F39D43E}"/>
              </a:ext>
            </a:extLst>
          </p:cNvPr>
          <p:cNvSpPr txBox="1">
            <a:spLocks/>
          </p:cNvSpPr>
          <p:nvPr/>
        </p:nvSpPr>
        <p:spPr>
          <a:xfrm>
            <a:off x="838200" y="1447948"/>
            <a:ext cx="10515600" cy="492443"/>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pPr>
              <a:lnSpc>
                <a:spcPct val="100000"/>
              </a:lnSpc>
            </a:pPr>
            <a:r>
              <a:rPr lang="en-GB" sz="1600" dirty="0">
                <a:latin typeface="+mn-lt"/>
              </a:rPr>
              <a:t>A </a:t>
            </a:r>
            <a:r>
              <a:rPr lang="en-GB" sz="1600" dirty="0" err="1">
                <a:latin typeface="+mn-lt"/>
              </a:rPr>
              <a:t>fulfillment</a:t>
            </a:r>
            <a:r>
              <a:rPr lang="en-GB" sz="1600" dirty="0">
                <a:latin typeface="+mn-lt"/>
              </a:rPr>
              <a:t> strategy patented by Amazon in 2013 that ships products before customers order them, using predictive analytics, which enables them to anticipate demand instead of just responding to it.</a:t>
            </a:r>
            <a:endParaRPr lang="en-US" sz="1600" dirty="0">
              <a:latin typeface="+mn-lt"/>
            </a:endParaRPr>
          </a:p>
        </p:txBody>
      </p:sp>
      <p:sp>
        <p:nvSpPr>
          <p:cNvPr id="13" name="Content Placeholder 2">
            <a:extLst>
              <a:ext uri="{FF2B5EF4-FFF2-40B4-BE49-F238E27FC236}">
                <a16:creationId xmlns:a16="http://schemas.microsoft.com/office/drawing/2014/main" id="{D60D4779-6BED-5258-1F36-EECF42A000ED}"/>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800" dirty="0">
                <a:hlinkClick r:id="rId6"/>
              </a:rPr>
              <a:t>Ship_then_shop_vs_shop_then_ship1.pdf</a:t>
            </a:r>
            <a:endParaRPr lang="en-US" sz="700" dirty="0">
              <a:hlinkClick r:id="rId7"/>
            </a:endParaRPr>
          </a:p>
          <a:p>
            <a:pPr marL="0" indent="0">
              <a:spcBef>
                <a:spcPts val="0"/>
              </a:spcBef>
              <a:buNone/>
            </a:pPr>
            <a:r>
              <a:rPr lang="en-GB" sz="800" dirty="0">
                <a:hlinkClick r:id="rId8"/>
              </a:rPr>
              <a:t>Amazon Inventory Placement Service: Fees &amp; Alternatives</a:t>
            </a:r>
            <a:endParaRPr lang="en-US" sz="700" dirty="0">
              <a:hlinkClick r:id="rId7"/>
            </a:endParaRPr>
          </a:p>
          <a:p>
            <a:pPr marL="0" indent="0">
              <a:spcBef>
                <a:spcPts val="0"/>
              </a:spcBef>
              <a:buNone/>
            </a:pPr>
            <a:r>
              <a:rPr lang="en-US" sz="700" dirty="0">
                <a:hlinkClick r:id="rId7"/>
              </a:rPr>
              <a:t>US8615473B2 - Method and system for anticipatory package shipping - Google Patents</a:t>
            </a:r>
            <a:endParaRPr lang="en-US" sz="700" dirty="0"/>
          </a:p>
        </p:txBody>
      </p:sp>
      <p:sp>
        <p:nvSpPr>
          <p:cNvPr id="24" name="Rectangle 3">
            <a:extLst>
              <a:ext uri="{FF2B5EF4-FFF2-40B4-BE49-F238E27FC236}">
                <a16:creationId xmlns:a16="http://schemas.microsoft.com/office/drawing/2014/main" id="{BFCB8D26-96EF-0750-3BCC-2F5193BD7BA6}"/>
              </a:ext>
            </a:extLst>
          </p:cNvPr>
          <p:cNvSpPr>
            <a:spLocks/>
          </p:cNvSpPr>
          <p:nvPr/>
        </p:nvSpPr>
        <p:spPr bwMode="gray">
          <a:xfrm>
            <a:off x="1718538" y="2798929"/>
            <a:ext cx="3420200" cy="738664"/>
          </a:xfrm>
          <a:prstGeom prst="rect">
            <a:avLst/>
          </a:prstGeom>
          <a:noFill/>
          <a:ln w="9525" algn="ctr">
            <a:noFill/>
            <a:miter lim="800000"/>
            <a:headEnd/>
            <a:tailEnd/>
          </a:ln>
          <a:effectLst/>
        </p:spPr>
        <p:txBody>
          <a:bodyPr wrap="square" lIns="0" tIns="0" rIns="0" bIns="0" anchor="t">
            <a:noAutofit/>
          </a:bodyPr>
          <a:lstStyle/>
          <a:p>
            <a:pPr marR="0" lvl="0" fontAlgn="auto">
              <a:spcAft>
                <a:spcPts val="0"/>
              </a:spcAft>
              <a:buClr>
                <a:srgbClr val="000000"/>
              </a:buClr>
              <a:buSzTx/>
              <a:tabLst/>
              <a:defRPr/>
            </a:pPr>
            <a:r>
              <a:rPr lang="en-US" sz="1200" b="1" dirty="0">
                <a:solidFill>
                  <a:schemeClr val="tx2"/>
                </a:solidFill>
              </a:rPr>
              <a:t>Pre-shipment logistics</a:t>
            </a:r>
          </a:p>
          <a:p>
            <a:pPr marL="171450" marR="0" lvl="0" indent="-171450" fontAlgn="auto">
              <a:spcAft>
                <a:spcPts val="0"/>
              </a:spcAft>
              <a:buClr>
                <a:schemeClr val="tx2"/>
              </a:buClr>
              <a:buSzTx/>
              <a:buFont typeface="Arial" panose="020B0604020202020204" pitchFamily="34" charset="0"/>
              <a:buChar char="•"/>
              <a:tabLst/>
              <a:defRPr/>
            </a:pPr>
            <a:r>
              <a:rPr lang="en-GB" sz="1200" dirty="0"/>
              <a:t>Products are picked, packed, and staged before customers click “buy” using advanced robotics and automation</a:t>
            </a:r>
            <a:endParaRPr lang="en-US" sz="1200" dirty="0"/>
          </a:p>
        </p:txBody>
      </p:sp>
      <p:sp>
        <p:nvSpPr>
          <p:cNvPr id="28" name="Rectangle 3">
            <a:extLst>
              <a:ext uri="{FF2B5EF4-FFF2-40B4-BE49-F238E27FC236}">
                <a16:creationId xmlns:a16="http://schemas.microsoft.com/office/drawing/2014/main" id="{0650ED6C-68B0-ECC9-21FB-8C16CC664D09}"/>
              </a:ext>
            </a:extLst>
          </p:cNvPr>
          <p:cNvSpPr>
            <a:spLocks/>
          </p:cNvSpPr>
          <p:nvPr/>
        </p:nvSpPr>
        <p:spPr bwMode="gray">
          <a:xfrm>
            <a:off x="1718538" y="4030020"/>
            <a:ext cx="3420200" cy="923330"/>
          </a:xfrm>
          <a:prstGeom prst="rect">
            <a:avLst/>
          </a:prstGeom>
          <a:noFill/>
          <a:ln w="9525" algn="ctr">
            <a:noFill/>
            <a:miter lim="800000"/>
            <a:headEnd/>
            <a:tailEnd/>
          </a:ln>
          <a:effectLst/>
        </p:spPr>
        <p:txBody>
          <a:bodyPr wrap="square" lIns="0" tIns="0" rIns="0" bIns="0" anchor="t">
            <a:noAutofit/>
          </a:bodyPr>
          <a:lstStyle/>
          <a:p>
            <a:pPr marR="0" lvl="0" fontAlgn="auto">
              <a:spcAft>
                <a:spcPts val="0"/>
              </a:spcAft>
              <a:buClr>
                <a:srgbClr val="000000"/>
              </a:buClr>
              <a:buSzTx/>
              <a:tabLst/>
              <a:defRPr/>
            </a:pPr>
            <a:r>
              <a:rPr lang="en-US" sz="1200" b="1" dirty="0">
                <a:solidFill>
                  <a:schemeClr val="tx2"/>
                </a:solidFill>
              </a:rPr>
              <a:t>Regional pre-positioning</a:t>
            </a:r>
          </a:p>
          <a:p>
            <a:pPr marL="171450" indent="-171450">
              <a:buClr>
                <a:schemeClr val="tx2"/>
              </a:buClr>
              <a:buFont typeface="Arial" panose="020B0604020202020204" pitchFamily="34" charset="0"/>
              <a:buChar char="•"/>
              <a:defRPr/>
            </a:pPr>
            <a:r>
              <a:rPr lang="en-GB" sz="1200" dirty="0"/>
              <a:t>Inventory is strategically placed in warehouses near predicted customer demand, based on data analysis of purchasing patterns and demographics</a:t>
            </a:r>
            <a:endParaRPr lang="en-US" sz="1200" dirty="0"/>
          </a:p>
        </p:txBody>
      </p:sp>
      <p:sp>
        <p:nvSpPr>
          <p:cNvPr id="29" name="Rectangle 3">
            <a:extLst>
              <a:ext uri="{FF2B5EF4-FFF2-40B4-BE49-F238E27FC236}">
                <a16:creationId xmlns:a16="http://schemas.microsoft.com/office/drawing/2014/main" id="{DA063685-B982-2448-F7A9-B13A9600A809}"/>
              </a:ext>
            </a:extLst>
          </p:cNvPr>
          <p:cNvSpPr>
            <a:spLocks/>
          </p:cNvSpPr>
          <p:nvPr/>
        </p:nvSpPr>
        <p:spPr bwMode="gray">
          <a:xfrm>
            <a:off x="1718538" y="5261111"/>
            <a:ext cx="3420200" cy="738664"/>
          </a:xfrm>
          <a:prstGeom prst="rect">
            <a:avLst/>
          </a:prstGeom>
          <a:noFill/>
          <a:ln w="9525" algn="ctr">
            <a:noFill/>
            <a:miter lim="800000"/>
            <a:headEnd/>
            <a:tailEnd/>
          </a:ln>
          <a:effectLst/>
        </p:spPr>
        <p:txBody>
          <a:bodyPr wrap="square" lIns="0" tIns="0" rIns="0" bIns="0" anchor="t">
            <a:noAutofit/>
          </a:bodyPr>
          <a:lstStyle/>
          <a:p>
            <a:pPr marR="0" lvl="0" fontAlgn="auto">
              <a:spcAft>
                <a:spcPts val="0"/>
              </a:spcAft>
              <a:buClr>
                <a:srgbClr val="000000"/>
              </a:buClr>
              <a:buSzTx/>
              <a:tabLst/>
              <a:defRPr/>
            </a:pPr>
            <a:r>
              <a:rPr lang="en-US" sz="1200" b="1" dirty="0">
                <a:solidFill>
                  <a:schemeClr val="tx2"/>
                </a:solidFill>
              </a:rPr>
              <a:t>Late-select addressing</a:t>
            </a:r>
          </a:p>
          <a:p>
            <a:pPr marL="171450" marR="0" lvl="0" indent="-171450" fontAlgn="auto">
              <a:spcAft>
                <a:spcPts val="0"/>
              </a:spcAft>
              <a:buClr>
                <a:schemeClr val="tx2"/>
              </a:buClr>
              <a:buSzTx/>
              <a:buFont typeface="Arial" panose="020B0604020202020204" pitchFamily="34" charset="0"/>
              <a:buChar char="•"/>
              <a:tabLst/>
              <a:defRPr/>
            </a:pPr>
            <a:r>
              <a:rPr lang="en-GB" sz="1200" dirty="0"/>
              <a:t>Shipping labels remain partially incomplete until the last moment, allowing packages to be rerouted mid-transit as demand shifts</a:t>
            </a:r>
            <a:endParaRPr lang="en-US" sz="1200" dirty="0"/>
          </a:p>
        </p:txBody>
      </p:sp>
      <p:sp>
        <p:nvSpPr>
          <p:cNvPr id="39" name="Content Placeholder 2">
            <a:extLst>
              <a:ext uri="{FF2B5EF4-FFF2-40B4-BE49-F238E27FC236}">
                <a16:creationId xmlns:a16="http://schemas.microsoft.com/office/drawing/2014/main" id="{F255BD6F-D62E-3036-069C-0F2D1916B6EC}"/>
              </a:ext>
            </a:extLst>
          </p:cNvPr>
          <p:cNvSpPr txBox="1">
            <a:spLocks/>
          </p:cNvSpPr>
          <p:nvPr/>
        </p:nvSpPr>
        <p:spPr>
          <a:xfrm>
            <a:off x="839788" y="2290923"/>
            <a:ext cx="4253136" cy="221599"/>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noProof="0" dirty="0">
                <a:solidFill>
                  <a:schemeClr val="accent2"/>
                </a:solidFill>
              </a:rPr>
              <a:t>The three key components of the system</a:t>
            </a:r>
          </a:p>
        </p:txBody>
      </p:sp>
      <p:sp>
        <p:nvSpPr>
          <p:cNvPr id="40" name="Content Placeholder 2">
            <a:extLst>
              <a:ext uri="{FF2B5EF4-FFF2-40B4-BE49-F238E27FC236}">
                <a16:creationId xmlns:a16="http://schemas.microsoft.com/office/drawing/2014/main" id="{6872DD18-9663-DF30-E7A0-58C86E27283D}"/>
              </a:ext>
            </a:extLst>
          </p:cNvPr>
          <p:cNvSpPr txBox="1">
            <a:spLocks/>
          </p:cNvSpPr>
          <p:nvPr/>
        </p:nvSpPr>
        <p:spPr>
          <a:xfrm>
            <a:off x="6096000" y="2290923"/>
            <a:ext cx="5257800" cy="221599"/>
          </a:xfrm>
          <a:prstGeom prst="rect">
            <a:avLst/>
          </a:prstGeom>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600" b="1" noProof="0" dirty="0">
                <a:solidFill>
                  <a:schemeClr val="accent2"/>
                </a:solidFill>
              </a:rPr>
              <a:t>The evolution of anticipatory shipping</a:t>
            </a:r>
          </a:p>
        </p:txBody>
      </p:sp>
      <p:grpSp>
        <p:nvGrpSpPr>
          <p:cNvPr id="8" name="Group 7">
            <a:extLst>
              <a:ext uri="{FF2B5EF4-FFF2-40B4-BE49-F238E27FC236}">
                <a16:creationId xmlns:a16="http://schemas.microsoft.com/office/drawing/2014/main" id="{242995E2-5D1D-BAD8-304B-0216DD5AC723}"/>
              </a:ext>
            </a:extLst>
          </p:cNvPr>
          <p:cNvGrpSpPr/>
          <p:nvPr/>
        </p:nvGrpSpPr>
        <p:grpSpPr>
          <a:xfrm>
            <a:off x="838200" y="2702395"/>
            <a:ext cx="682231" cy="781238"/>
            <a:chOff x="838200" y="2702395"/>
            <a:chExt cx="682231" cy="781238"/>
          </a:xfrm>
        </p:grpSpPr>
        <p:sp>
          <p:nvSpPr>
            <p:cNvPr id="26" name="Ellipse 26">
              <a:extLst>
                <a:ext uri="{FF2B5EF4-FFF2-40B4-BE49-F238E27FC236}">
                  <a16:creationId xmlns:a16="http://schemas.microsoft.com/office/drawing/2014/main" id="{1949960F-DD45-6DF7-491A-33FC72C63153}"/>
                </a:ext>
              </a:extLst>
            </p:cNvPr>
            <p:cNvSpPr>
              <a:spLocks/>
            </p:cNvSpPr>
            <p:nvPr/>
          </p:nvSpPr>
          <p:spPr bwMode="gray">
            <a:xfrm>
              <a:off x="838200" y="2881479"/>
              <a:ext cx="602221" cy="602154"/>
            </a:xfrm>
            <a:prstGeom prst="ellipse">
              <a:avLst/>
            </a:prstGeom>
            <a:solidFill>
              <a:schemeClr val="bg2"/>
            </a:solidFill>
            <a:ln w="19050" cap="rnd" cmpd="sng" algn="ctr">
              <a:noFill/>
              <a:prstDash val="solid"/>
              <a:round/>
              <a:headEnd type="oval" w="med" len="med"/>
              <a:tailEnd type="oval" w="med" len="me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ea typeface="+mn-ea"/>
              </a:endParaRPr>
            </a:p>
          </p:txBody>
        </p:sp>
        <p:sp>
          <p:nvSpPr>
            <p:cNvPr id="37" name="Ellipse 23">
              <a:extLst>
                <a:ext uri="{FF2B5EF4-FFF2-40B4-BE49-F238E27FC236}">
                  <a16:creationId xmlns:a16="http://schemas.microsoft.com/office/drawing/2014/main" id="{F547F8FE-F844-53CF-E547-EC7BB7325E1E}"/>
                </a:ext>
              </a:extLst>
            </p:cNvPr>
            <p:cNvSpPr>
              <a:spLocks/>
            </p:cNvSpPr>
            <p:nvPr/>
          </p:nvSpPr>
          <p:spPr bwMode="gray">
            <a:xfrm>
              <a:off x="1326086" y="2702395"/>
              <a:ext cx="194345" cy="194324"/>
            </a:xfrm>
            <a:prstGeom prst="ellipse">
              <a:avLst/>
            </a:prstGeom>
            <a:solidFill>
              <a:schemeClr val="bg2"/>
            </a:solidFill>
            <a:ln w="19050" cap="rnd" cmpd="sng" algn="ctr">
              <a:noFill/>
              <a:prstDash val="solid"/>
              <a:round/>
              <a:headEnd type="oval" w="med" len="med"/>
              <a:tailEnd type="oval" w="med" len="me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rPr>
                <a:t>1</a:t>
              </a:r>
            </a:p>
          </p:txBody>
        </p:sp>
        <p:pic>
          <p:nvPicPr>
            <p:cNvPr id="57" name="Graphic 56" descr="Packing Box Open with solid fill">
              <a:extLst>
                <a:ext uri="{FF2B5EF4-FFF2-40B4-BE49-F238E27FC236}">
                  <a16:creationId xmlns:a16="http://schemas.microsoft.com/office/drawing/2014/main" id="{FB6210AF-30CD-56D1-515E-1C0287603E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8159" y="2981404"/>
              <a:ext cx="402303" cy="402303"/>
            </a:xfrm>
            <a:prstGeom prst="rect">
              <a:avLst/>
            </a:prstGeom>
          </p:spPr>
        </p:pic>
      </p:grpSp>
      <p:grpSp>
        <p:nvGrpSpPr>
          <p:cNvPr id="9" name="Group 8">
            <a:extLst>
              <a:ext uri="{FF2B5EF4-FFF2-40B4-BE49-F238E27FC236}">
                <a16:creationId xmlns:a16="http://schemas.microsoft.com/office/drawing/2014/main" id="{3C85EFFA-05E2-3985-BF71-CED2462AEA98}"/>
              </a:ext>
            </a:extLst>
          </p:cNvPr>
          <p:cNvGrpSpPr/>
          <p:nvPr/>
        </p:nvGrpSpPr>
        <p:grpSpPr>
          <a:xfrm>
            <a:off x="838200" y="3933485"/>
            <a:ext cx="682231" cy="781239"/>
            <a:chOff x="838200" y="3933485"/>
            <a:chExt cx="682231" cy="781239"/>
          </a:xfrm>
        </p:grpSpPr>
        <p:sp>
          <p:nvSpPr>
            <p:cNvPr id="22" name="Ellipse 32">
              <a:extLst>
                <a:ext uri="{FF2B5EF4-FFF2-40B4-BE49-F238E27FC236}">
                  <a16:creationId xmlns:a16="http://schemas.microsoft.com/office/drawing/2014/main" id="{FFC6ABE8-C813-A4DE-A2BA-78116B82DE69}"/>
                </a:ext>
              </a:extLst>
            </p:cNvPr>
            <p:cNvSpPr>
              <a:spLocks/>
            </p:cNvSpPr>
            <p:nvPr/>
          </p:nvSpPr>
          <p:spPr bwMode="gray">
            <a:xfrm flipH="1">
              <a:off x="838200" y="4112570"/>
              <a:ext cx="602221" cy="602154"/>
            </a:xfrm>
            <a:prstGeom prst="ellipse">
              <a:avLst/>
            </a:prstGeom>
            <a:solidFill>
              <a:srgbClr val="E8E8E8"/>
            </a:solidFill>
            <a:ln w="6350" cap="rnd">
              <a:noFill/>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ea typeface="+mn-ea"/>
              </a:endParaRPr>
            </a:p>
          </p:txBody>
        </p:sp>
        <p:sp>
          <p:nvSpPr>
            <p:cNvPr id="36" name="Ellipse 23">
              <a:extLst>
                <a:ext uri="{FF2B5EF4-FFF2-40B4-BE49-F238E27FC236}">
                  <a16:creationId xmlns:a16="http://schemas.microsoft.com/office/drawing/2014/main" id="{A72A6FD2-6ACE-3F11-8760-BD40B81D0212}"/>
                </a:ext>
              </a:extLst>
            </p:cNvPr>
            <p:cNvSpPr>
              <a:spLocks/>
            </p:cNvSpPr>
            <p:nvPr/>
          </p:nvSpPr>
          <p:spPr bwMode="gray">
            <a:xfrm>
              <a:off x="1326086" y="3933485"/>
              <a:ext cx="194345" cy="194324"/>
            </a:xfrm>
            <a:prstGeom prst="ellipse">
              <a:avLst/>
            </a:prstGeom>
            <a:solidFill>
              <a:schemeClr val="bg2"/>
            </a:solidFill>
            <a:ln w="19050" cap="rnd" cmpd="sng" algn="ctr">
              <a:noFill/>
              <a:prstDash val="solid"/>
              <a:round/>
              <a:headEnd type="oval" w="med" len="med"/>
              <a:tailEnd type="oval" w="med" len="me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rPr>
                <a:t>2</a:t>
              </a:r>
            </a:p>
          </p:txBody>
        </p:sp>
        <p:pic>
          <p:nvPicPr>
            <p:cNvPr id="55" name="Graphic 54" descr="Map with pin with solid fill">
              <a:extLst>
                <a:ext uri="{FF2B5EF4-FFF2-40B4-BE49-F238E27FC236}">
                  <a16:creationId xmlns:a16="http://schemas.microsoft.com/office/drawing/2014/main" id="{FAC54961-B68B-E3B9-542E-F29F9E0DD41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9840" y="4194176"/>
              <a:ext cx="438942" cy="438942"/>
            </a:xfrm>
            <a:prstGeom prst="rect">
              <a:avLst/>
            </a:prstGeom>
          </p:spPr>
        </p:pic>
      </p:grpSp>
      <p:grpSp>
        <p:nvGrpSpPr>
          <p:cNvPr id="10" name="Group 9">
            <a:extLst>
              <a:ext uri="{FF2B5EF4-FFF2-40B4-BE49-F238E27FC236}">
                <a16:creationId xmlns:a16="http://schemas.microsoft.com/office/drawing/2014/main" id="{AFCE52F7-F48F-2D4D-40F9-6F393C4D9CAD}"/>
              </a:ext>
            </a:extLst>
          </p:cNvPr>
          <p:cNvGrpSpPr/>
          <p:nvPr/>
        </p:nvGrpSpPr>
        <p:grpSpPr>
          <a:xfrm>
            <a:off x="838200" y="5164577"/>
            <a:ext cx="682231" cy="781238"/>
            <a:chOff x="838200" y="5164577"/>
            <a:chExt cx="682231" cy="781238"/>
          </a:xfrm>
        </p:grpSpPr>
        <p:sp>
          <p:nvSpPr>
            <p:cNvPr id="17" name="Ellipse 23">
              <a:extLst>
                <a:ext uri="{FF2B5EF4-FFF2-40B4-BE49-F238E27FC236}">
                  <a16:creationId xmlns:a16="http://schemas.microsoft.com/office/drawing/2014/main" id="{271A5BE7-6CC6-001A-B4E5-6694BAAA7D8E}"/>
                </a:ext>
              </a:extLst>
            </p:cNvPr>
            <p:cNvSpPr>
              <a:spLocks/>
            </p:cNvSpPr>
            <p:nvPr/>
          </p:nvSpPr>
          <p:spPr bwMode="gray">
            <a:xfrm>
              <a:off x="838200" y="5343661"/>
              <a:ext cx="602221" cy="602154"/>
            </a:xfrm>
            <a:prstGeom prst="ellipse">
              <a:avLst/>
            </a:prstGeom>
            <a:solidFill>
              <a:srgbClr val="E8E8E8"/>
            </a:solidFill>
            <a:ln w="19050" cap="rnd" cmpd="sng" algn="ctr">
              <a:noFill/>
              <a:prstDash val="solid"/>
              <a:round/>
              <a:headEnd type="oval" w="med" len="med"/>
              <a:tailEnd type="oval" w="med" len="me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ea typeface="+mn-ea"/>
              </a:endParaRPr>
            </a:p>
          </p:txBody>
        </p:sp>
        <p:sp>
          <p:nvSpPr>
            <p:cNvPr id="33" name="Ellipse 23">
              <a:extLst>
                <a:ext uri="{FF2B5EF4-FFF2-40B4-BE49-F238E27FC236}">
                  <a16:creationId xmlns:a16="http://schemas.microsoft.com/office/drawing/2014/main" id="{2B1469F6-66E0-2212-2FA7-8F8957BACB54}"/>
                </a:ext>
              </a:extLst>
            </p:cNvPr>
            <p:cNvSpPr>
              <a:spLocks/>
            </p:cNvSpPr>
            <p:nvPr/>
          </p:nvSpPr>
          <p:spPr bwMode="gray">
            <a:xfrm>
              <a:off x="1326086" y="5164577"/>
              <a:ext cx="194345" cy="194324"/>
            </a:xfrm>
            <a:prstGeom prst="ellipse">
              <a:avLst/>
            </a:prstGeom>
            <a:solidFill>
              <a:schemeClr val="bg2"/>
            </a:solidFill>
            <a:ln w="19050" cap="rnd" cmpd="sng" algn="ctr">
              <a:noFill/>
              <a:prstDash val="solid"/>
              <a:round/>
              <a:headEnd type="oval" w="med" len="med"/>
              <a:tailEnd type="oval" w="med" len="me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rPr>
                <a:t>3</a:t>
              </a:r>
            </a:p>
          </p:txBody>
        </p:sp>
        <p:pic>
          <p:nvPicPr>
            <p:cNvPr id="59" name="Graphic 58" descr="Filing Box Archive with solid fill">
              <a:extLst>
                <a:ext uri="{FF2B5EF4-FFF2-40B4-BE49-F238E27FC236}">
                  <a16:creationId xmlns:a16="http://schemas.microsoft.com/office/drawing/2014/main" id="{392378AC-C50B-2C21-1E1F-E0BD7CB5197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9840" y="5425267"/>
              <a:ext cx="438942" cy="438942"/>
            </a:xfrm>
            <a:prstGeom prst="rect">
              <a:avLst/>
            </a:prstGeom>
          </p:spPr>
        </p:pic>
      </p:grpSp>
      <p:cxnSp>
        <p:nvCxnSpPr>
          <p:cNvPr id="2" name="Straight Arrow Connector 1">
            <a:extLst>
              <a:ext uri="{FF2B5EF4-FFF2-40B4-BE49-F238E27FC236}">
                <a16:creationId xmlns:a16="http://schemas.microsoft.com/office/drawing/2014/main" id="{2EF94020-0F84-5F7A-7311-33DFF76C3CE8}"/>
              </a:ext>
            </a:extLst>
          </p:cNvPr>
          <p:cNvCxnSpPr/>
          <p:nvPr/>
        </p:nvCxnSpPr>
        <p:spPr>
          <a:xfrm>
            <a:off x="839788" y="2637862"/>
            <a:ext cx="4253136"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6208A0-49FD-03EF-4D55-C326FC5FBC83}"/>
              </a:ext>
            </a:extLst>
          </p:cNvPr>
          <p:cNvCxnSpPr/>
          <p:nvPr/>
        </p:nvCxnSpPr>
        <p:spPr>
          <a:xfrm>
            <a:off x="6096000" y="2637862"/>
            <a:ext cx="5257800"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109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250"/>
                                        <p:tgtEl>
                                          <p:spTgt spid="14"/>
                                        </p:tgtEl>
                                      </p:cBhvr>
                                    </p:animEffect>
                                  </p:childTnLst>
                                </p:cTn>
                              </p:par>
                            </p:childTnLst>
                          </p:cTn>
                        </p:par>
                        <p:par>
                          <p:cTn id="19" fill="hold">
                            <p:stCondLst>
                              <p:cond delay="1250"/>
                            </p:stCondLst>
                            <p:childTnLst>
                              <p:par>
                                <p:cTn id="20" presetID="10"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par>
                          <p:cTn id="26" fill="hold">
                            <p:stCondLst>
                              <p:cond delay="1750"/>
                            </p:stCondLst>
                            <p:childTnLst>
                              <p:par>
                                <p:cTn id="27" presetID="22" presetClass="entr" presetSubtype="1"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250"/>
                                        <p:tgtEl>
                                          <p:spTgt spid="15"/>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par>
                          <p:cTn id="60" fill="hold">
                            <p:stCondLst>
                              <p:cond delay="1000"/>
                            </p:stCondLst>
                            <p:childTnLst>
                              <p:par>
                                <p:cTn id="61" presetID="22" presetClass="entr" presetSubtype="8" fill="hold"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left)">
                                      <p:cBhvr>
                                        <p:cTn id="6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 grpId="0"/>
      <p:bldP spid="5" grpId="0"/>
      <p:bldP spid="24" grpId="0"/>
      <p:bldP spid="28" grpId="0"/>
      <p:bldP spid="29" grpId="0"/>
      <p:bldP spid="39"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486D8226-D08C-5904-BE7C-24D81988703B}"/>
              </a:ext>
            </a:extLst>
          </p:cNvPr>
          <p:cNvGraphicFramePr>
            <a:graphicFrameLocks/>
          </p:cNvGraphicFramePr>
          <p:nvPr>
            <p:custDataLst>
              <p:tags r:id="rId1"/>
            </p:custDataLst>
            <p:extLst>
              <p:ext uri="{D42A27DB-BD31-4B8C-83A1-F6EECF244321}">
                <p14:modId xmlns:p14="http://schemas.microsoft.com/office/powerpoint/2010/main" val="2368667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11" name="think-cell data - do not delete" hidden="1">
                        <a:extLst>
                          <a:ext uri="{FF2B5EF4-FFF2-40B4-BE49-F238E27FC236}">
                            <a16:creationId xmlns:a16="http://schemas.microsoft.com/office/drawing/2014/main" id="{486D8226-D08C-5904-BE7C-24D8198870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F2D896F-BB3A-5CAF-FEEC-D39AFE2F3371}"/>
              </a:ext>
            </a:extLst>
          </p:cNvPr>
          <p:cNvSpPr>
            <a:spLocks noGrp="1"/>
          </p:cNvSpPr>
          <p:nvPr>
            <p:ph type="title"/>
          </p:nvPr>
        </p:nvSpPr>
        <p:spPr>
          <a:xfrm>
            <a:off x="838200" y="365125"/>
            <a:ext cx="10515600" cy="997196"/>
          </a:xfrm>
        </p:spPr>
        <p:txBody>
          <a:bodyPr vert="horz" rIns="91440">
            <a:noAutofit/>
          </a:bodyPr>
          <a:lstStyle/>
          <a:p>
            <a:r>
              <a:rPr lang="en-US" b="1" noProof="0" dirty="0"/>
              <a:t>Automated Inventory Management</a:t>
            </a:r>
            <a:br>
              <a:rPr lang="en-US" b="1" noProof="0" dirty="0"/>
            </a:br>
            <a:r>
              <a:rPr lang="en-GB" sz="1800" dirty="0"/>
              <a:t>Warehouses powered by a combination of AI and robotics that work together to manage inventory with minimal human intervention.</a:t>
            </a:r>
            <a:endParaRPr lang="en-US" noProof="0" dirty="0"/>
          </a:p>
        </p:txBody>
      </p:sp>
      <p:sp>
        <p:nvSpPr>
          <p:cNvPr id="4" name="Slide Number Placeholder 3">
            <a:extLst>
              <a:ext uri="{FF2B5EF4-FFF2-40B4-BE49-F238E27FC236}">
                <a16:creationId xmlns:a16="http://schemas.microsoft.com/office/drawing/2014/main" id="{90594BE5-ACF2-B86E-0CF4-317B20A73D9B}"/>
              </a:ext>
            </a:extLst>
          </p:cNvPr>
          <p:cNvSpPr>
            <a:spLocks noGrp="1"/>
          </p:cNvSpPr>
          <p:nvPr>
            <p:ph type="sldNum" sz="quarter" idx="12"/>
          </p:nvPr>
        </p:nvSpPr>
        <p:spPr/>
        <p:txBody>
          <a:bodyPr/>
          <a:lstStyle/>
          <a:p>
            <a:fld id="{49882A7A-00EB-4D45-AA64-F8A75FA21FCC}" type="slidenum">
              <a:rPr lang="en-US" noProof="0" smtClean="0"/>
              <a:pPr/>
              <a:t>6</a:t>
            </a:fld>
            <a:endParaRPr lang="en-US" noProof="0" dirty="0"/>
          </a:p>
        </p:txBody>
      </p:sp>
      <p:sp>
        <p:nvSpPr>
          <p:cNvPr id="23" name="Rectangle: Top Corners Rounded 17">
            <a:extLst>
              <a:ext uri="{FF2B5EF4-FFF2-40B4-BE49-F238E27FC236}">
                <a16:creationId xmlns:a16="http://schemas.microsoft.com/office/drawing/2014/main" id="{FC7C2190-046A-5567-0BD6-31ECF80C4DD0}"/>
              </a:ext>
            </a:extLst>
          </p:cNvPr>
          <p:cNvSpPr/>
          <p:nvPr/>
        </p:nvSpPr>
        <p:spPr>
          <a:xfrm rot="16200000" flipH="1">
            <a:off x="4756450" y="-623553"/>
            <a:ext cx="2679105" cy="10515600"/>
          </a:xfrm>
          <a:custGeom>
            <a:avLst/>
            <a:gdLst>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6" fmla="*/ 0 w 2651753"/>
              <a:gd name="csY6" fmla="*/ 10515600 h 10515600"/>
              <a:gd name="csX7" fmla="*/ 0 w 2651753"/>
              <a:gd name="csY7" fmla="*/ 96497 h 10515600"/>
              <a:gd name="csX8" fmla="*/ 96497 w 2651753"/>
              <a:gd name="csY8" fmla="*/ 0 h 10515600"/>
              <a:gd name="csX0" fmla="*/ 0 w 2651753"/>
              <a:gd name="csY0" fmla="*/ 96497 h 10515600"/>
              <a:gd name="csX1" fmla="*/ 96497 w 2651753"/>
              <a:gd name="csY1" fmla="*/ 0 h 10515600"/>
              <a:gd name="csX2" fmla="*/ 2555256 w 2651753"/>
              <a:gd name="csY2" fmla="*/ 0 h 10515600"/>
              <a:gd name="csX3" fmla="*/ 2651753 w 2651753"/>
              <a:gd name="csY3" fmla="*/ 96497 h 10515600"/>
              <a:gd name="csX4" fmla="*/ 2651753 w 2651753"/>
              <a:gd name="csY4" fmla="*/ 10515600 h 10515600"/>
              <a:gd name="csX5" fmla="*/ 2651753 w 2651753"/>
              <a:gd name="csY5" fmla="*/ 10515600 h 10515600"/>
              <a:gd name="csX6" fmla="*/ 0 w 2651753"/>
              <a:gd name="csY6" fmla="*/ 10515600 h 10515600"/>
              <a:gd name="csX7" fmla="*/ 0 w 2651753"/>
              <a:gd name="csY7" fmla="*/ 10515600 h 10515600"/>
              <a:gd name="csX8" fmla="*/ 91440 w 2651753"/>
              <a:gd name="csY8" fmla="*/ 187937 h 10515600"/>
              <a:gd name="csX0" fmla="*/ 0 w 2651753"/>
              <a:gd name="csY0" fmla="*/ 96497 h 10515600"/>
              <a:gd name="csX1" fmla="*/ 96497 w 2651753"/>
              <a:gd name="csY1" fmla="*/ 0 h 10515600"/>
              <a:gd name="csX2" fmla="*/ 2555256 w 2651753"/>
              <a:gd name="csY2" fmla="*/ 0 h 10515600"/>
              <a:gd name="csX3" fmla="*/ 2651753 w 2651753"/>
              <a:gd name="csY3" fmla="*/ 96497 h 10515600"/>
              <a:gd name="csX4" fmla="*/ 2651753 w 2651753"/>
              <a:gd name="csY4" fmla="*/ 10515600 h 10515600"/>
              <a:gd name="csX5" fmla="*/ 2651753 w 2651753"/>
              <a:gd name="csY5" fmla="*/ 10515600 h 10515600"/>
              <a:gd name="csX6" fmla="*/ 0 w 2651753"/>
              <a:gd name="csY6" fmla="*/ 10515600 h 10515600"/>
              <a:gd name="csX7" fmla="*/ 0 w 2651753"/>
              <a:gd name="csY7" fmla="*/ 10515600 h 10515600"/>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6" fmla="*/ 0 w 2651753"/>
              <a:gd name="csY6" fmla="*/ 10515600 h 10515600"/>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0" fmla="*/ 0 w 2555256"/>
              <a:gd name="csY0" fmla="*/ 0 h 10515600"/>
              <a:gd name="csX1" fmla="*/ 2458759 w 2555256"/>
              <a:gd name="csY1" fmla="*/ 0 h 10515600"/>
              <a:gd name="csX2" fmla="*/ 2555256 w 2555256"/>
              <a:gd name="csY2" fmla="*/ 96497 h 10515600"/>
              <a:gd name="csX3" fmla="*/ 2555256 w 2555256"/>
              <a:gd name="csY3" fmla="*/ 10515600 h 10515600"/>
              <a:gd name="csX4" fmla="*/ 2555256 w 2555256"/>
              <a:gd name="csY4" fmla="*/ 10515600 h 10515600"/>
            </a:gdLst>
            <a:ahLst/>
            <a:cxnLst>
              <a:cxn ang="0">
                <a:pos x="csX0" y="csY0"/>
              </a:cxn>
              <a:cxn ang="0">
                <a:pos x="csX1" y="csY1"/>
              </a:cxn>
              <a:cxn ang="0">
                <a:pos x="csX2" y="csY2"/>
              </a:cxn>
              <a:cxn ang="0">
                <a:pos x="csX3" y="csY3"/>
              </a:cxn>
              <a:cxn ang="0">
                <a:pos x="csX4" y="csY4"/>
              </a:cxn>
            </a:cxnLst>
            <a:rect l="l" t="t" r="r" b="b"/>
            <a:pathLst>
              <a:path w="2555256" h="10515600">
                <a:moveTo>
                  <a:pt x="0" y="0"/>
                </a:moveTo>
                <a:lnTo>
                  <a:pt x="2458759" y="0"/>
                </a:lnTo>
                <a:cubicBezTo>
                  <a:pt x="2512053" y="0"/>
                  <a:pt x="2555256" y="43203"/>
                  <a:pt x="2555256" y="96497"/>
                </a:cubicBezTo>
                <a:lnTo>
                  <a:pt x="2555256" y="10515600"/>
                </a:lnTo>
                <a:lnTo>
                  <a:pt x="2555256" y="10515600"/>
                </a:lnTo>
              </a:path>
            </a:pathLst>
          </a:custGeom>
          <a:noFill/>
          <a:ln w="9525">
            <a:gradFill flip="none" rotWithShape="1">
              <a:gsLst>
                <a:gs pos="0">
                  <a:schemeClr val="bg2"/>
                </a:gs>
                <a:gs pos="76000">
                  <a:schemeClr val="bg2">
                    <a:alpha val="3000"/>
                  </a:schemeClr>
                </a:gs>
              </a:gsLst>
              <a:lin ang="10800000" scaled="1"/>
              <a:tileRect/>
            </a:gradFill>
            <a:tailEnd type="diamo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ontent Placeholder 2">
            <a:extLst>
              <a:ext uri="{FF2B5EF4-FFF2-40B4-BE49-F238E27FC236}">
                <a16:creationId xmlns:a16="http://schemas.microsoft.com/office/drawing/2014/main" id="{9567E1C8-CDF5-37E4-EAF5-E0F39F8A22EC}"/>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800" dirty="0">
                <a:hlinkClick r:id="rId6"/>
              </a:rPr>
              <a:t>Case Study: Amazon’s AI-Driven Supply Chain: A Blueprint for the Future of Global Logistics - The CDO TIMES</a:t>
            </a:r>
            <a:endParaRPr lang="en-US" sz="700" dirty="0"/>
          </a:p>
        </p:txBody>
      </p:sp>
      <p:sp>
        <p:nvSpPr>
          <p:cNvPr id="24" name="Content Placeholder 2">
            <a:extLst>
              <a:ext uri="{FF2B5EF4-FFF2-40B4-BE49-F238E27FC236}">
                <a16:creationId xmlns:a16="http://schemas.microsoft.com/office/drawing/2014/main" id="{40197EC3-07C4-2C9F-B5AE-926E318A0F62}"/>
              </a:ext>
            </a:extLst>
          </p:cNvPr>
          <p:cNvSpPr txBox="1">
            <a:spLocks/>
          </p:cNvSpPr>
          <p:nvPr/>
        </p:nvSpPr>
        <p:spPr>
          <a:xfrm>
            <a:off x="838200" y="2761290"/>
            <a:ext cx="5149800" cy="533400"/>
          </a:xfrm>
          <a:prstGeom prst="round2SameRect">
            <a:avLst/>
          </a:prstGeom>
          <a:solidFill>
            <a:srgbClr val="5C5C5C"/>
          </a:solidFill>
          <a:ln>
            <a:solidFill>
              <a:srgbClr val="5C5C5C"/>
            </a:solidFill>
          </a:ln>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en-US" sz="2000" b="1" noProof="0" dirty="0"/>
              <a:t>Robotic Process Automation (RPA)</a:t>
            </a:r>
          </a:p>
        </p:txBody>
      </p:sp>
      <p:sp>
        <p:nvSpPr>
          <p:cNvPr id="25" name="Content Placeholder 2">
            <a:extLst>
              <a:ext uri="{FF2B5EF4-FFF2-40B4-BE49-F238E27FC236}">
                <a16:creationId xmlns:a16="http://schemas.microsoft.com/office/drawing/2014/main" id="{0B78ABBB-12E7-B07E-79A6-498C2A79740C}"/>
              </a:ext>
            </a:extLst>
          </p:cNvPr>
          <p:cNvSpPr txBox="1">
            <a:spLocks/>
          </p:cNvSpPr>
          <p:nvPr/>
        </p:nvSpPr>
        <p:spPr>
          <a:xfrm>
            <a:off x="838200" y="3561304"/>
            <a:ext cx="5149800" cy="2195473"/>
          </a:xfrm>
          <a:prstGeom prst="rect">
            <a:avLst/>
          </a:prstGeom>
        </p:spPr>
        <p:txBody>
          <a:bodyPr vert="horz" lIns="18000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GB" sz="1800" noProof="0" dirty="0">
                <a:solidFill>
                  <a:schemeClr val="tx2"/>
                </a:solidFill>
              </a:rPr>
              <a:t>Smart Retrieval: </a:t>
            </a:r>
            <a:r>
              <a:rPr lang="en-GB" sz="1800" noProof="0" dirty="0">
                <a:solidFill>
                  <a:schemeClr val="bg1"/>
                </a:solidFill>
              </a:rPr>
              <a:t>AI optimizes robot paths to reduce picking time</a:t>
            </a:r>
          </a:p>
          <a:p>
            <a:pPr fontAlgn="base">
              <a:lnSpc>
                <a:spcPct val="100000"/>
              </a:lnSpc>
            </a:pPr>
            <a:r>
              <a:rPr lang="en-GB" sz="1800" noProof="0" dirty="0">
                <a:solidFill>
                  <a:schemeClr val="tx2"/>
                </a:solidFill>
              </a:rPr>
              <a:t>Adaptive Layouts: </a:t>
            </a:r>
            <a:r>
              <a:rPr lang="en-GB" sz="1800" noProof="0" dirty="0">
                <a:solidFill>
                  <a:schemeClr val="bg1"/>
                </a:solidFill>
              </a:rPr>
              <a:t>Warehouses "self-organize" based on item popularity</a:t>
            </a:r>
          </a:p>
          <a:p>
            <a:pPr fontAlgn="base">
              <a:lnSpc>
                <a:spcPct val="100000"/>
              </a:lnSpc>
            </a:pPr>
            <a:r>
              <a:rPr lang="en-GB" sz="1800" noProof="0" dirty="0">
                <a:solidFill>
                  <a:schemeClr val="tx2"/>
                </a:solidFill>
              </a:rPr>
              <a:t>Efficiency: </a:t>
            </a:r>
            <a:r>
              <a:rPr lang="en-GB" sz="1800" noProof="0" dirty="0">
                <a:solidFill>
                  <a:schemeClr val="bg1"/>
                </a:solidFill>
              </a:rPr>
              <a:t>Increases throughput and reduces human travel time</a:t>
            </a:r>
            <a:endParaRPr lang="en-US" sz="1800" noProof="0" dirty="0">
              <a:solidFill>
                <a:schemeClr val="bg1"/>
              </a:solidFill>
            </a:endParaRPr>
          </a:p>
        </p:txBody>
      </p:sp>
      <p:sp>
        <p:nvSpPr>
          <p:cNvPr id="28" name="Moon 27">
            <a:extLst>
              <a:ext uri="{FF2B5EF4-FFF2-40B4-BE49-F238E27FC236}">
                <a16:creationId xmlns:a16="http://schemas.microsoft.com/office/drawing/2014/main" id="{AA368A59-EA98-5E45-08EF-76A133B2CF09}"/>
              </a:ext>
            </a:extLst>
          </p:cNvPr>
          <p:cNvSpPr/>
          <p:nvPr/>
        </p:nvSpPr>
        <p:spPr>
          <a:xfrm rot="5400000">
            <a:off x="3068899" y="1631849"/>
            <a:ext cx="688404" cy="1376808"/>
          </a:xfrm>
          <a:prstGeom prst="moon">
            <a:avLst>
              <a:gd name="adj" fmla="val 878"/>
            </a:avLst>
          </a:prstGeom>
          <a:gradFill flip="none" rotWithShape="1">
            <a:gsLst>
              <a:gs pos="100000">
                <a:schemeClr val="tx2">
                  <a:alpha val="3000"/>
                </a:schemeClr>
              </a:gs>
              <a:gs pos="3000">
                <a:schemeClr val="tx2"/>
              </a:gs>
            </a:gsLst>
            <a:lin ang="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Robot Hand with solid fill">
            <a:extLst>
              <a:ext uri="{FF2B5EF4-FFF2-40B4-BE49-F238E27FC236}">
                <a16:creationId xmlns:a16="http://schemas.microsoft.com/office/drawing/2014/main" id="{4DE9B401-36A9-1F55-C08F-FBDD604B1E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78766" y="2044205"/>
            <a:ext cx="668668" cy="668668"/>
          </a:xfrm>
          <a:prstGeom prst="rect">
            <a:avLst/>
          </a:prstGeom>
        </p:spPr>
      </p:pic>
      <p:sp>
        <p:nvSpPr>
          <p:cNvPr id="26" name="Content Placeholder 2">
            <a:extLst>
              <a:ext uri="{FF2B5EF4-FFF2-40B4-BE49-F238E27FC236}">
                <a16:creationId xmlns:a16="http://schemas.microsoft.com/office/drawing/2014/main" id="{CBFDA700-BDD3-C4A2-4982-0C5AA771B019}"/>
              </a:ext>
            </a:extLst>
          </p:cNvPr>
          <p:cNvSpPr txBox="1">
            <a:spLocks/>
          </p:cNvSpPr>
          <p:nvPr/>
        </p:nvSpPr>
        <p:spPr>
          <a:xfrm>
            <a:off x="6204000" y="2761290"/>
            <a:ext cx="5149800" cy="533400"/>
          </a:xfrm>
          <a:prstGeom prst="round2SameRect">
            <a:avLst/>
          </a:prstGeom>
          <a:solidFill>
            <a:srgbClr val="5C5C5C"/>
          </a:solidFill>
          <a:ln>
            <a:solidFill>
              <a:srgbClr val="5C5C5C"/>
            </a:solidFill>
          </a:ln>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en-US" sz="2000" b="1" noProof="0" dirty="0"/>
              <a:t>Machine Learning Algorithms</a:t>
            </a:r>
          </a:p>
        </p:txBody>
      </p:sp>
      <p:sp>
        <p:nvSpPr>
          <p:cNvPr id="27" name="Content Placeholder 2">
            <a:extLst>
              <a:ext uri="{FF2B5EF4-FFF2-40B4-BE49-F238E27FC236}">
                <a16:creationId xmlns:a16="http://schemas.microsoft.com/office/drawing/2014/main" id="{28842092-57E3-4302-ED82-EFA339CCC1C0}"/>
              </a:ext>
            </a:extLst>
          </p:cNvPr>
          <p:cNvSpPr txBox="1">
            <a:spLocks/>
          </p:cNvSpPr>
          <p:nvPr/>
        </p:nvSpPr>
        <p:spPr>
          <a:xfrm>
            <a:off x="6204000" y="3561304"/>
            <a:ext cx="5149800" cy="2195473"/>
          </a:xfrm>
          <a:prstGeom prst="rect">
            <a:avLst/>
          </a:prstGeom>
        </p:spPr>
        <p:txBody>
          <a:bodyPr vert="horz" lIns="18000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GB" sz="1800" noProof="0" dirty="0">
                <a:solidFill>
                  <a:schemeClr val="tx2"/>
                </a:solidFill>
              </a:rPr>
              <a:t>Dynamic Reordering: </a:t>
            </a:r>
            <a:r>
              <a:rPr lang="en-GB" sz="1800" noProof="0" dirty="0">
                <a:solidFill>
                  <a:schemeClr val="bg1"/>
                </a:solidFill>
              </a:rPr>
              <a:t>AI predicts exactly when to restock</a:t>
            </a:r>
          </a:p>
          <a:p>
            <a:pPr fontAlgn="base">
              <a:lnSpc>
                <a:spcPct val="100000"/>
              </a:lnSpc>
            </a:pPr>
            <a:r>
              <a:rPr lang="en-GB" sz="1800" noProof="0" dirty="0">
                <a:solidFill>
                  <a:schemeClr val="tx2"/>
                </a:solidFill>
              </a:rPr>
              <a:t>Demand Alignment: </a:t>
            </a:r>
            <a:r>
              <a:rPr lang="en-GB" sz="1800" noProof="0" dirty="0">
                <a:solidFill>
                  <a:schemeClr val="bg1"/>
                </a:solidFill>
              </a:rPr>
              <a:t>Moves stock closer to where it will be needed</a:t>
            </a:r>
          </a:p>
          <a:p>
            <a:pPr fontAlgn="base">
              <a:lnSpc>
                <a:spcPct val="100000"/>
              </a:lnSpc>
            </a:pPr>
            <a:r>
              <a:rPr lang="en-GB" sz="1800" noProof="0" dirty="0">
                <a:solidFill>
                  <a:schemeClr val="tx2"/>
                </a:solidFill>
              </a:rPr>
              <a:t>Prevention: </a:t>
            </a:r>
            <a:r>
              <a:rPr lang="en-GB" sz="1800" noProof="0" dirty="0" err="1">
                <a:solidFill>
                  <a:schemeClr val="bg1"/>
                </a:solidFill>
              </a:rPr>
              <a:t>Analyzes</a:t>
            </a:r>
            <a:r>
              <a:rPr lang="en-GB" sz="1800" noProof="0" dirty="0">
                <a:solidFill>
                  <a:schemeClr val="bg1"/>
                </a:solidFill>
              </a:rPr>
              <a:t> real-time flow to avoid network strain</a:t>
            </a:r>
            <a:endParaRPr lang="en-US" sz="1800" noProof="0" dirty="0">
              <a:solidFill>
                <a:schemeClr val="bg1"/>
              </a:solidFill>
            </a:endParaRPr>
          </a:p>
        </p:txBody>
      </p:sp>
      <p:sp>
        <p:nvSpPr>
          <p:cNvPr id="6" name="Moon 5">
            <a:extLst>
              <a:ext uri="{FF2B5EF4-FFF2-40B4-BE49-F238E27FC236}">
                <a16:creationId xmlns:a16="http://schemas.microsoft.com/office/drawing/2014/main" id="{E377809C-AA7C-8EFD-C51A-E0CE7046958C}"/>
              </a:ext>
            </a:extLst>
          </p:cNvPr>
          <p:cNvSpPr/>
          <p:nvPr/>
        </p:nvSpPr>
        <p:spPr>
          <a:xfrm rot="5400000">
            <a:off x="8434699" y="1631849"/>
            <a:ext cx="688404" cy="1376808"/>
          </a:xfrm>
          <a:prstGeom prst="moon">
            <a:avLst>
              <a:gd name="adj" fmla="val 878"/>
            </a:avLst>
          </a:prstGeom>
          <a:gradFill flip="none" rotWithShape="1">
            <a:gsLst>
              <a:gs pos="100000">
                <a:schemeClr val="tx2">
                  <a:alpha val="3000"/>
                </a:schemeClr>
              </a:gs>
              <a:gs pos="3000">
                <a:schemeClr val="tx2"/>
              </a:gs>
            </a:gsLst>
            <a:lin ang="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tificial Intelligence with solid fill">
            <a:extLst>
              <a:ext uri="{FF2B5EF4-FFF2-40B4-BE49-F238E27FC236}">
                <a16:creationId xmlns:a16="http://schemas.microsoft.com/office/drawing/2014/main" id="{4B108DBA-F0AF-84BE-3BFE-81AFAF6197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44567" y="2044205"/>
            <a:ext cx="668668" cy="668668"/>
          </a:xfrm>
          <a:prstGeom prst="rect">
            <a:avLst/>
          </a:prstGeom>
        </p:spPr>
      </p:pic>
    </p:spTree>
    <p:extLst>
      <p:ext uri="{BB962C8B-B14F-4D97-AF65-F5344CB8AC3E}">
        <p14:creationId xmlns:p14="http://schemas.microsoft.com/office/powerpoint/2010/main" val="201799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8" grpId="0" animBg="1"/>
      <p:bldP spid="26" grpId="0" animBg="1"/>
      <p:bldP spid="27"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75E821E-23A6-3936-C76C-A2CD5C179EC4}"/>
              </a:ext>
            </a:extLst>
          </p:cNvPr>
          <p:cNvGraphicFramePr>
            <a:graphicFrameLocks/>
          </p:cNvGraphicFramePr>
          <p:nvPr>
            <p:custDataLst>
              <p:tags r:id="rId1"/>
            </p:custDataLst>
            <p:extLst>
              <p:ext uri="{D42A27DB-BD31-4B8C-83A1-F6EECF244321}">
                <p14:modId xmlns:p14="http://schemas.microsoft.com/office/powerpoint/2010/main" val="7595323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405" progId="TCLayout.ActiveDocument.1">
                  <p:embed/>
                </p:oleObj>
              </mc:Choice>
              <mc:Fallback>
                <p:oleObj name="think-cell Slide" r:id="rId4" imgW="405" imgH="405" progId="TCLayout.ActiveDocument.1">
                  <p:embed/>
                  <p:pic>
                    <p:nvPicPr>
                      <p:cNvPr id="4" name="think-cell data - do not delete" hidden="1">
                        <a:extLst>
                          <a:ext uri="{FF2B5EF4-FFF2-40B4-BE49-F238E27FC236}">
                            <a16:creationId xmlns:a16="http://schemas.microsoft.com/office/drawing/2014/main" id="{A75E821E-23A6-3936-C76C-A2CD5C179E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C6AF353-3B51-B766-ACA8-EF218BBC42BB}"/>
              </a:ext>
            </a:extLst>
          </p:cNvPr>
          <p:cNvSpPr>
            <a:spLocks noGrp="1"/>
          </p:cNvSpPr>
          <p:nvPr>
            <p:ph type="title"/>
          </p:nvPr>
        </p:nvSpPr>
        <p:spPr/>
        <p:txBody>
          <a:bodyPr vert="horz" rIns="91440">
            <a:normAutofit/>
          </a:bodyPr>
          <a:lstStyle/>
          <a:p>
            <a:r>
              <a:rPr lang="en-US" b="1" noProof="0" dirty="0"/>
              <a:t>Logistics Optimization and Route Planning</a:t>
            </a:r>
            <a:br>
              <a:rPr lang="en-US" b="1" noProof="0" dirty="0"/>
            </a:br>
            <a:r>
              <a:rPr lang="en-US" sz="2000" b="1" dirty="0"/>
              <a:t>a</a:t>
            </a:r>
            <a:r>
              <a:rPr lang="en-US" sz="2000" dirty="0"/>
              <a:t> massive, intricate web of delivery routes, warehouses, and transportation options</a:t>
            </a:r>
            <a:endParaRPr lang="en-US" noProof="0" dirty="0"/>
          </a:p>
        </p:txBody>
      </p:sp>
      <p:sp>
        <p:nvSpPr>
          <p:cNvPr id="6" name="Slide Number Placeholder 5">
            <a:extLst>
              <a:ext uri="{FF2B5EF4-FFF2-40B4-BE49-F238E27FC236}">
                <a16:creationId xmlns:a16="http://schemas.microsoft.com/office/drawing/2014/main" id="{AE22B436-A8A7-FFFC-F5A1-440F041E71C5}"/>
              </a:ext>
            </a:extLst>
          </p:cNvPr>
          <p:cNvSpPr>
            <a:spLocks noGrp="1"/>
          </p:cNvSpPr>
          <p:nvPr>
            <p:ph type="sldNum" sz="quarter" idx="12"/>
          </p:nvPr>
        </p:nvSpPr>
        <p:spPr/>
        <p:txBody>
          <a:bodyPr/>
          <a:lstStyle/>
          <a:p>
            <a:fld id="{49882A7A-00EB-4D45-AA64-F8A75FA21FCC}" type="slidenum">
              <a:rPr lang="en-US" noProof="0" smtClean="0"/>
              <a:pPr/>
              <a:t>7</a:t>
            </a:fld>
            <a:endParaRPr lang="en-US" noProof="0" dirty="0"/>
          </a:p>
        </p:txBody>
      </p:sp>
      <p:sp>
        <p:nvSpPr>
          <p:cNvPr id="7" name="Rectangle: Top Corners Rounded 17">
            <a:extLst>
              <a:ext uri="{FF2B5EF4-FFF2-40B4-BE49-F238E27FC236}">
                <a16:creationId xmlns:a16="http://schemas.microsoft.com/office/drawing/2014/main" id="{E5529962-4B46-5BFF-B0BC-757B784D7C23}"/>
              </a:ext>
            </a:extLst>
          </p:cNvPr>
          <p:cNvSpPr/>
          <p:nvPr/>
        </p:nvSpPr>
        <p:spPr>
          <a:xfrm rot="16200000" flipH="1">
            <a:off x="4756450" y="-623553"/>
            <a:ext cx="2679105" cy="10515600"/>
          </a:xfrm>
          <a:custGeom>
            <a:avLst/>
            <a:gdLst>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6" fmla="*/ 0 w 2651753"/>
              <a:gd name="csY6" fmla="*/ 10515600 h 10515600"/>
              <a:gd name="csX7" fmla="*/ 0 w 2651753"/>
              <a:gd name="csY7" fmla="*/ 96497 h 10515600"/>
              <a:gd name="csX8" fmla="*/ 96497 w 2651753"/>
              <a:gd name="csY8" fmla="*/ 0 h 10515600"/>
              <a:gd name="csX0" fmla="*/ 0 w 2651753"/>
              <a:gd name="csY0" fmla="*/ 96497 h 10515600"/>
              <a:gd name="csX1" fmla="*/ 96497 w 2651753"/>
              <a:gd name="csY1" fmla="*/ 0 h 10515600"/>
              <a:gd name="csX2" fmla="*/ 2555256 w 2651753"/>
              <a:gd name="csY2" fmla="*/ 0 h 10515600"/>
              <a:gd name="csX3" fmla="*/ 2651753 w 2651753"/>
              <a:gd name="csY3" fmla="*/ 96497 h 10515600"/>
              <a:gd name="csX4" fmla="*/ 2651753 w 2651753"/>
              <a:gd name="csY4" fmla="*/ 10515600 h 10515600"/>
              <a:gd name="csX5" fmla="*/ 2651753 w 2651753"/>
              <a:gd name="csY5" fmla="*/ 10515600 h 10515600"/>
              <a:gd name="csX6" fmla="*/ 0 w 2651753"/>
              <a:gd name="csY6" fmla="*/ 10515600 h 10515600"/>
              <a:gd name="csX7" fmla="*/ 0 w 2651753"/>
              <a:gd name="csY7" fmla="*/ 10515600 h 10515600"/>
              <a:gd name="csX8" fmla="*/ 91440 w 2651753"/>
              <a:gd name="csY8" fmla="*/ 187937 h 10515600"/>
              <a:gd name="csX0" fmla="*/ 0 w 2651753"/>
              <a:gd name="csY0" fmla="*/ 96497 h 10515600"/>
              <a:gd name="csX1" fmla="*/ 96497 w 2651753"/>
              <a:gd name="csY1" fmla="*/ 0 h 10515600"/>
              <a:gd name="csX2" fmla="*/ 2555256 w 2651753"/>
              <a:gd name="csY2" fmla="*/ 0 h 10515600"/>
              <a:gd name="csX3" fmla="*/ 2651753 w 2651753"/>
              <a:gd name="csY3" fmla="*/ 96497 h 10515600"/>
              <a:gd name="csX4" fmla="*/ 2651753 w 2651753"/>
              <a:gd name="csY4" fmla="*/ 10515600 h 10515600"/>
              <a:gd name="csX5" fmla="*/ 2651753 w 2651753"/>
              <a:gd name="csY5" fmla="*/ 10515600 h 10515600"/>
              <a:gd name="csX6" fmla="*/ 0 w 2651753"/>
              <a:gd name="csY6" fmla="*/ 10515600 h 10515600"/>
              <a:gd name="csX7" fmla="*/ 0 w 2651753"/>
              <a:gd name="csY7" fmla="*/ 10515600 h 10515600"/>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6" fmla="*/ 0 w 2651753"/>
              <a:gd name="csY6" fmla="*/ 10515600 h 10515600"/>
              <a:gd name="csX0" fmla="*/ 96497 w 2651753"/>
              <a:gd name="csY0" fmla="*/ 0 h 10515600"/>
              <a:gd name="csX1" fmla="*/ 2555256 w 2651753"/>
              <a:gd name="csY1" fmla="*/ 0 h 10515600"/>
              <a:gd name="csX2" fmla="*/ 2651753 w 2651753"/>
              <a:gd name="csY2" fmla="*/ 96497 h 10515600"/>
              <a:gd name="csX3" fmla="*/ 2651753 w 2651753"/>
              <a:gd name="csY3" fmla="*/ 10515600 h 10515600"/>
              <a:gd name="csX4" fmla="*/ 2651753 w 2651753"/>
              <a:gd name="csY4" fmla="*/ 10515600 h 10515600"/>
              <a:gd name="csX5" fmla="*/ 0 w 2651753"/>
              <a:gd name="csY5" fmla="*/ 10515600 h 10515600"/>
              <a:gd name="csX0" fmla="*/ 0 w 2555256"/>
              <a:gd name="csY0" fmla="*/ 0 h 10515600"/>
              <a:gd name="csX1" fmla="*/ 2458759 w 2555256"/>
              <a:gd name="csY1" fmla="*/ 0 h 10515600"/>
              <a:gd name="csX2" fmla="*/ 2555256 w 2555256"/>
              <a:gd name="csY2" fmla="*/ 96497 h 10515600"/>
              <a:gd name="csX3" fmla="*/ 2555256 w 2555256"/>
              <a:gd name="csY3" fmla="*/ 10515600 h 10515600"/>
              <a:gd name="csX4" fmla="*/ 2555256 w 2555256"/>
              <a:gd name="csY4" fmla="*/ 10515600 h 10515600"/>
            </a:gdLst>
            <a:ahLst/>
            <a:cxnLst>
              <a:cxn ang="0">
                <a:pos x="csX0" y="csY0"/>
              </a:cxn>
              <a:cxn ang="0">
                <a:pos x="csX1" y="csY1"/>
              </a:cxn>
              <a:cxn ang="0">
                <a:pos x="csX2" y="csY2"/>
              </a:cxn>
              <a:cxn ang="0">
                <a:pos x="csX3" y="csY3"/>
              </a:cxn>
              <a:cxn ang="0">
                <a:pos x="csX4" y="csY4"/>
              </a:cxn>
            </a:cxnLst>
            <a:rect l="l" t="t" r="r" b="b"/>
            <a:pathLst>
              <a:path w="2555256" h="10515600">
                <a:moveTo>
                  <a:pt x="0" y="0"/>
                </a:moveTo>
                <a:lnTo>
                  <a:pt x="2458759" y="0"/>
                </a:lnTo>
                <a:cubicBezTo>
                  <a:pt x="2512053" y="0"/>
                  <a:pt x="2555256" y="43203"/>
                  <a:pt x="2555256" y="96497"/>
                </a:cubicBezTo>
                <a:lnTo>
                  <a:pt x="2555256" y="10515600"/>
                </a:lnTo>
                <a:lnTo>
                  <a:pt x="2555256" y="10515600"/>
                </a:lnTo>
              </a:path>
            </a:pathLst>
          </a:custGeom>
          <a:noFill/>
          <a:ln w="9525">
            <a:gradFill flip="none" rotWithShape="1">
              <a:gsLst>
                <a:gs pos="0">
                  <a:schemeClr val="bg2"/>
                </a:gs>
                <a:gs pos="76000">
                  <a:schemeClr val="bg2">
                    <a:alpha val="3000"/>
                  </a:schemeClr>
                </a:gs>
              </a:gsLst>
              <a:lin ang="10800000" scaled="1"/>
              <a:tileRect/>
            </a:gradFill>
            <a:tailEnd type="diamo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01585001-4378-0C51-7602-D85BF7A9DEB9}"/>
              </a:ext>
            </a:extLst>
          </p:cNvPr>
          <p:cNvSpPr txBox="1">
            <a:spLocks/>
          </p:cNvSpPr>
          <p:nvPr/>
        </p:nvSpPr>
        <p:spPr>
          <a:xfrm>
            <a:off x="838200" y="2761290"/>
            <a:ext cx="5149800" cy="533400"/>
          </a:xfrm>
          <a:prstGeom prst="round2SameRect">
            <a:avLst/>
          </a:prstGeom>
          <a:solidFill>
            <a:srgbClr val="5C5C5C"/>
          </a:solidFill>
          <a:ln>
            <a:solidFill>
              <a:srgbClr val="5C5C5C"/>
            </a:solidFill>
          </a:ln>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en-US" sz="2000" b="1" noProof="0" dirty="0"/>
              <a:t>Dynamic Route Planning</a:t>
            </a:r>
            <a:endParaRPr lang="en-US" sz="2000" noProof="0" dirty="0"/>
          </a:p>
        </p:txBody>
      </p:sp>
      <p:sp>
        <p:nvSpPr>
          <p:cNvPr id="9" name="Content Placeholder 2">
            <a:extLst>
              <a:ext uri="{FF2B5EF4-FFF2-40B4-BE49-F238E27FC236}">
                <a16:creationId xmlns:a16="http://schemas.microsoft.com/office/drawing/2014/main" id="{8ED850FB-5578-1A87-4672-132FD160EB95}"/>
              </a:ext>
            </a:extLst>
          </p:cNvPr>
          <p:cNvSpPr txBox="1">
            <a:spLocks/>
          </p:cNvSpPr>
          <p:nvPr/>
        </p:nvSpPr>
        <p:spPr>
          <a:xfrm>
            <a:off x="838200" y="3561304"/>
            <a:ext cx="5149800" cy="2195473"/>
          </a:xfrm>
          <a:prstGeom prst="rect">
            <a:avLst/>
          </a:prstGeom>
        </p:spPr>
        <p:txBody>
          <a:bodyPr vert="horz" lIns="18000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GB" sz="1800" noProof="0" dirty="0">
                <a:solidFill>
                  <a:schemeClr val="tx2"/>
                </a:solidFill>
              </a:rPr>
              <a:t>Real-time Adaptation:</a:t>
            </a:r>
            <a:r>
              <a:rPr lang="en-GB" sz="1800" noProof="0" dirty="0"/>
              <a:t> AI adjusts routes based on traffic and weather</a:t>
            </a:r>
          </a:p>
          <a:p>
            <a:pPr fontAlgn="base">
              <a:lnSpc>
                <a:spcPct val="100000"/>
              </a:lnSpc>
            </a:pPr>
            <a:r>
              <a:rPr lang="en-GB" sz="1800" noProof="0" dirty="0">
                <a:solidFill>
                  <a:schemeClr val="tx2"/>
                </a:solidFill>
              </a:rPr>
              <a:t>Efficiency: </a:t>
            </a:r>
            <a:r>
              <a:rPr lang="en-GB" sz="1800" noProof="0" dirty="0"/>
              <a:t>Reduces delivery times and </a:t>
            </a:r>
            <a:br>
              <a:rPr lang="en-GB" sz="1800" noProof="0" dirty="0"/>
            </a:br>
            <a:r>
              <a:rPr lang="en-GB" sz="1800" noProof="0" dirty="0"/>
              <a:t>fuel consumption</a:t>
            </a:r>
          </a:p>
          <a:p>
            <a:pPr fontAlgn="base">
              <a:lnSpc>
                <a:spcPct val="100000"/>
              </a:lnSpc>
            </a:pPr>
            <a:r>
              <a:rPr lang="en-GB" sz="1800" noProof="0" dirty="0">
                <a:solidFill>
                  <a:schemeClr val="tx2"/>
                </a:solidFill>
              </a:rPr>
              <a:t>Impact: </a:t>
            </a:r>
            <a:r>
              <a:rPr lang="en-GB" sz="1800" noProof="0" dirty="0"/>
              <a:t>Directly supports </a:t>
            </a:r>
            <a:br>
              <a:rPr lang="en-GB" sz="1800" noProof="0" dirty="0"/>
            </a:br>
            <a:r>
              <a:rPr lang="en-GB" sz="1800" noProof="0" dirty="0"/>
              <a:t>sustainability goals</a:t>
            </a:r>
            <a:endParaRPr lang="en-US" sz="1800" noProof="0" dirty="0"/>
          </a:p>
        </p:txBody>
      </p:sp>
      <p:sp>
        <p:nvSpPr>
          <p:cNvPr id="10" name="Content Placeholder 2">
            <a:extLst>
              <a:ext uri="{FF2B5EF4-FFF2-40B4-BE49-F238E27FC236}">
                <a16:creationId xmlns:a16="http://schemas.microsoft.com/office/drawing/2014/main" id="{BB36030F-2CAE-AF3E-ACDB-E7F288DE56AC}"/>
              </a:ext>
            </a:extLst>
          </p:cNvPr>
          <p:cNvSpPr txBox="1">
            <a:spLocks/>
          </p:cNvSpPr>
          <p:nvPr/>
        </p:nvSpPr>
        <p:spPr>
          <a:xfrm>
            <a:off x="6204000" y="2761290"/>
            <a:ext cx="5149800" cy="533400"/>
          </a:xfrm>
          <a:prstGeom prst="round2SameRect">
            <a:avLst/>
          </a:prstGeom>
          <a:solidFill>
            <a:srgbClr val="5C5C5C"/>
          </a:solidFill>
          <a:ln>
            <a:solidFill>
              <a:srgbClr val="5C5C5C"/>
            </a:solidFill>
          </a:ln>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None/>
            </a:pPr>
            <a:r>
              <a:rPr lang="en-US" sz="2000" b="1" noProof="0" dirty="0"/>
              <a:t>Load Balancing</a:t>
            </a:r>
            <a:endParaRPr lang="en-US" sz="2000" noProof="0" dirty="0"/>
          </a:p>
        </p:txBody>
      </p:sp>
      <p:sp>
        <p:nvSpPr>
          <p:cNvPr id="11" name="Content Placeholder 2">
            <a:extLst>
              <a:ext uri="{FF2B5EF4-FFF2-40B4-BE49-F238E27FC236}">
                <a16:creationId xmlns:a16="http://schemas.microsoft.com/office/drawing/2014/main" id="{CBBEAF72-A590-2A5B-059C-20C9208A9C2F}"/>
              </a:ext>
            </a:extLst>
          </p:cNvPr>
          <p:cNvSpPr txBox="1">
            <a:spLocks/>
          </p:cNvSpPr>
          <p:nvPr/>
        </p:nvSpPr>
        <p:spPr>
          <a:xfrm>
            <a:off x="6204000" y="3561304"/>
            <a:ext cx="5149800" cy="2195473"/>
          </a:xfrm>
          <a:prstGeom prst="rect">
            <a:avLst/>
          </a:prstGeom>
        </p:spPr>
        <p:txBody>
          <a:bodyPr vert="horz" lIns="18000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00000"/>
              </a:lnSpc>
            </a:pPr>
            <a:r>
              <a:rPr lang="en-GB" sz="1800" noProof="0" dirty="0">
                <a:solidFill>
                  <a:schemeClr val="tx2"/>
                </a:solidFill>
              </a:rPr>
              <a:t>Network Analysis: </a:t>
            </a:r>
            <a:r>
              <a:rPr lang="en-GB" sz="1800" noProof="0" dirty="0"/>
              <a:t>Algorithms monitor the flow of goods to prevent bottlenecks</a:t>
            </a:r>
          </a:p>
          <a:p>
            <a:pPr fontAlgn="base">
              <a:lnSpc>
                <a:spcPct val="100000"/>
              </a:lnSpc>
            </a:pPr>
            <a:r>
              <a:rPr lang="en-GB" sz="1800" noProof="0" dirty="0">
                <a:solidFill>
                  <a:schemeClr val="tx2"/>
                </a:solidFill>
              </a:rPr>
              <a:t>Distribution: </a:t>
            </a:r>
            <a:r>
              <a:rPr lang="en-GB" sz="1800" noProof="0" dirty="0"/>
              <a:t>Automatically redistributes inventory across warehouses</a:t>
            </a:r>
          </a:p>
          <a:p>
            <a:pPr fontAlgn="base">
              <a:lnSpc>
                <a:spcPct val="100000"/>
              </a:lnSpc>
            </a:pPr>
            <a:r>
              <a:rPr lang="en-GB" sz="1800" noProof="0" dirty="0">
                <a:solidFill>
                  <a:schemeClr val="tx2"/>
                </a:solidFill>
              </a:rPr>
              <a:t>Reliability: </a:t>
            </a:r>
            <a:r>
              <a:rPr lang="en-GB" sz="1800" noProof="0" dirty="0"/>
              <a:t>Ensures no single node </a:t>
            </a:r>
            <a:br>
              <a:rPr lang="en-GB" sz="1800" noProof="0" dirty="0"/>
            </a:br>
            <a:r>
              <a:rPr lang="en-GB" sz="1800" noProof="0" dirty="0"/>
              <a:t>is overwhelmed for consistent </a:t>
            </a:r>
            <a:br>
              <a:rPr lang="en-GB" sz="1800" noProof="0" dirty="0"/>
            </a:br>
            <a:r>
              <a:rPr lang="en-GB" sz="1800" noProof="0" dirty="0"/>
              <a:t>delivery speeds</a:t>
            </a:r>
            <a:endParaRPr lang="en-US" sz="1800" noProof="0" dirty="0"/>
          </a:p>
        </p:txBody>
      </p:sp>
      <p:sp>
        <p:nvSpPr>
          <p:cNvPr id="14" name="Content Placeholder 2">
            <a:extLst>
              <a:ext uri="{FF2B5EF4-FFF2-40B4-BE49-F238E27FC236}">
                <a16:creationId xmlns:a16="http://schemas.microsoft.com/office/drawing/2014/main" id="{B907F79E-96FC-EB19-055D-C039D1E217F8}"/>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800" dirty="0">
                <a:hlinkClick r:id="rId6"/>
              </a:rPr>
              <a:t>Case Study: Amazon’s AI-Driven Supply Chain: A Blueprint for the Future of Global Logistics - The CDO TIMES</a:t>
            </a:r>
            <a:endParaRPr lang="en-US" sz="700" dirty="0"/>
          </a:p>
        </p:txBody>
      </p:sp>
      <p:sp>
        <p:nvSpPr>
          <p:cNvPr id="3" name="Moon 2">
            <a:extLst>
              <a:ext uri="{FF2B5EF4-FFF2-40B4-BE49-F238E27FC236}">
                <a16:creationId xmlns:a16="http://schemas.microsoft.com/office/drawing/2014/main" id="{7334024E-4802-4CF4-B563-0F00FDD63AA2}"/>
              </a:ext>
            </a:extLst>
          </p:cNvPr>
          <p:cNvSpPr/>
          <p:nvPr/>
        </p:nvSpPr>
        <p:spPr>
          <a:xfrm rot="5400000">
            <a:off x="3068899" y="1631849"/>
            <a:ext cx="688404" cy="1376808"/>
          </a:xfrm>
          <a:prstGeom prst="moon">
            <a:avLst>
              <a:gd name="adj" fmla="val 878"/>
            </a:avLst>
          </a:prstGeom>
          <a:gradFill flip="none" rotWithShape="1">
            <a:gsLst>
              <a:gs pos="100000">
                <a:schemeClr val="tx2">
                  <a:alpha val="3000"/>
                </a:schemeClr>
              </a:gs>
              <a:gs pos="3000">
                <a:schemeClr val="tx2"/>
              </a:gs>
            </a:gsLst>
            <a:lin ang="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oon 4">
            <a:extLst>
              <a:ext uri="{FF2B5EF4-FFF2-40B4-BE49-F238E27FC236}">
                <a16:creationId xmlns:a16="http://schemas.microsoft.com/office/drawing/2014/main" id="{2742B993-E52C-32FC-773D-9E21E28C8EF9}"/>
              </a:ext>
            </a:extLst>
          </p:cNvPr>
          <p:cNvSpPr/>
          <p:nvPr/>
        </p:nvSpPr>
        <p:spPr>
          <a:xfrm rot="5400000">
            <a:off x="8434699" y="1631849"/>
            <a:ext cx="688404" cy="1376808"/>
          </a:xfrm>
          <a:prstGeom prst="moon">
            <a:avLst>
              <a:gd name="adj" fmla="val 878"/>
            </a:avLst>
          </a:prstGeom>
          <a:gradFill flip="none" rotWithShape="1">
            <a:gsLst>
              <a:gs pos="100000">
                <a:schemeClr val="tx2">
                  <a:alpha val="3000"/>
                </a:schemeClr>
              </a:gs>
              <a:gs pos="3000">
                <a:schemeClr val="tx2"/>
              </a:gs>
            </a:gsLst>
            <a:lin ang="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Route (Two Pins With A Path) with solid fill">
            <a:extLst>
              <a:ext uri="{FF2B5EF4-FFF2-40B4-BE49-F238E27FC236}">
                <a16:creationId xmlns:a16="http://schemas.microsoft.com/office/drawing/2014/main" id="{85743D92-C5E1-5298-6D71-A3F3E59D91A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36850" y="2086872"/>
            <a:ext cx="552500" cy="552500"/>
          </a:xfrm>
          <a:prstGeom prst="rect">
            <a:avLst/>
          </a:prstGeom>
        </p:spPr>
      </p:pic>
      <p:pic>
        <p:nvPicPr>
          <p:cNvPr id="19" name="Graphic 18" descr="Scales of justice with solid fill">
            <a:extLst>
              <a:ext uri="{FF2B5EF4-FFF2-40B4-BE49-F238E27FC236}">
                <a16:creationId xmlns:a16="http://schemas.microsoft.com/office/drawing/2014/main" id="{04D46279-B3F3-A1A5-8EB8-AA96129D229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02650" y="2086872"/>
            <a:ext cx="552500" cy="552500"/>
          </a:xfrm>
          <a:prstGeom prst="rect">
            <a:avLst/>
          </a:prstGeom>
        </p:spPr>
      </p:pic>
    </p:spTree>
    <p:extLst>
      <p:ext uri="{BB962C8B-B14F-4D97-AF65-F5344CB8AC3E}">
        <p14:creationId xmlns:p14="http://schemas.microsoft.com/office/powerpoint/2010/main" val="125042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animBg="1"/>
      <p:bldP spid="11" grpId="0"/>
      <p:bldP spid="3"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75000"/>
              </a:schemeClr>
            </a:gs>
            <a:gs pos="97000">
              <a:schemeClr val="accent2">
                <a:lumMod val="50000"/>
              </a:schemeClr>
            </a:gs>
          </a:gsLst>
          <a:lin ang="18900000" scaled="1"/>
          <a:tileRect/>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C4C46A5-64C4-3525-A224-BBE52EA25FF1}"/>
              </a:ext>
            </a:extLst>
          </p:cNvPr>
          <p:cNvGraphicFramePr>
            <a:graphicFrameLocks/>
          </p:cNvGraphicFramePr>
          <p:nvPr>
            <p:custDataLst>
              <p:tags r:id="rId1"/>
            </p:custDataLst>
            <p:extLst>
              <p:ext uri="{D42A27DB-BD31-4B8C-83A1-F6EECF244321}">
                <p14:modId xmlns:p14="http://schemas.microsoft.com/office/powerpoint/2010/main" val="2914739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6" name="think-cell data - do not delete" hidden="1">
                        <a:extLst>
                          <a:ext uri="{FF2B5EF4-FFF2-40B4-BE49-F238E27FC236}">
                            <a16:creationId xmlns:a16="http://schemas.microsoft.com/office/drawing/2014/main" id="{6C4C46A5-64C4-3525-A224-BBE52EA25F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6870D7AF-7696-FB50-0704-B0EB2917C146}"/>
              </a:ext>
            </a:extLst>
          </p:cNvPr>
          <p:cNvSpPr>
            <a:spLocks noGrp="1"/>
          </p:cNvSpPr>
          <p:nvPr>
            <p:ph type="title"/>
          </p:nvPr>
        </p:nvSpPr>
        <p:spPr>
          <a:xfrm>
            <a:off x="831850" y="3145460"/>
            <a:ext cx="10515600" cy="1754326"/>
          </a:xfrm>
        </p:spPr>
        <p:txBody>
          <a:bodyPr vert="horz" rIns="91440">
            <a:noAutofit/>
          </a:bodyPr>
          <a:lstStyle/>
          <a:p>
            <a:r>
              <a:rPr lang="en-US" dirty="0"/>
              <a:t>The outcome </a:t>
            </a:r>
            <a:br>
              <a:rPr lang="en-US" dirty="0"/>
            </a:br>
            <a:r>
              <a:rPr lang="en-US" dirty="0"/>
              <a:t>of this groundwork</a:t>
            </a:r>
          </a:p>
        </p:txBody>
      </p:sp>
      <p:sp>
        <p:nvSpPr>
          <p:cNvPr id="3" name="Slide Number Placeholder 2">
            <a:extLst>
              <a:ext uri="{FF2B5EF4-FFF2-40B4-BE49-F238E27FC236}">
                <a16:creationId xmlns:a16="http://schemas.microsoft.com/office/drawing/2014/main" id="{902DF004-AC11-1B35-E4D7-B21037A30C9F}"/>
              </a:ext>
            </a:extLst>
          </p:cNvPr>
          <p:cNvSpPr>
            <a:spLocks noGrp="1"/>
          </p:cNvSpPr>
          <p:nvPr>
            <p:ph type="sldNum" sz="quarter" idx="12"/>
          </p:nvPr>
        </p:nvSpPr>
        <p:spPr/>
        <p:txBody>
          <a:bodyPr/>
          <a:lstStyle/>
          <a:p>
            <a:fld id="{49882A7A-00EB-4D45-AA64-F8A75FA21FCC}" type="slidenum">
              <a:rPr lang="en-US" smtClean="0"/>
              <a:pPr/>
              <a:t>8</a:t>
            </a:fld>
            <a:endParaRPr lang="en-US" dirty="0"/>
          </a:p>
        </p:txBody>
      </p:sp>
      <p:sp>
        <p:nvSpPr>
          <p:cNvPr id="2" name="Arrow: Chevron 1">
            <a:extLst>
              <a:ext uri="{FF2B5EF4-FFF2-40B4-BE49-F238E27FC236}">
                <a16:creationId xmlns:a16="http://schemas.microsoft.com/office/drawing/2014/main" id="{9BC28575-83F7-62D8-A310-B76E027ADDB6}"/>
              </a:ext>
            </a:extLst>
          </p:cNvPr>
          <p:cNvSpPr/>
          <p:nvPr/>
        </p:nvSpPr>
        <p:spPr>
          <a:xfrm>
            <a:off x="-1924665" y="2271252"/>
            <a:ext cx="11901949" cy="3502742"/>
          </a:xfrm>
          <a:prstGeom prst="chevron">
            <a:avLst>
              <a:gd name="adj" fmla="val 27684"/>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34478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662F3-FAB6-512C-F1F9-93A8144AB14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2180351-237D-10FA-C2D3-708C21FD74E3}"/>
              </a:ext>
            </a:extLst>
          </p:cNvPr>
          <p:cNvGraphicFramePr>
            <a:graphicFrameLocks/>
          </p:cNvGraphicFramePr>
          <p:nvPr>
            <p:custDataLst>
              <p:tags r:id="rId1"/>
            </p:custDataLst>
            <p:extLst>
              <p:ext uri="{D42A27DB-BD31-4B8C-83A1-F6EECF244321}">
                <p14:modId xmlns:p14="http://schemas.microsoft.com/office/powerpoint/2010/main" val="2287558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05" imgH="405" progId="TCLayout.ActiveDocument.1">
                  <p:embed/>
                </p:oleObj>
              </mc:Choice>
              <mc:Fallback>
                <p:oleObj name="think-cell Slide" r:id="rId30" imgW="405" imgH="405" progId="TCLayout.ActiveDocument.1">
                  <p:embed/>
                  <p:pic>
                    <p:nvPicPr>
                      <p:cNvPr id="5" name="think-cell data - do not delete" hidden="1">
                        <a:extLst>
                          <a:ext uri="{FF2B5EF4-FFF2-40B4-BE49-F238E27FC236}">
                            <a16:creationId xmlns:a16="http://schemas.microsoft.com/office/drawing/2014/main" id="{32180351-237D-10FA-C2D3-708C21FD74E3}"/>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EBA99A-7368-54CD-7C8A-0CC3995F1324}"/>
              </a:ext>
            </a:extLst>
          </p:cNvPr>
          <p:cNvSpPr>
            <a:spLocks noGrp="1"/>
          </p:cNvSpPr>
          <p:nvPr>
            <p:ph type="title"/>
          </p:nvPr>
        </p:nvSpPr>
        <p:spPr>
          <a:xfrm>
            <a:off x="838200" y="374650"/>
            <a:ext cx="10515600" cy="1218795"/>
          </a:xfrm>
        </p:spPr>
        <p:txBody>
          <a:bodyPr vert="horz" rIns="91440">
            <a:noAutofit/>
          </a:bodyPr>
          <a:lstStyle/>
          <a:p>
            <a:r>
              <a:rPr lang="en-GB" sz="2800" noProof="0" dirty="0"/>
              <a:t>Remarkable KPI Gains: </a:t>
            </a:r>
            <a:br>
              <a:rPr lang="en-GB" sz="2800" noProof="0" dirty="0"/>
            </a:br>
            <a:r>
              <a:rPr lang="en-GB" sz="2800" noProof="0" dirty="0"/>
              <a:t>AI-Driven Supply Chain Transformation</a:t>
            </a:r>
            <a:br>
              <a:rPr lang="en-US" noProof="0" dirty="0"/>
            </a:br>
            <a:r>
              <a:rPr lang="en-US" sz="1600" noProof="0" dirty="0"/>
              <a:t>From 2019 to 2023 Amazon has had a 20% improvement in average delivery time and 8.5% improvement in Inventory turnover rate</a:t>
            </a:r>
            <a:endParaRPr lang="en-US" noProof="0" dirty="0"/>
          </a:p>
        </p:txBody>
      </p:sp>
      <p:graphicFrame>
        <p:nvGraphicFramePr>
          <p:cNvPr id="74" name="Chart 73">
            <a:extLst>
              <a:ext uri="{FF2B5EF4-FFF2-40B4-BE49-F238E27FC236}">
                <a16:creationId xmlns:a16="http://schemas.microsoft.com/office/drawing/2014/main" id="{DBB9E45E-421C-92BB-7E55-667A8D175D9A}"/>
              </a:ext>
            </a:extLst>
          </p:cNvPr>
          <p:cNvGraphicFramePr/>
          <p:nvPr>
            <p:custDataLst>
              <p:tags r:id="rId2"/>
            </p:custDataLst>
            <p:extLst>
              <p:ext uri="{D42A27DB-BD31-4B8C-83A1-F6EECF244321}">
                <p14:modId xmlns:p14="http://schemas.microsoft.com/office/powerpoint/2010/main" val="3248947284"/>
              </p:ext>
            </p:extLst>
          </p:nvPr>
        </p:nvGraphicFramePr>
        <p:xfrm>
          <a:off x="1631950" y="2528888"/>
          <a:ext cx="4314825" cy="2781300"/>
        </p:xfrm>
        <a:graphic>
          <a:graphicData uri="http://schemas.openxmlformats.org/drawingml/2006/chart">
            <c:chart xmlns:c="http://schemas.openxmlformats.org/drawingml/2006/chart" xmlns:r="http://schemas.openxmlformats.org/officeDocument/2006/relationships" r:id="rId32"/>
          </a:graphicData>
        </a:graphic>
      </p:graphicFrame>
      <p:sp>
        <p:nvSpPr>
          <p:cNvPr id="68" name="Text Placeholder 2">
            <a:extLst>
              <a:ext uri="{FF2B5EF4-FFF2-40B4-BE49-F238E27FC236}">
                <a16:creationId xmlns:a16="http://schemas.microsoft.com/office/drawing/2014/main" id="{AE02C83F-FB67-5DD9-F937-68A39636E512}"/>
              </a:ext>
            </a:extLst>
          </p:cNvPr>
          <p:cNvSpPr>
            <a:spLocks/>
          </p:cNvSpPr>
          <p:nvPr>
            <p:custDataLst>
              <p:tags r:id="rId3"/>
            </p:custDataLst>
          </p:nvPr>
        </p:nvSpPr>
        <p:spPr bwMode="gray">
          <a:xfrm>
            <a:off x="1376363" y="5149850"/>
            <a:ext cx="2365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EF702F-4722-4A75-ACB5-70EE28E8CF3A}" type="datetime'''''''''2'''''''''''''',''''''4'''''''''''">
              <a:rPr lang="en-US" altLang="en-US" sz="1200" smtClean="0"/>
              <a:pPr marL="0" lvl="0" indent="0" algn="r">
                <a:spcBef>
                  <a:spcPct val="0"/>
                </a:spcBef>
                <a:spcAft>
                  <a:spcPct val="0"/>
                </a:spcAft>
                <a:buNone/>
              </a:pPr>
              <a:t>2,4</a:t>
            </a:fld>
            <a:endParaRPr lang="en-US" sz="1200" dirty="0"/>
          </a:p>
        </p:txBody>
      </p:sp>
      <p:sp>
        <p:nvSpPr>
          <p:cNvPr id="69" name="Text Placeholder 2">
            <a:extLst>
              <a:ext uri="{FF2B5EF4-FFF2-40B4-BE49-F238E27FC236}">
                <a16:creationId xmlns:a16="http://schemas.microsoft.com/office/drawing/2014/main" id="{14647BA1-B20E-A8FA-9FE7-7F2B335A87D7}"/>
              </a:ext>
            </a:extLst>
          </p:cNvPr>
          <p:cNvSpPr>
            <a:spLocks/>
          </p:cNvSpPr>
          <p:nvPr>
            <p:custDataLst>
              <p:tags r:id="rId4"/>
            </p:custDataLst>
          </p:nvPr>
        </p:nvSpPr>
        <p:spPr bwMode="gray">
          <a:xfrm>
            <a:off x="1385888" y="4278313"/>
            <a:ext cx="2270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A0032958-E1FD-4013-9DF1-AB64A0BA3A9D}" type="datetime'''''''''''''''''''''''2'''''''''''''''''''''',''''''8'''">
              <a:rPr lang="en-US" altLang="en-US" sz="1200" smtClean="0"/>
              <a:pPr marL="0" lvl="0" indent="0" algn="r">
                <a:spcBef>
                  <a:spcPct val="0"/>
                </a:spcBef>
                <a:spcAft>
                  <a:spcPct val="0"/>
                </a:spcAft>
                <a:buNone/>
              </a:pPr>
              <a:t>2,8</a:t>
            </a:fld>
            <a:endParaRPr lang="en-US" sz="1200" dirty="0"/>
          </a:p>
        </p:txBody>
      </p:sp>
      <p:sp>
        <p:nvSpPr>
          <p:cNvPr id="70" name="Text Placeholder 2">
            <a:extLst>
              <a:ext uri="{FF2B5EF4-FFF2-40B4-BE49-F238E27FC236}">
                <a16:creationId xmlns:a16="http://schemas.microsoft.com/office/drawing/2014/main" id="{2F3A8345-9002-17A7-BF03-9B4D242AC883}"/>
              </a:ext>
            </a:extLst>
          </p:cNvPr>
          <p:cNvSpPr>
            <a:spLocks/>
          </p:cNvSpPr>
          <p:nvPr>
            <p:custDataLst>
              <p:tags r:id="rId5"/>
            </p:custDataLst>
          </p:nvPr>
        </p:nvSpPr>
        <p:spPr bwMode="gray">
          <a:xfrm>
            <a:off x="1384300" y="3405188"/>
            <a:ext cx="2286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7F5B4-D5BB-4681-92B1-186C02CE5C99}" type="datetime'3'''''''''''''''''''''''''''''''''''''''''''',''''2'''">
              <a:rPr lang="en-US" altLang="en-US" sz="1200" smtClean="0"/>
              <a:pPr marL="0" lvl="0" indent="0" algn="r">
                <a:spcBef>
                  <a:spcPct val="0"/>
                </a:spcBef>
                <a:spcAft>
                  <a:spcPct val="0"/>
                </a:spcAft>
                <a:buNone/>
              </a:pPr>
              <a:t>3,2</a:t>
            </a:fld>
            <a:endParaRPr lang="en-US" sz="1200" dirty="0"/>
          </a:p>
        </p:txBody>
      </p:sp>
      <p:sp>
        <p:nvSpPr>
          <p:cNvPr id="71" name="Text Placeholder 2">
            <a:extLst>
              <a:ext uri="{FF2B5EF4-FFF2-40B4-BE49-F238E27FC236}">
                <a16:creationId xmlns:a16="http://schemas.microsoft.com/office/drawing/2014/main" id="{3A1B6704-26BD-BBA9-A0F3-87AF3D9405CA}"/>
              </a:ext>
            </a:extLst>
          </p:cNvPr>
          <p:cNvSpPr>
            <a:spLocks/>
          </p:cNvSpPr>
          <p:nvPr>
            <p:custDataLst>
              <p:tags r:id="rId6"/>
            </p:custDataLst>
          </p:nvPr>
        </p:nvSpPr>
        <p:spPr bwMode="gray">
          <a:xfrm>
            <a:off x="1387475" y="2533650"/>
            <a:ext cx="2254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E543EF5-FEE8-4FF6-BE64-60E7CD2B8006}" type="datetime'''''''''''''''''''''''''''''3'''',''6'''">
              <a:rPr lang="en-US" altLang="en-US" sz="1200" smtClean="0"/>
              <a:pPr marL="0" lvl="0" indent="0" algn="r">
                <a:spcBef>
                  <a:spcPct val="0"/>
                </a:spcBef>
                <a:spcAft>
                  <a:spcPct val="0"/>
                </a:spcAft>
                <a:buNone/>
              </a:pPr>
              <a:t>3,6</a:t>
            </a:fld>
            <a:endParaRPr lang="en-US" sz="1200" dirty="0"/>
          </a:p>
        </p:txBody>
      </p:sp>
      <p:sp>
        <p:nvSpPr>
          <p:cNvPr id="53" name="Text Placeholder 2">
            <a:extLst>
              <a:ext uri="{FF2B5EF4-FFF2-40B4-BE49-F238E27FC236}">
                <a16:creationId xmlns:a16="http://schemas.microsoft.com/office/drawing/2014/main" id="{D77BBC3C-CEC7-6BA1-7727-22B1BA6E6322}"/>
              </a:ext>
            </a:extLst>
          </p:cNvPr>
          <p:cNvSpPr>
            <a:spLocks/>
          </p:cNvSpPr>
          <p:nvPr>
            <p:custDataLst>
              <p:tags r:id="rId7"/>
            </p:custDataLst>
          </p:nvPr>
        </p:nvSpPr>
        <p:spPr bwMode="gray">
          <a:xfrm>
            <a:off x="5965825" y="5149850"/>
            <a:ext cx="2270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272721BB-CFED-4089-8FCE-AC0D3A55055A}" type="datetime'''''''''''''''''''''''''''''''''''''8,''0'''''''''''''''''">
              <a:rPr lang="en-US" altLang="en-US" sz="1200" smtClean="0">
                <a:effectLst/>
              </a:rPr>
              <a:pPr/>
              <a:t>8,0</a:t>
            </a:fld>
            <a:endParaRPr lang="en-US" sz="1200" dirty="0"/>
          </a:p>
        </p:txBody>
      </p:sp>
      <p:sp>
        <p:nvSpPr>
          <p:cNvPr id="55" name="Text Placeholder 2">
            <a:extLst>
              <a:ext uri="{FF2B5EF4-FFF2-40B4-BE49-F238E27FC236}">
                <a16:creationId xmlns:a16="http://schemas.microsoft.com/office/drawing/2014/main" id="{D77BBC3C-CEC7-6BA1-7727-22B1BA6E6322}"/>
              </a:ext>
            </a:extLst>
          </p:cNvPr>
          <p:cNvSpPr>
            <a:spLocks/>
          </p:cNvSpPr>
          <p:nvPr>
            <p:custDataLst>
              <p:tags r:id="rId8"/>
            </p:custDataLst>
          </p:nvPr>
        </p:nvSpPr>
        <p:spPr bwMode="gray">
          <a:xfrm>
            <a:off x="5965825" y="4278313"/>
            <a:ext cx="2333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31E6968-2380-402A-9636-318825FFD375}" type="datetime'''''''''''''''''''''''''''''''''''''''''8,''''''''''''''4'">
              <a:rPr lang="en-US" altLang="en-US" sz="1200" smtClean="0">
                <a:effectLst/>
              </a:rPr>
              <a:pPr/>
              <a:t>8,4</a:t>
            </a:fld>
            <a:endParaRPr lang="en-US" sz="1200" dirty="0"/>
          </a:p>
        </p:txBody>
      </p:sp>
      <p:sp>
        <p:nvSpPr>
          <p:cNvPr id="56" name="Text Placeholder 2">
            <a:extLst>
              <a:ext uri="{FF2B5EF4-FFF2-40B4-BE49-F238E27FC236}">
                <a16:creationId xmlns:a16="http://schemas.microsoft.com/office/drawing/2014/main" id="{D77BBC3C-CEC7-6BA1-7727-22B1BA6E6322}"/>
              </a:ext>
            </a:extLst>
          </p:cNvPr>
          <p:cNvSpPr>
            <a:spLocks/>
          </p:cNvSpPr>
          <p:nvPr>
            <p:custDataLst>
              <p:tags r:id="rId9"/>
            </p:custDataLst>
          </p:nvPr>
        </p:nvSpPr>
        <p:spPr bwMode="gray">
          <a:xfrm>
            <a:off x="5965825" y="3405188"/>
            <a:ext cx="2238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0226C19D-2AE6-4AA1-BC6B-DA27FE74E3C2}" type="datetime'''8'''''''''''''',''''''''''''''''''''8'''''">
              <a:rPr lang="en-US" altLang="en-US" sz="1200" smtClean="0">
                <a:effectLst/>
              </a:rPr>
              <a:pPr/>
              <a:t>8,8</a:t>
            </a:fld>
            <a:endParaRPr lang="en-US" sz="1200" dirty="0"/>
          </a:p>
        </p:txBody>
      </p:sp>
      <p:sp>
        <p:nvSpPr>
          <p:cNvPr id="57" name="Text Placeholder 2">
            <a:extLst>
              <a:ext uri="{FF2B5EF4-FFF2-40B4-BE49-F238E27FC236}">
                <a16:creationId xmlns:a16="http://schemas.microsoft.com/office/drawing/2014/main" id="{D77BBC3C-CEC7-6BA1-7727-22B1BA6E6322}"/>
              </a:ext>
            </a:extLst>
          </p:cNvPr>
          <p:cNvSpPr>
            <a:spLocks/>
          </p:cNvSpPr>
          <p:nvPr>
            <p:custDataLst>
              <p:tags r:id="rId10"/>
            </p:custDataLst>
          </p:nvPr>
        </p:nvSpPr>
        <p:spPr bwMode="gray">
          <a:xfrm>
            <a:off x="5965825" y="2533650"/>
            <a:ext cx="2286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0E8E049F-BFF0-46E3-B0C3-98398767EA33}" type="datetime'''''''''''''''''''''''''''''''''''''''''''9,''2'''">
              <a:rPr lang="en-US" altLang="en-US" sz="1200" smtClean="0">
                <a:effectLst/>
              </a:rPr>
              <a:pPr/>
              <a:t>9,2</a:t>
            </a:fld>
            <a:endParaRPr lang="en-US" sz="1200" dirty="0"/>
          </a:p>
        </p:txBody>
      </p:sp>
      <p:sp>
        <p:nvSpPr>
          <p:cNvPr id="25" name="Text Placeholder 2">
            <a:extLst>
              <a:ext uri="{FF2B5EF4-FFF2-40B4-BE49-F238E27FC236}">
                <a16:creationId xmlns:a16="http://schemas.microsoft.com/office/drawing/2014/main" id="{F3AEBE21-B703-436B-0B80-4F681269C00F}"/>
              </a:ext>
            </a:extLst>
          </p:cNvPr>
          <p:cNvSpPr>
            <a:spLocks/>
          </p:cNvSpPr>
          <p:nvPr>
            <p:custDataLst>
              <p:tags r:id="rId11"/>
            </p:custDataLst>
          </p:nvPr>
        </p:nvSpPr>
        <p:spPr bwMode="auto">
          <a:xfrm>
            <a:off x="838200" y="2246313"/>
            <a:ext cx="17526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200" dirty="0">
                <a:effectLst/>
              </a:rPr>
              <a:t>Avg delivery time (Days)</a:t>
            </a:r>
            <a:endParaRPr lang="en-US" sz="1200" dirty="0"/>
          </a:p>
        </p:txBody>
      </p:sp>
      <p:sp>
        <p:nvSpPr>
          <p:cNvPr id="81" name="Text Placeholder 2">
            <a:extLst>
              <a:ext uri="{FF2B5EF4-FFF2-40B4-BE49-F238E27FC236}">
                <a16:creationId xmlns:a16="http://schemas.microsoft.com/office/drawing/2014/main" id="{B825E371-6355-BFD3-5720-4BC8F53DB208}"/>
              </a:ext>
            </a:extLst>
          </p:cNvPr>
          <p:cNvSpPr>
            <a:spLocks/>
          </p:cNvSpPr>
          <p:nvPr>
            <p:custDataLst>
              <p:tags r:id="rId12"/>
            </p:custDataLst>
          </p:nvPr>
        </p:nvSpPr>
        <p:spPr bwMode="auto">
          <a:xfrm>
            <a:off x="5040313" y="2246313"/>
            <a:ext cx="16494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r>
              <a:rPr lang="en-US" altLang="en-US" sz="1200" dirty="0"/>
              <a:t>Inventory turnover rate</a:t>
            </a:r>
            <a:endParaRPr lang="en-US" sz="1200" dirty="0"/>
          </a:p>
        </p:txBody>
      </p:sp>
      <p:sp>
        <p:nvSpPr>
          <p:cNvPr id="16" name="Text Placeholder 2">
            <a:extLst>
              <a:ext uri="{FF2B5EF4-FFF2-40B4-BE49-F238E27FC236}">
                <a16:creationId xmlns:a16="http://schemas.microsoft.com/office/drawing/2014/main" id="{C90C1861-677E-3773-2839-217054D94354}"/>
              </a:ext>
            </a:extLst>
          </p:cNvPr>
          <p:cNvSpPr>
            <a:spLocks/>
          </p:cNvSpPr>
          <p:nvPr>
            <p:custDataLst>
              <p:tags r:id="rId13"/>
            </p:custDataLst>
          </p:nvPr>
        </p:nvSpPr>
        <p:spPr bwMode="auto">
          <a:xfrm>
            <a:off x="1949450" y="5278438"/>
            <a:ext cx="3603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37708E3-1CF8-4AAE-A82D-A032C10C2AA4}" type="datetime'''2''''''''''''''''''''''''01''9'''''''''''''''''''''''''''''">
              <a:rPr lang="en-US" altLang="en-US" sz="1200" smtClean="0"/>
              <a:pPr marL="0" lvl="0" indent="0" algn="ctr">
                <a:spcBef>
                  <a:spcPct val="0"/>
                </a:spcBef>
                <a:spcAft>
                  <a:spcPct val="0"/>
                </a:spcAft>
                <a:buNone/>
              </a:pPr>
              <a:t>2019</a:t>
            </a:fld>
            <a:endParaRPr lang="en-US" sz="1200" noProof="0" dirty="0"/>
          </a:p>
        </p:txBody>
      </p:sp>
      <p:sp>
        <p:nvSpPr>
          <p:cNvPr id="17" name="Text Placeholder 2">
            <a:extLst>
              <a:ext uri="{FF2B5EF4-FFF2-40B4-BE49-F238E27FC236}">
                <a16:creationId xmlns:a16="http://schemas.microsoft.com/office/drawing/2014/main" id="{B630D96B-D49A-C407-77E2-4A01A1EC5CC7}"/>
              </a:ext>
            </a:extLst>
          </p:cNvPr>
          <p:cNvSpPr>
            <a:spLocks/>
          </p:cNvSpPr>
          <p:nvPr>
            <p:custDataLst>
              <p:tags r:id="rId14"/>
            </p:custDataLst>
          </p:nvPr>
        </p:nvSpPr>
        <p:spPr bwMode="auto">
          <a:xfrm>
            <a:off x="2762250" y="5278438"/>
            <a:ext cx="3937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DC0E136-7307-48C0-8E35-A0F357779D60}" type="datetime'''''''''''''''''''''''''''''''2''0''''2''''''''''''''''0'''">
              <a:rPr lang="en-US" altLang="en-US" sz="1200" smtClean="0"/>
              <a:pPr marL="0" lvl="0" indent="0" algn="ctr">
                <a:spcBef>
                  <a:spcPct val="0"/>
                </a:spcBef>
                <a:spcAft>
                  <a:spcPct val="0"/>
                </a:spcAft>
                <a:buNone/>
              </a:pPr>
              <a:t>2020</a:t>
            </a:fld>
            <a:endParaRPr lang="en-US" sz="1200" noProof="0" dirty="0"/>
          </a:p>
        </p:txBody>
      </p:sp>
      <p:sp>
        <p:nvSpPr>
          <p:cNvPr id="18" name="Text Placeholder 2">
            <a:extLst>
              <a:ext uri="{FF2B5EF4-FFF2-40B4-BE49-F238E27FC236}">
                <a16:creationId xmlns:a16="http://schemas.microsoft.com/office/drawing/2014/main" id="{027C2083-E2F5-FC14-2008-2F5302A39990}"/>
              </a:ext>
            </a:extLst>
          </p:cNvPr>
          <p:cNvSpPr>
            <a:spLocks/>
          </p:cNvSpPr>
          <p:nvPr>
            <p:custDataLst>
              <p:tags r:id="rId15"/>
            </p:custDataLst>
          </p:nvPr>
        </p:nvSpPr>
        <p:spPr bwMode="auto">
          <a:xfrm>
            <a:off x="3609975" y="5278438"/>
            <a:ext cx="3587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E818BDE-1B76-4317-9223-53FD5D184BB5}" type="datetime'2''''0''''''''''''''''2''''''''''''''''''''''1'''''''''">
              <a:rPr lang="en-US" altLang="en-US" sz="1200" smtClean="0"/>
              <a:pPr marL="0" lvl="0" indent="0" algn="ctr">
                <a:spcBef>
                  <a:spcPct val="0"/>
                </a:spcBef>
                <a:spcAft>
                  <a:spcPct val="0"/>
                </a:spcAft>
                <a:buNone/>
              </a:pPr>
              <a:t>2021</a:t>
            </a:fld>
            <a:endParaRPr lang="en-US" sz="1200" noProof="0" dirty="0"/>
          </a:p>
        </p:txBody>
      </p:sp>
      <p:sp>
        <p:nvSpPr>
          <p:cNvPr id="19" name="Text Placeholder 2">
            <a:extLst>
              <a:ext uri="{FF2B5EF4-FFF2-40B4-BE49-F238E27FC236}">
                <a16:creationId xmlns:a16="http://schemas.microsoft.com/office/drawing/2014/main" id="{033A0368-DA4D-E2AA-ACF4-9EF9966033A9}"/>
              </a:ext>
            </a:extLst>
          </p:cNvPr>
          <p:cNvSpPr>
            <a:spLocks/>
          </p:cNvSpPr>
          <p:nvPr>
            <p:custDataLst>
              <p:tags r:id="rId16"/>
            </p:custDataLst>
          </p:nvPr>
        </p:nvSpPr>
        <p:spPr bwMode="auto">
          <a:xfrm>
            <a:off x="4422775" y="5278438"/>
            <a:ext cx="3905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A1539B7-1F7A-4FB6-9626-335825280D97}" type="datetime'''''''''''''''''''''''''2''''0''''''2''''''2'''''''''''">
              <a:rPr lang="en-US" altLang="en-US" sz="1200" smtClean="0"/>
              <a:pPr marL="0" lvl="0" indent="0" algn="ctr">
                <a:spcBef>
                  <a:spcPct val="0"/>
                </a:spcBef>
                <a:spcAft>
                  <a:spcPct val="0"/>
                </a:spcAft>
                <a:buNone/>
              </a:pPr>
              <a:t>2022</a:t>
            </a:fld>
            <a:endParaRPr lang="en-US" sz="1200" noProof="0" dirty="0"/>
          </a:p>
        </p:txBody>
      </p:sp>
      <p:sp>
        <p:nvSpPr>
          <p:cNvPr id="20" name="Text Placeholder 2">
            <a:extLst>
              <a:ext uri="{FF2B5EF4-FFF2-40B4-BE49-F238E27FC236}">
                <a16:creationId xmlns:a16="http://schemas.microsoft.com/office/drawing/2014/main" id="{01655E57-68DA-6668-85D3-AC80680BFA9D}"/>
              </a:ext>
            </a:extLst>
          </p:cNvPr>
          <p:cNvSpPr>
            <a:spLocks/>
          </p:cNvSpPr>
          <p:nvPr>
            <p:custDataLst>
              <p:tags r:id="rId17"/>
            </p:custDataLst>
          </p:nvPr>
        </p:nvSpPr>
        <p:spPr bwMode="auto">
          <a:xfrm>
            <a:off x="5253038" y="5278438"/>
            <a:ext cx="3905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3BA56CC-BE64-4025-854E-517585F3AA2A}" type="datetime'''''''2''''''''''''''''''''''''''''02''''''''''''''''''3'">
              <a:rPr lang="en-US" altLang="en-US" sz="1200" smtClean="0"/>
              <a:pPr marL="0" lvl="0" indent="0" algn="ctr">
                <a:spcBef>
                  <a:spcPct val="0"/>
                </a:spcBef>
                <a:spcAft>
                  <a:spcPct val="0"/>
                </a:spcAft>
                <a:buNone/>
              </a:pPr>
              <a:t>2023</a:t>
            </a:fld>
            <a:endParaRPr lang="en-US" sz="1200" noProof="0" dirty="0"/>
          </a:p>
        </p:txBody>
      </p:sp>
      <p:sp>
        <p:nvSpPr>
          <p:cNvPr id="26" name="Text Placeholder 2">
            <a:extLst>
              <a:ext uri="{FF2B5EF4-FFF2-40B4-BE49-F238E27FC236}">
                <a16:creationId xmlns:a16="http://schemas.microsoft.com/office/drawing/2014/main" id="{D77BBC3C-CEC7-6BA1-7727-22B1BA6E6322}"/>
              </a:ext>
            </a:extLst>
          </p:cNvPr>
          <p:cNvSpPr>
            <a:spLocks/>
          </p:cNvSpPr>
          <p:nvPr>
            <p:custDataLst>
              <p:tags r:id="rId18"/>
            </p:custDataLst>
          </p:nvPr>
        </p:nvSpPr>
        <p:spPr bwMode="gray">
          <a:xfrm>
            <a:off x="1995488" y="2638425"/>
            <a:ext cx="2667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9A1F50B-14AE-4413-A020-B7BC0610BD35}" type="datetime'''''''''3'''''''''''',''''''''''''''''5'''''''''''''''''''''''">
              <a:rPr lang="en-US" altLang="en-US" sz="1200" smtClean="0">
                <a:effectLst/>
              </a:rPr>
              <a:pPr marL="0" lvl="0" indent="0" algn="ctr">
                <a:spcBef>
                  <a:spcPct val="0"/>
                </a:spcBef>
                <a:spcAft>
                  <a:spcPct val="0"/>
                </a:spcAft>
                <a:buNone/>
              </a:pPr>
              <a:t>3,5</a:t>
            </a:fld>
            <a:endParaRPr lang="en-US" sz="1200" dirty="0"/>
          </a:p>
        </p:txBody>
      </p:sp>
      <p:sp>
        <p:nvSpPr>
          <p:cNvPr id="27" name="Text Placeholder 2">
            <a:extLst>
              <a:ext uri="{FF2B5EF4-FFF2-40B4-BE49-F238E27FC236}">
                <a16:creationId xmlns:a16="http://schemas.microsoft.com/office/drawing/2014/main" id="{D77BBC3C-CEC7-6BA1-7727-22B1BA6E6322}"/>
              </a:ext>
            </a:extLst>
          </p:cNvPr>
          <p:cNvSpPr>
            <a:spLocks/>
          </p:cNvSpPr>
          <p:nvPr>
            <p:custDataLst>
              <p:tags r:id="rId19"/>
            </p:custDataLst>
          </p:nvPr>
        </p:nvSpPr>
        <p:spPr bwMode="gray">
          <a:xfrm>
            <a:off x="2820988" y="2857500"/>
            <a:ext cx="2778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5F5ADB8-362E-4CBF-A9EF-7388319A1621}" type="datetime'''''''''3'''''''''''''''''''''''''''''''''''',''4'''">
              <a:rPr lang="en-US" altLang="en-US" sz="1200" smtClean="0">
                <a:effectLst/>
              </a:rPr>
              <a:pPr marL="0" lvl="0" indent="0" algn="ctr">
                <a:spcBef>
                  <a:spcPct val="0"/>
                </a:spcBef>
                <a:spcAft>
                  <a:spcPct val="0"/>
                </a:spcAft>
                <a:buNone/>
              </a:pPr>
              <a:t>3,4</a:t>
            </a:fld>
            <a:endParaRPr lang="en-US" sz="1200" dirty="0"/>
          </a:p>
        </p:txBody>
      </p:sp>
      <p:sp>
        <p:nvSpPr>
          <p:cNvPr id="28" name="Text Placeholder 2">
            <a:extLst>
              <a:ext uri="{FF2B5EF4-FFF2-40B4-BE49-F238E27FC236}">
                <a16:creationId xmlns:a16="http://schemas.microsoft.com/office/drawing/2014/main" id="{D77BBC3C-CEC7-6BA1-7727-22B1BA6E6322}"/>
              </a:ext>
            </a:extLst>
          </p:cNvPr>
          <p:cNvSpPr>
            <a:spLocks/>
          </p:cNvSpPr>
          <p:nvPr>
            <p:custDataLst>
              <p:tags r:id="rId20"/>
            </p:custDataLst>
          </p:nvPr>
        </p:nvSpPr>
        <p:spPr bwMode="gray">
          <a:xfrm>
            <a:off x="3652838" y="3292475"/>
            <a:ext cx="2730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EF9B4F2-1E24-47CD-A71B-48F24752D2CD}" type="datetime'3'''''''''''''''''''''''',''''''''''''''''''''2'''''">
              <a:rPr lang="en-US" altLang="en-US" sz="1200" smtClean="0">
                <a:effectLst/>
              </a:rPr>
              <a:pPr marL="0" lvl="0" indent="0" algn="ctr">
                <a:spcBef>
                  <a:spcPct val="0"/>
                </a:spcBef>
                <a:spcAft>
                  <a:spcPct val="0"/>
                </a:spcAft>
                <a:buNone/>
              </a:pPr>
              <a:t>3,2</a:t>
            </a:fld>
            <a:endParaRPr lang="en-US" sz="1200" dirty="0"/>
          </a:p>
        </p:txBody>
      </p:sp>
      <p:sp useBgFill="1">
        <p:nvSpPr>
          <p:cNvPr id="29" name="Text Placeholder 2">
            <a:extLst>
              <a:ext uri="{FF2B5EF4-FFF2-40B4-BE49-F238E27FC236}">
                <a16:creationId xmlns:a16="http://schemas.microsoft.com/office/drawing/2014/main" id="{D77BBC3C-CEC7-6BA1-7727-22B1BA6E6322}"/>
              </a:ext>
            </a:extLst>
          </p:cNvPr>
          <p:cNvSpPr>
            <a:spLocks/>
          </p:cNvSpPr>
          <p:nvPr>
            <p:custDataLst>
              <p:tags r:id="rId21"/>
            </p:custDataLst>
          </p:nvPr>
        </p:nvSpPr>
        <p:spPr bwMode="gray">
          <a:xfrm>
            <a:off x="4483100" y="3711575"/>
            <a:ext cx="271463" cy="165100"/>
          </a:xfrm>
          <a:prstGeom prst="rect">
            <a:avLst/>
          </a:prstGeom>
          <a:ln>
            <a:noFill/>
          </a:ln>
          <a:effectLst/>
        </p:spPr>
        <p:txBody>
          <a:bodyPr vert="horz" wrap="none" lIns="22225" tIns="0" rIns="22225"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EFE41D5-98B2-400E-9FE2-BABF7B05A2C9}" type="datetime'''''''''''''''''''''''''''''3'''''''',''''''''0'''''''">
              <a:rPr lang="en-US" altLang="en-US" sz="1200" smtClean="0">
                <a:effectLst/>
              </a:rPr>
              <a:pPr marL="0" lvl="0" indent="0" algn="ctr">
                <a:spcBef>
                  <a:spcPct val="0"/>
                </a:spcBef>
                <a:spcAft>
                  <a:spcPct val="0"/>
                </a:spcAft>
                <a:buNone/>
              </a:pPr>
              <a:t>3,0</a:t>
            </a:fld>
            <a:endParaRPr lang="en-US" sz="1200" dirty="0"/>
          </a:p>
        </p:txBody>
      </p:sp>
      <p:sp>
        <p:nvSpPr>
          <p:cNvPr id="21" name="Text Placeholder 2">
            <a:extLst>
              <a:ext uri="{FF2B5EF4-FFF2-40B4-BE49-F238E27FC236}">
                <a16:creationId xmlns:a16="http://schemas.microsoft.com/office/drawing/2014/main" id="{D77BBC3C-CEC7-6BA1-7727-22B1BA6E6322}"/>
              </a:ext>
            </a:extLst>
          </p:cNvPr>
          <p:cNvSpPr>
            <a:spLocks/>
          </p:cNvSpPr>
          <p:nvPr>
            <p:custDataLst>
              <p:tags r:id="rId22"/>
            </p:custDataLst>
          </p:nvPr>
        </p:nvSpPr>
        <p:spPr bwMode="gray">
          <a:xfrm>
            <a:off x="5313363" y="4165600"/>
            <a:ext cx="2714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8C184D7-5380-4E7A-BB11-9D5E600D927D}" type="datetime'''''''''''''''''''''''''''''2'''''''''''''''',''''''''8'''">
              <a:rPr lang="en-US" altLang="en-US" sz="1200" smtClean="0"/>
              <a:pPr marL="0" lvl="0" indent="0" algn="ctr">
                <a:spcBef>
                  <a:spcPct val="0"/>
                </a:spcBef>
                <a:spcAft>
                  <a:spcPct val="0"/>
                </a:spcAft>
                <a:buNone/>
              </a:pPr>
              <a:t>2,8</a:t>
            </a:fld>
            <a:endParaRPr lang="en-US" sz="1200" dirty="0"/>
          </a:p>
        </p:txBody>
      </p:sp>
      <p:sp>
        <p:nvSpPr>
          <p:cNvPr id="12" name="Rectangle 11">
            <a:extLst>
              <a:ext uri="{FF2B5EF4-FFF2-40B4-BE49-F238E27FC236}">
                <a16:creationId xmlns:a16="http://schemas.microsoft.com/office/drawing/2014/main" id="{91B93A4A-C1B5-F2C3-F679-D5D5F108EA70}"/>
              </a:ext>
            </a:extLst>
          </p:cNvPr>
          <p:cNvSpPr/>
          <p:nvPr>
            <p:custDataLst>
              <p:tags r:id="rId23"/>
            </p:custDataLst>
          </p:nvPr>
        </p:nvSpPr>
        <p:spPr bwMode="auto">
          <a:xfrm>
            <a:off x="2032000" y="5840413"/>
            <a:ext cx="250825" cy="187325"/>
          </a:xfrm>
          <a:prstGeom prst="rect">
            <a:avLst/>
          </a:prstGeom>
          <a:solidFill>
            <a:schemeClr val="accent1"/>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0" name="Straight Connector 169">
            <a:extLst>
              <a:ext uri="{FF2B5EF4-FFF2-40B4-BE49-F238E27FC236}">
                <a16:creationId xmlns:a16="http://schemas.microsoft.com/office/drawing/2014/main" id="{5C302DE0-665C-5425-EE77-C5FB064C145E}"/>
              </a:ext>
            </a:extLst>
          </p:cNvPr>
          <p:cNvCxnSpPr/>
          <p:nvPr>
            <p:custDataLst>
              <p:tags r:id="rId24"/>
            </p:custDataLst>
          </p:nvPr>
        </p:nvCxnSpPr>
        <p:spPr bwMode="gray">
          <a:xfrm>
            <a:off x="3890963" y="5934075"/>
            <a:ext cx="317500"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1" name="Oval 170">
            <a:extLst>
              <a:ext uri="{FF2B5EF4-FFF2-40B4-BE49-F238E27FC236}">
                <a16:creationId xmlns:a16="http://schemas.microsoft.com/office/drawing/2014/main" id="{CD9F3F18-2312-D753-5A39-10CFB40DB8E5}"/>
              </a:ext>
            </a:extLst>
          </p:cNvPr>
          <p:cNvSpPr/>
          <p:nvPr>
            <p:custDataLst>
              <p:tags r:id="rId25"/>
            </p:custDataLst>
          </p:nvPr>
        </p:nvSpPr>
        <p:spPr bwMode="auto">
          <a:xfrm>
            <a:off x="4011613" y="5895975"/>
            <a:ext cx="76200" cy="76200"/>
          </a:xfrm>
          <a:prstGeom prst="ellipse">
            <a:avLst/>
          </a:prstGeom>
          <a:solidFill>
            <a:schemeClr val="accent2"/>
          </a:solidFill>
          <a:ln w="9525" cmpd="sng" algn="ctr">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Text Placeholder 2">
            <a:extLst>
              <a:ext uri="{FF2B5EF4-FFF2-40B4-BE49-F238E27FC236}">
                <a16:creationId xmlns:a16="http://schemas.microsoft.com/office/drawing/2014/main" id="{B7053CF5-A565-BD94-7ABF-12CFC333136E}"/>
              </a:ext>
            </a:extLst>
          </p:cNvPr>
          <p:cNvSpPr>
            <a:spLocks/>
          </p:cNvSpPr>
          <p:nvPr>
            <p:custDataLst>
              <p:tags r:id="rId26"/>
            </p:custDataLst>
          </p:nvPr>
        </p:nvSpPr>
        <p:spPr bwMode="auto">
          <a:xfrm>
            <a:off x="2333625" y="5851525"/>
            <a:ext cx="14462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516C6C5B-6BC6-4EE7-864D-5B87C4451DD2}" type="datetime'''''Av''g'''' de''''li''''v''e''''''''''''''''ry'''' time'''">
              <a:rPr lang="en-US" altLang="en-US" sz="1400" smtClean="0"/>
              <a:pPr/>
              <a:t>Avg delivery time</a:t>
            </a:fld>
            <a:endParaRPr lang="en-US" sz="1400" dirty="0"/>
          </a:p>
        </p:txBody>
      </p:sp>
      <p:sp>
        <p:nvSpPr>
          <p:cNvPr id="164" name="Text Placeholder 2">
            <a:extLst>
              <a:ext uri="{FF2B5EF4-FFF2-40B4-BE49-F238E27FC236}">
                <a16:creationId xmlns:a16="http://schemas.microsoft.com/office/drawing/2014/main" id="{5B6A85C5-69C9-18F5-4B1D-D46455430CE3}"/>
              </a:ext>
            </a:extLst>
          </p:cNvPr>
          <p:cNvSpPr>
            <a:spLocks/>
          </p:cNvSpPr>
          <p:nvPr>
            <p:custDataLst>
              <p:tags r:id="rId27"/>
            </p:custDataLst>
          </p:nvPr>
        </p:nvSpPr>
        <p:spPr bwMode="auto">
          <a:xfrm>
            <a:off x="4268788" y="5851525"/>
            <a:ext cx="154622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2114474D-5359-499F-A535-185629FAEAB2}" type="datetime'Inv''''''''ent''''o''r''y'''' ''''''tu''''r''no''''v''e''r'''">
              <a:rPr lang="en-US" altLang="en-US" sz="1400" smtClean="0"/>
              <a:pPr/>
              <a:t>Inventory turnover</a:t>
            </a:fld>
            <a:endParaRPr lang="en-US" sz="1400" dirty="0"/>
          </a:p>
        </p:txBody>
      </p:sp>
      <p:sp>
        <p:nvSpPr>
          <p:cNvPr id="67" name="Rectangle 1">
            <a:extLst>
              <a:ext uri="{FF2B5EF4-FFF2-40B4-BE49-F238E27FC236}">
                <a16:creationId xmlns:a16="http://schemas.microsoft.com/office/drawing/2014/main" id="{342207B2-F44A-763C-AF20-795A643F1F17}"/>
              </a:ext>
            </a:extLst>
          </p:cNvPr>
          <p:cNvSpPr>
            <a:spLocks noChangeArrowheads="1"/>
          </p:cNvSpPr>
          <p:nvPr/>
        </p:nvSpPr>
        <p:spPr bwMode="auto">
          <a:xfrm>
            <a:off x="-839787" y="65145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2" name="Content Placeholder 2">
            <a:extLst>
              <a:ext uri="{FF2B5EF4-FFF2-40B4-BE49-F238E27FC236}">
                <a16:creationId xmlns:a16="http://schemas.microsoft.com/office/drawing/2014/main" id="{B583E317-893D-AA9E-B3D0-6AEB113F0ACF}"/>
              </a:ext>
            </a:extLst>
          </p:cNvPr>
          <p:cNvSpPr txBox="1">
            <a:spLocks/>
          </p:cNvSpPr>
          <p:nvPr/>
        </p:nvSpPr>
        <p:spPr>
          <a:xfrm>
            <a:off x="7750629" y="2176100"/>
            <a:ext cx="3618664" cy="1369606"/>
          </a:xfrm>
          <a:prstGeom prst="rect">
            <a:avLst/>
          </a:prstGeom>
          <a:gradFill>
            <a:gsLst>
              <a:gs pos="0">
                <a:schemeClr val="bg2">
                  <a:lumMod val="25000"/>
                </a:schemeClr>
              </a:gs>
              <a:gs pos="23000">
                <a:schemeClr val="bg2">
                  <a:lumMod val="25000"/>
                </a:schemeClr>
              </a:gs>
              <a:gs pos="69000">
                <a:schemeClr val="bg2">
                  <a:lumMod val="25000"/>
                </a:schemeClr>
              </a:gs>
              <a:gs pos="97000">
                <a:schemeClr val="bg2">
                  <a:lumMod val="25000"/>
                </a:schemeClr>
              </a:gs>
            </a:gsLst>
            <a:path path="circle">
              <a:fillToRect l="50000" t="50000" r="50000" b="50000"/>
            </a:path>
          </a:gradFill>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buNone/>
            </a:pPr>
            <a:r>
              <a:rPr lang="en-US" altLang="en-US" sz="1400" b="1" dirty="0">
                <a:solidFill>
                  <a:schemeClr val="tx2"/>
                </a:solidFill>
              </a:rPr>
              <a:t>Delivery Performance</a:t>
            </a:r>
          </a:p>
          <a:p>
            <a:pPr marL="540000" lvl="1" indent="-216000" eaLnBrk="0" fontAlgn="base" hangingPunct="0">
              <a:lnSpc>
                <a:spcPct val="100000"/>
              </a:lnSpc>
              <a:spcBef>
                <a:spcPct val="0"/>
              </a:spcBef>
              <a:spcAft>
                <a:spcPts val="600"/>
              </a:spcAft>
              <a:buFontTx/>
              <a:buChar char="•"/>
            </a:pPr>
            <a:r>
              <a:rPr lang="en-US" altLang="en-US" sz="1400" dirty="0"/>
              <a:t>Continuous improvement in average delivery times from 2019–2023 </a:t>
            </a:r>
          </a:p>
          <a:p>
            <a:pPr marL="540000" lvl="1" indent="-216000" eaLnBrk="0" fontAlgn="base" hangingPunct="0">
              <a:lnSpc>
                <a:spcPct val="100000"/>
              </a:lnSpc>
              <a:spcBef>
                <a:spcPct val="0"/>
              </a:spcBef>
              <a:spcAft>
                <a:spcPts val="600"/>
              </a:spcAft>
              <a:buFontTx/>
              <a:buChar char="•"/>
            </a:pPr>
            <a:r>
              <a:rPr lang="en-US" altLang="en-US" sz="1400" dirty="0"/>
              <a:t>Maintained record speeds despite the unprecedented logistics strain of COVID‑19</a:t>
            </a:r>
          </a:p>
        </p:txBody>
      </p:sp>
      <p:sp>
        <p:nvSpPr>
          <p:cNvPr id="76" name="Content Placeholder 2">
            <a:extLst>
              <a:ext uri="{FF2B5EF4-FFF2-40B4-BE49-F238E27FC236}">
                <a16:creationId xmlns:a16="http://schemas.microsoft.com/office/drawing/2014/main" id="{3D7C1F89-EFA3-33FF-6CAA-897B079D5952}"/>
              </a:ext>
            </a:extLst>
          </p:cNvPr>
          <p:cNvSpPr txBox="1">
            <a:spLocks/>
          </p:cNvSpPr>
          <p:nvPr/>
        </p:nvSpPr>
        <p:spPr>
          <a:xfrm>
            <a:off x="7750630" y="3587651"/>
            <a:ext cx="3618664" cy="2308324"/>
          </a:xfrm>
          <a:prstGeom prst="rect">
            <a:avLst/>
          </a:prstGeom>
          <a:gradFill>
            <a:gsLst>
              <a:gs pos="0">
                <a:schemeClr val="bg2">
                  <a:lumMod val="25000"/>
                </a:schemeClr>
              </a:gs>
              <a:gs pos="23000">
                <a:schemeClr val="bg2">
                  <a:lumMod val="25000"/>
                </a:schemeClr>
              </a:gs>
              <a:gs pos="69000">
                <a:schemeClr val="bg2">
                  <a:lumMod val="25000"/>
                </a:schemeClr>
              </a:gs>
              <a:gs pos="97000">
                <a:schemeClr val="bg2">
                  <a:lumMod val="25000"/>
                </a:schemeClr>
              </a:gs>
            </a:gsLst>
            <a:path path="circle">
              <a:fillToRect l="50000" t="50000" r="50000" b="50000"/>
            </a:path>
          </a:gradFill>
        </p:spPr>
        <p:txBody>
          <a:bodyPr vert="horz" wrap="squar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buNone/>
            </a:pPr>
            <a:r>
              <a:rPr lang="en-US" altLang="en-US" sz="1400" b="1" dirty="0">
                <a:solidFill>
                  <a:schemeClr val="accent2"/>
                </a:solidFill>
              </a:rPr>
              <a:t>Inventory Turnover &amp; Management</a:t>
            </a:r>
          </a:p>
          <a:p>
            <a:pPr marL="540000" lvl="1" indent="-216000" eaLnBrk="0" fontAlgn="base" hangingPunct="0">
              <a:lnSpc>
                <a:spcPct val="100000"/>
              </a:lnSpc>
              <a:spcBef>
                <a:spcPct val="0"/>
              </a:spcBef>
              <a:spcAft>
                <a:spcPts val="600"/>
              </a:spcAft>
              <a:buFontTx/>
              <a:buChar char="•"/>
            </a:pPr>
            <a:r>
              <a:rPr lang="en-US" altLang="en-US" sz="1400" dirty="0"/>
              <a:t>A temporary dip in turnover reflected global supply chain shocks</a:t>
            </a:r>
          </a:p>
          <a:p>
            <a:pPr marL="540000" lvl="1" indent="-216000" eaLnBrk="0" fontAlgn="base" hangingPunct="0">
              <a:lnSpc>
                <a:spcPct val="100000"/>
              </a:lnSpc>
              <a:spcBef>
                <a:spcPct val="0"/>
              </a:spcBef>
              <a:spcAft>
                <a:spcPts val="600"/>
              </a:spcAft>
              <a:buFontTx/>
              <a:buChar char="•"/>
            </a:pPr>
            <a:r>
              <a:rPr lang="en-US" altLang="en-US" sz="1400" dirty="0"/>
              <a:t>Post-2021 improvement </a:t>
            </a:r>
            <a:br>
              <a:rPr lang="en-US" altLang="en-US" sz="1400" dirty="0"/>
            </a:br>
            <a:r>
              <a:rPr lang="en-US" altLang="en-US" sz="1400" dirty="0"/>
              <a:t>highlights the success of </a:t>
            </a:r>
            <a:br>
              <a:rPr lang="en-US" altLang="en-US" sz="1400" dirty="0"/>
            </a:br>
            <a:r>
              <a:rPr lang="en-US" altLang="en-US" sz="1400" dirty="0"/>
              <a:t>AI-driven replenishment and placement systems</a:t>
            </a:r>
          </a:p>
          <a:p>
            <a:pPr marL="540000" lvl="1" indent="-216000" eaLnBrk="0" fontAlgn="base" hangingPunct="0">
              <a:lnSpc>
                <a:spcPct val="100000"/>
              </a:lnSpc>
              <a:spcBef>
                <a:spcPct val="0"/>
              </a:spcBef>
              <a:spcAft>
                <a:spcPts val="600"/>
              </a:spcAft>
              <a:buFontTx/>
              <a:buChar char="•"/>
            </a:pPr>
            <a:r>
              <a:rPr lang="en-US" altLang="en-US" sz="1400" dirty="0"/>
              <a:t>Stabilized stock levels and optimized capital allocation through predictive data</a:t>
            </a:r>
          </a:p>
        </p:txBody>
      </p:sp>
      <p:sp>
        <p:nvSpPr>
          <p:cNvPr id="75" name="Content Placeholder 2">
            <a:extLst>
              <a:ext uri="{FF2B5EF4-FFF2-40B4-BE49-F238E27FC236}">
                <a16:creationId xmlns:a16="http://schemas.microsoft.com/office/drawing/2014/main" id="{CED63895-7A61-8654-BD1F-820017B5A3C5}"/>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800" dirty="0">
                <a:hlinkClick r:id="rId33"/>
              </a:rPr>
              <a:t>Case Study: Amazon’s AI-Driven Supply Chain: A Blueprint for the Future of Global Logistics - The CDO TIMES</a:t>
            </a:r>
            <a:endParaRPr lang="en-US" sz="700" dirty="0"/>
          </a:p>
        </p:txBody>
      </p:sp>
      <p:sp>
        <p:nvSpPr>
          <p:cNvPr id="78" name="Slide Number Placeholder 3">
            <a:extLst>
              <a:ext uri="{FF2B5EF4-FFF2-40B4-BE49-F238E27FC236}">
                <a16:creationId xmlns:a16="http://schemas.microsoft.com/office/drawing/2014/main" id="{53EE7A8C-F52F-161F-D93D-8706A996718D}"/>
              </a:ext>
            </a:extLst>
          </p:cNvPr>
          <p:cNvSpPr>
            <a:spLocks noGrp="1"/>
          </p:cNvSpPr>
          <p:nvPr>
            <p:ph type="sldNum" sz="quarter" idx="12"/>
          </p:nvPr>
        </p:nvSpPr>
        <p:spPr>
          <a:xfrm>
            <a:off x="10399594" y="6356350"/>
            <a:ext cx="954206" cy="365125"/>
          </a:xfrm>
        </p:spPr>
        <p:txBody>
          <a:bodyPr/>
          <a:lstStyle/>
          <a:p>
            <a:fld id="{49882A7A-00EB-4D45-AA64-F8A75FA21FCC}" type="slidenum">
              <a:rPr lang="en-US" noProof="0" smtClean="0"/>
              <a:pPr/>
              <a:t>9</a:t>
            </a:fld>
            <a:endParaRPr lang="en-US" noProof="0" dirty="0"/>
          </a:p>
        </p:txBody>
      </p:sp>
    </p:spTree>
    <p:extLst>
      <p:ext uri="{BB962C8B-B14F-4D97-AF65-F5344CB8AC3E}">
        <p14:creationId xmlns:p14="http://schemas.microsoft.com/office/powerpoint/2010/main" val="376208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
                                            <p:graphicEl>
                                              <a:chart seriesIdx="-3" categoryIdx="-3" bldStep="gridLegend"/>
                                            </p:graphicEl>
                                          </p:spTgt>
                                        </p:tgtEl>
                                        <p:attrNameLst>
                                          <p:attrName>style.visibility</p:attrName>
                                        </p:attrNameLst>
                                      </p:cBhvr>
                                      <p:to>
                                        <p:strVal val="visible"/>
                                      </p:to>
                                    </p:set>
                                    <p:animEffect transition="in" filter="wipe(left)">
                                      <p:cBhvr>
                                        <p:cTn id="7" dur="500"/>
                                        <p:tgtEl>
                                          <p:spTgt spid="74">
                                            <p:graphicEl>
                                              <a:chart seriesIdx="-3" categoryIdx="-3" bldStep="gridLegend"/>
                                            </p:graphic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4">
                                            <p:graphicEl>
                                              <a:chart seriesIdx="0" categoryIdx="-4" bldStep="series"/>
                                            </p:graphicEl>
                                          </p:spTgt>
                                        </p:tgtEl>
                                        <p:attrNameLst>
                                          <p:attrName>style.visibility</p:attrName>
                                        </p:attrNameLst>
                                      </p:cBhvr>
                                      <p:to>
                                        <p:strVal val="visible"/>
                                      </p:to>
                                    </p:set>
                                    <p:animEffect transition="in" filter="wipe(left)">
                                      <p:cBhvr>
                                        <p:cTn id="10" dur="500"/>
                                        <p:tgtEl>
                                          <p:spTgt spid="74">
                                            <p:graphicEl>
                                              <a:chart seriesIdx="0" categoryIdx="-4" bldStep="series"/>
                                            </p:graphic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8"/>
                                        </p:tgtEl>
                                        <p:attrNameLst>
                                          <p:attrName>style.visibility</p:attrName>
                                        </p:attrNameLst>
                                      </p:cBhvr>
                                      <p:to>
                                        <p:strVal val="visible"/>
                                      </p:to>
                                    </p:set>
                                    <p:animEffect transition="in" filter="fade">
                                      <p:cBhvr>
                                        <p:cTn id="14" dur="500"/>
                                        <p:tgtEl>
                                          <p:spTgt spid="6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fade">
                                      <p:cBhvr>
                                        <p:cTn id="17" dur="500"/>
                                        <p:tgtEl>
                                          <p:spTgt spid="6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0"/>
                                        </p:tgtEl>
                                        <p:attrNameLst>
                                          <p:attrName>style.visibility</p:attrName>
                                        </p:attrNameLst>
                                      </p:cBhvr>
                                      <p:to>
                                        <p:strVal val="visible"/>
                                      </p:to>
                                    </p:set>
                                    <p:animEffect transition="in" filter="fade">
                                      <p:cBhvr>
                                        <p:cTn id="20" dur="500"/>
                                        <p:tgtEl>
                                          <p:spTgt spid="7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fade">
                                      <p:cBhvr>
                                        <p:cTn id="23" dur="500"/>
                                        <p:tgtEl>
                                          <p:spTgt spid="7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66"/>
                                        </p:tgtEl>
                                        <p:attrNameLst>
                                          <p:attrName>style.visibility</p:attrName>
                                        </p:attrNameLst>
                                      </p:cBhvr>
                                      <p:to>
                                        <p:strVal val="visible"/>
                                      </p:to>
                                    </p:set>
                                    <p:animEffect transition="in" filter="fade">
                                      <p:cBhvr>
                                        <p:cTn id="62" dur="500"/>
                                        <p:tgtEl>
                                          <p:spTgt spid="166"/>
                                        </p:tgtEl>
                                      </p:cBhvr>
                                    </p:animEffect>
                                  </p:childTnLst>
                                </p:cTn>
                              </p:par>
                            </p:childTnLst>
                          </p:cTn>
                        </p:par>
                        <p:par>
                          <p:cTn id="63" fill="hold">
                            <p:stCondLst>
                              <p:cond delay="1000"/>
                            </p:stCondLst>
                            <p:childTnLst>
                              <p:par>
                                <p:cTn id="64" presetID="10" presetClass="entr" presetSubtype="0" fill="hold" grpId="0" nodeType="afterEffect">
                                  <p:stCondLst>
                                    <p:cond delay="0"/>
                                  </p:stCondLst>
                                  <p:childTnLst>
                                    <p:set>
                                      <p:cBhvr>
                                        <p:cTn id="65" dur="1" fill="hold">
                                          <p:stCondLst>
                                            <p:cond delay="0"/>
                                          </p:stCondLst>
                                        </p:cTn>
                                        <p:tgtEl>
                                          <p:spTgt spid="72"/>
                                        </p:tgtEl>
                                        <p:attrNameLst>
                                          <p:attrName>style.visibility</p:attrName>
                                        </p:attrNameLst>
                                      </p:cBhvr>
                                      <p:to>
                                        <p:strVal val="visible"/>
                                      </p:to>
                                    </p:set>
                                    <p:animEffect transition="in" filter="fade">
                                      <p:cBhvr>
                                        <p:cTn id="66" dur="500"/>
                                        <p:tgtEl>
                                          <p:spTgt spid="72"/>
                                        </p:tgtEl>
                                      </p:cBhvr>
                                    </p:animEffect>
                                  </p:childTnLst>
                                </p:cTn>
                              </p:par>
                            </p:childTnLst>
                          </p:cTn>
                        </p:par>
                        <p:par>
                          <p:cTn id="67" fill="hold">
                            <p:stCondLst>
                              <p:cond delay="1500"/>
                            </p:stCondLst>
                            <p:childTnLst>
                              <p:par>
                                <p:cTn id="68" presetID="22" presetClass="entr" presetSubtype="8" fill="hold" grpId="0" nodeType="afterEffect">
                                  <p:stCondLst>
                                    <p:cond delay="1000"/>
                                  </p:stCondLst>
                                  <p:childTnLst>
                                    <p:set>
                                      <p:cBhvr>
                                        <p:cTn id="69" dur="1" fill="hold">
                                          <p:stCondLst>
                                            <p:cond delay="0"/>
                                          </p:stCondLst>
                                        </p:cTn>
                                        <p:tgtEl>
                                          <p:spTgt spid="74">
                                            <p:graphicEl>
                                              <a:chart seriesIdx="1" categoryIdx="-4" bldStep="series"/>
                                            </p:graphicEl>
                                          </p:spTgt>
                                        </p:tgtEl>
                                        <p:attrNameLst>
                                          <p:attrName>style.visibility</p:attrName>
                                        </p:attrNameLst>
                                      </p:cBhvr>
                                      <p:to>
                                        <p:strVal val="visible"/>
                                      </p:to>
                                    </p:set>
                                    <p:animEffect transition="in" filter="wipe(left)">
                                      <p:cBhvr>
                                        <p:cTn id="70" dur="500"/>
                                        <p:tgtEl>
                                          <p:spTgt spid="74">
                                            <p:graphicEl>
                                              <a:chart seriesIdx="1" categoryIdx="-4" bldStep="series"/>
                                            </p:graphicEl>
                                          </p:spTgt>
                                        </p:tgtEl>
                                      </p:cBhvr>
                                    </p:animEffect>
                                  </p:childTnLst>
                                </p:cTn>
                              </p:par>
                            </p:childTnLst>
                          </p:cTn>
                        </p:par>
                        <p:par>
                          <p:cTn id="71" fill="hold">
                            <p:stCondLst>
                              <p:cond delay="3000"/>
                            </p:stCondLst>
                            <p:childTnLst>
                              <p:par>
                                <p:cTn id="72" presetID="10" presetClass="entr" presetSubtype="0" fill="hold" grpId="0" nodeType="afterEffect">
                                  <p:stCondLst>
                                    <p:cond delay="0"/>
                                  </p:stCondLst>
                                  <p:childTnLst>
                                    <p:set>
                                      <p:cBhvr>
                                        <p:cTn id="73" dur="1" fill="hold">
                                          <p:stCondLst>
                                            <p:cond delay="0"/>
                                          </p:stCondLst>
                                        </p:cTn>
                                        <p:tgtEl>
                                          <p:spTgt spid="76"/>
                                        </p:tgtEl>
                                        <p:attrNameLst>
                                          <p:attrName>style.visibility</p:attrName>
                                        </p:attrNameLst>
                                      </p:cBhvr>
                                      <p:to>
                                        <p:strVal val="visible"/>
                                      </p:to>
                                    </p:set>
                                    <p:animEffect transition="in" filter="fade">
                                      <p:cBhvr>
                                        <p:cTn id="74" dur="500"/>
                                        <p:tgtEl>
                                          <p:spTgt spid="76"/>
                                        </p:tgtEl>
                                      </p:cBhvr>
                                    </p:animEffect>
                                  </p:childTnLst>
                                </p:cTn>
                              </p:par>
                            </p:childTnLst>
                          </p:cTn>
                        </p:par>
                        <p:par>
                          <p:cTn id="75" fill="hold">
                            <p:stCondLst>
                              <p:cond delay="3500"/>
                            </p:stCondLst>
                            <p:childTnLst>
                              <p:par>
                                <p:cTn id="76" presetID="10" presetClass="entr" presetSubtype="0" fill="hold" grpId="0" nodeType="after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fade">
                                      <p:cBhvr>
                                        <p:cTn id="78" dur="500"/>
                                        <p:tgtEl>
                                          <p:spTgt spid="53"/>
                                        </p:tgtEl>
                                      </p:cBhvr>
                                    </p:animEffect>
                                  </p:childTnLst>
                                </p:cTn>
                              </p:par>
                            </p:childTnLst>
                          </p:cTn>
                        </p:par>
                        <p:par>
                          <p:cTn id="79" fill="hold">
                            <p:stCondLst>
                              <p:cond delay="4000"/>
                            </p:stCondLst>
                            <p:childTnLst>
                              <p:par>
                                <p:cTn id="80" presetID="10" presetClass="entr" presetSubtype="0" fill="hold" grpId="0" nodeType="after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fade">
                                      <p:cBhvr>
                                        <p:cTn id="82" dur="500"/>
                                        <p:tgtEl>
                                          <p:spTgt spid="55"/>
                                        </p:tgtEl>
                                      </p:cBhvr>
                                    </p:animEffect>
                                  </p:childTnLst>
                                </p:cTn>
                              </p:par>
                            </p:childTnLst>
                          </p:cTn>
                        </p:par>
                        <p:par>
                          <p:cTn id="83" fill="hold">
                            <p:stCondLst>
                              <p:cond delay="4500"/>
                            </p:stCondLst>
                            <p:childTnLst>
                              <p:par>
                                <p:cTn id="84" presetID="10" presetClass="entr" presetSubtype="0" fill="hold" grpId="0" nodeType="after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fade">
                                      <p:cBhvr>
                                        <p:cTn id="86" dur="500"/>
                                        <p:tgtEl>
                                          <p:spTgt spid="56"/>
                                        </p:tgtEl>
                                      </p:cBhvr>
                                    </p:animEffect>
                                  </p:childTnLst>
                                </p:cTn>
                              </p:par>
                            </p:childTnLst>
                          </p:cTn>
                        </p:par>
                        <p:par>
                          <p:cTn id="87" fill="hold">
                            <p:stCondLst>
                              <p:cond delay="5000"/>
                            </p:stCondLst>
                            <p:childTnLst>
                              <p:par>
                                <p:cTn id="88" presetID="10" presetClass="entr" presetSubtype="0" fill="hold" grpId="0" nodeType="after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fade">
                                      <p:cBhvr>
                                        <p:cTn id="90" dur="500"/>
                                        <p:tgtEl>
                                          <p:spTgt spid="57"/>
                                        </p:tgtEl>
                                      </p:cBhvr>
                                    </p:animEffect>
                                  </p:childTnLst>
                                </p:cTn>
                              </p:par>
                            </p:childTnLst>
                          </p:cTn>
                        </p:par>
                        <p:par>
                          <p:cTn id="91" fill="hold">
                            <p:stCondLst>
                              <p:cond delay="5500"/>
                            </p:stCondLst>
                            <p:childTnLst>
                              <p:par>
                                <p:cTn id="92" presetID="10" presetClass="entr" presetSubtype="0" fill="hold" grpId="0" nodeType="afterEffect">
                                  <p:stCondLst>
                                    <p:cond delay="0"/>
                                  </p:stCondLst>
                                  <p:childTnLst>
                                    <p:set>
                                      <p:cBhvr>
                                        <p:cTn id="93" dur="1" fill="hold">
                                          <p:stCondLst>
                                            <p:cond delay="0"/>
                                          </p:stCondLst>
                                        </p:cTn>
                                        <p:tgtEl>
                                          <p:spTgt spid="81"/>
                                        </p:tgtEl>
                                        <p:attrNameLst>
                                          <p:attrName>style.visibility</p:attrName>
                                        </p:attrNameLst>
                                      </p:cBhvr>
                                      <p:to>
                                        <p:strVal val="visible"/>
                                      </p:to>
                                    </p:set>
                                    <p:animEffect transition="in" filter="fade">
                                      <p:cBhvr>
                                        <p:cTn id="94" dur="500"/>
                                        <p:tgtEl>
                                          <p:spTgt spid="81"/>
                                        </p:tgtEl>
                                      </p:cBhvr>
                                    </p:animEffect>
                                  </p:childTnLst>
                                </p:cTn>
                              </p:par>
                              <p:par>
                                <p:cTn id="95" presetID="10" presetClass="entr" presetSubtype="0" fill="hold" nodeType="withEffect">
                                  <p:stCondLst>
                                    <p:cond delay="0"/>
                                  </p:stCondLst>
                                  <p:childTnLst>
                                    <p:set>
                                      <p:cBhvr>
                                        <p:cTn id="96" dur="1" fill="hold">
                                          <p:stCondLst>
                                            <p:cond delay="0"/>
                                          </p:stCondLst>
                                        </p:cTn>
                                        <p:tgtEl>
                                          <p:spTgt spid="170"/>
                                        </p:tgtEl>
                                        <p:attrNameLst>
                                          <p:attrName>style.visibility</p:attrName>
                                        </p:attrNameLst>
                                      </p:cBhvr>
                                      <p:to>
                                        <p:strVal val="visible"/>
                                      </p:to>
                                    </p:set>
                                    <p:animEffect transition="in" filter="fade">
                                      <p:cBhvr>
                                        <p:cTn id="97" dur="500"/>
                                        <p:tgtEl>
                                          <p:spTgt spid="17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71"/>
                                        </p:tgtEl>
                                        <p:attrNameLst>
                                          <p:attrName>style.visibility</p:attrName>
                                        </p:attrNameLst>
                                      </p:cBhvr>
                                      <p:to>
                                        <p:strVal val="visible"/>
                                      </p:to>
                                    </p:set>
                                    <p:animEffect transition="in" filter="fade">
                                      <p:cBhvr>
                                        <p:cTn id="100" dur="500"/>
                                        <p:tgtEl>
                                          <p:spTgt spid="17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64"/>
                                        </p:tgtEl>
                                        <p:attrNameLst>
                                          <p:attrName>style.visibility</p:attrName>
                                        </p:attrNameLst>
                                      </p:cBhvr>
                                      <p:to>
                                        <p:strVal val="visible"/>
                                      </p:to>
                                    </p:set>
                                    <p:animEffect transition="in" filter="fade">
                                      <p:cBhvr>
                                        <p:cTn id="103"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4" grpId="0" uiExpand="1">
        <p:bldSub>
          <a:bldChart bld="series"/>
        </p:bldSub>
      </p:bldGraphic>
      <p:bldP spid="68" grpId="0" uiExpand="1"/>
      <p:bldP spid="69" grpId="0" uiExpand="1"/>
      <p:bldP spid="70" grpId="0" uiExpand="1"/>
      <p:bldP spid="71" grpId="0" uiExpand="1"/>
      <p:bldP spid="53" grpId="0"/>
      <p:bldP spid="55" grpId="0"/>
      <p:bldP spid="56" grpId="0"/>
      <p:bldP spid="57" grpId="0"/>
      <p:bldP spid="25" grpId="0" uiExpand="1"/>
      <p:bldP spid="81" grpId="0"/>
      <p:bldP spid="16" grpId="0" uiExpand="1"/>
      <p:bldP spid="17" grpId="0" uiExpand="1"/>
      <p:bldP spid="18" grpId="0" uiExpand="1"/>
      <p:bldP spid="19" grpId="0" uiExpand="1"/>
      <p:bldP spid="20" grpId="0" uiExpand="1"/>
      <p:bldP spid="26" grpId="0" uiExpand="1"/>
      <p:bldP spid="27" grpId="0" uiExpand="1"/>
      <p:bldP spid="28" grpId="0" uiExpand="1"/>
      <p:bldP spid="29" grpId="0" uiExpand="1" animBg="1"/>
      <p:bldP spid="21" grpId="0" uiExpand="1"/>
      <p:bldP spid="12" grpId="0" uiExpand="1" animBg="1"/>
      <p:bldP spid="171" grpId="0" animBg="1"/>
      <p:bldP spid="166" grpId="0" uiExpand="1"/>
      <p:bldP spid="164" grpId="0"/>
      <p:bldP spid="72" grpId="0" uiExpand="1" animBg="1"/>
      <p:bldP spid="7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3AE64-3BC1-415D-304A-F66EFA03ABA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AD065EC-F3C3-4984-3AE8-3206E4D58D8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405" imgH="405" progId="TCLayout.ActiveDocument.1">
                  <p:embed/>
                </p:oleObj>
              </mc:Choice>
              <mc:Fallback>
                <p:oleObj name="think-cell Slide" r:id="rId57" imgW="405" imgH="405" progId="TCLayout.ActiveDocument.1">
                  <p:embed/>
                  <p:pic>
                    <p:nvPicPr>
                      <p:cNvPr id="5" name="think-cell data - do not delete" hidden="1">
                        <a:extLst>
                          <a:ext uri="{FF2B5EF4-FFF2-40B4-BE49-F238E27FC236}">
                            <a16:creationId xmlns:a16="http://schemas.microsoft.com/office/drawing/2014/main" id="{5AD065EC-F3C3-4984-3AE8-3206E4D58D83}"/>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graphicFrame>
        <p:nvGraphicFramePr>
          <p:cNvPr id="319" name="Chart 318">
            <a:extLst>
              <a:ext uri="{FF2B5EF4-FFF2-40B4-BE49-F238E27FC236}">
                <a16:creationId xmlns:a16="http://schemas.microsoft.com/office/drawing/2014/main" id="{D197BCB7-2938-9EF7-A784-BD3A70201266}"/>
              </a:ext>
            </a:extLst>
          </p:cNvPr>
          <p:cNvGraphicFramePr/>
          <p:nvPr>
            <p:custDataLst>
              <p:tags r:id="rId2"/>
            </p:custDataLst>
          </p:nvPr>
        </p:nvGraphicFramePr>
        <p:xfrm>
          <a:off x="755650" y="2087563"/>
          <a:ext cx="7207250" cy="3222625"/>
        </p:xfrm>
        <a:graphic>
          <a:graphicData uri="http://schemas.openxmlformats.org/drawingml/2006/chart">
            <c:chart xmlns:c="http://schemas.openxmlformats.org/drawingml/2006/chart" xmlns:r="http://schemas.openxmlformats.org/officeDocument/2006/relationships" r:id="rId59"/>
          </a:graphicData>
        </a:graphic>
      </p:graphicFrame>
      <p:sp>
        <p:nvSpPr>
          <p:cNvPr id="208" name="Text Placeholder 2">
            <a:extLst>
              <a:ext uri="{FF2B5EF4-FFF2-40B4-BE49-F238E27FC236}">
                <a16:creationId xmlns:a16="http://schemas.microsoft.com/office/drawing/2014/main" id="{35E20AE1-E642-CF37-289E-3374A78AC347}"/>
              </a:ext>
            </a:extLst>
          </p:cNvPr>
          <p:cNvSpPr>
            <a:spLocks/>
          </p:cNvSpPr>
          <p:nvPr>
            <p:custDataLst>
              <p:tags r:id="rId3"/>
            </p:custDataLst>
          </p:nvPr>
        </p:nvSpPr>
        <p:spPr bwMode="gray">
          <a:xfrm>
            <a:off x="593725" y="3125788"/>
            <a:ext cx="1587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AECBB7A5-A10C-407C-9A9A-ABA60E677C66}" type="datetime'''''''''''''''''''''6''''''''''0'''''''''''''''''''''">
              <a:rPr lang="en-US" altLang="en-US" sz="1000" smtClean="0">
                <a:solidFill>
                  <a:srgbClr val="3A3A3A"/>
                </a:solidFill>
                <a:effectLst/>
              </a:rPr>
              <a:pPr marL="0" lvl="0" indent="0" algn="r">
                <a:spcBef>
                  <a:spcPct val="0"/>
                </a:spcBef>
                <a:spcAft>
                  <a:spcPct val="0"/>
                </a:spcAft>
                <a:buNone/>
              </a:pPr>
              <a:t>60</a:t>
            </a:fld>
            <a:endParaRPr lang="en-US" sz="1000" dirty="0">
              <a:solidFill>
                <a:srgbClr val="3A3A3A"/>
              </a:solidFill>
            </a:endParaRPr>
          </a:p>
        </p:txBody>
      </p:sp>
      <p:sp>
        <p:nvSpPr>
          <p:cNvPr id="209" name="Text Placeholder 2">
            <a:extLst>
              <a:ext uri="{FF2B5EF4-FFF2-40B4-BE49-F238E27FC236}">
                <a16:creationId xmlns:a16="http://schemas.microsoft.com/office/drawing/2014/main" id="{95CB63A8-C06C-C5E2-5A7E-C0CF318C8147}"/>
              </a:ext>
            </a:extLst>
          </p:cNvPr>
          <p:cNvSpPr>
            <a:spLocks/>
          </p:cNvSpPr>
          <p:nvPr>
            <p:custDataLst>
              <p:tags r:id="rId4"/>
            </p:custDataLst>
          </p:nvPr>
        </p:nvSpPr>
        <p:spPr bwMode="gray">
          <a:xfrm>
            <a:off x="606425" y="2106613"/>
            <a:ext cx="146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CDF8C67A-758F-47C3-B8DA-A5C2444C383A}" type="datetime'''''7''''''''''''5'''''''''''''''''''''">
              <a:rPr lang="en-US" altLang="en-US" sz="1000" smtClean="0">
                <a:solidFill>
                  <a:srgbClr val="3A3A3A"/>
                </a:solidFill>
                <a:effectLst/>
              </a:rPr>
              <a:pPr marL="0" lvl="0" indent="0" algn="r">
                <a:spcBef>
                  <a:spcPct val="0"/>
                </a:spcBef>
                <a:spcAft>
                  <a:spcPct val="0"/>
                </a:spcAft>
                <a:buNone/>
              </a:pPr>
              <a:t>75</a:t>
            </a:fld>
            <a:endParaRPr lang="en-US" sz="1000" dirty="0">
              <a:solidFill>
                <a:srgbClr val="3A3A3A"/>
              </a:solidFill>
            </a:endParaRPr>
          </a:p>
        </p:txBody>
      </p:sp>
      <p:sp>
        <p:nvSpPr>
          <p:cNvPr id="207" name="Text Placeholder 2">
            <a:extLst>
              <a:ext uri="{FF2B5EF4-FFF2-40B4-BE49-F238E27FC236}">
                <a16:creationId xmlns:a16="http://schemas.microsoft.com/office/drawing/2014/main" id="{51812641-5683-E336-9CBF-66C1F2E0FE0E}"/>
              </a:ext>
            </a:extLst>
          </p:cNvPr>
          <p:cNvSpPr>
            <a:spLocks/>
          </p:cNvSpPr>
          <p:nvPr>
            <p:custDataLst>
              <p:tags r:id="rId5"/>
            </p:custDataLst>
          </p:nvPr>
        </p:nvSpPr>
        <p:spPr bwMode="gray">
          <a:xfrm>
            <a:off x="595313" y="4144963"/>
            <a:ext cx="157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A3C2D4B6-20AE-46A6-BCFC-3AD5ED0512A8}" type="datetime'''''''''4''5'''''''''''''''''''''''''''''''''''''''''''''''''">
              <a:rPr lang="en-US" altLang="en-US" sz="1000" smtClean="0">
                <a:solidFill>
                  <a:srgbClr val="3A3A3A"/>
                </a:solidFill>
                <a:effectLst/>
              </a:rPr>
              <a:pPr marL="0" lvl="0" indent="0" algn="r">
                <a:spcBef>
                  <a:spcPct val="0"/>
                </a:spcBef>
                <a:spcAft>
                  <a:spcPct val="0"/>
                </a:spcAft>
                <a:buNone/>
              </a:pPr>
              <a:t>45</a:t>
            </a:fld>
            <a:endParaRPr lang="en-US" sz="1000" dirty="0">
              <a:solidFill>
                <a:srgbClr val="3A3A3A"/>
              </a:solidFill>
            </a:endParaRPr>
          </a:p>
        </p:txBody>
      </p:sp>
      <p:sp>
        <p:nvSpPr>
          <p:cNvPr id="122" name="Text Placeholder 2">
            <a:extLst>
              <a:ext uri="{FF2B5EF4-FFF2-40B4-BE49-F238E27FC236}">
                <a16:creationId xmlns:a16="http://schemas.microsoft.com/office/drawing/2014/main" id="{370E9488-7967-F8A2-57DC-3A1F29C0D6CC}"/>
              </a:ext>
            </a:extLst>
          </p:cNvPr>
          <p:cNvSpPr>
            <a:spLocks/>
          </p:cNvSpPr>
          <p:nvPr>
            <p:custDataLst>
              <p:tags r:id="rId6"/>
            </p:custDataLst>
          </p:nvPr>
        </p:nvSpPr>
        <p:spPr bwMode="gray">
          <a:xfrm>
            <a:off x="1276350" y="3916363"/>
            <a:ext cx="2968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8620B49-07F6-4757-8C02-68F8E892F68A}" type="datetime'''5'',''''''''''''''''''''''''''''7''''''''6'">
              <a:rPr lang="en-US" altLang="en-US" sz="1000" smtClean="0"/>
              <a:pPr marL="0" lvl="0" indent="0" algn="ctr">
                <a:spcBef>
                  <a:spcPct val="0"/>
                </a:spcBef>
                <a:spcAft>
                  <a:spcPct val="0"/>
                </a:spcAft>
                <a:buNone/>
              </a:pPr>
              <a:t>5,76</a:t>
            </a:fld>
            <a:endParaRPr lang="en-US" sz="1000" dirty="0"/>
          </a:p>
        </p:txBody>
      </p:sp>
      <p:sp>
        <p:nvSpPr>
          <p:cNvPr id="123" name="Text Placeholder 2">
            <a:extLst>
              <a:ext uri="{FF2B5EF4-FFF2-40B4-BE49-F238E27FC236}">
                <a16:creationId xmlns:a16="http://schemas.microsoft.com/office/drawing/2014/main" id="{1B91C0E1-0EA2-E656-6DEC-215A2A3A51F4}"/>
              </a:ext>
            </a:extLst>
          </p:cNvPr>
          <p:cNvSpPr>
            <a:spLocks/>
          </p:cNvSpPr>
          <p:nvPr>
            <p:custDataLst>
              <p:tags r:id="rId7"/>
            </p:custDataLst>
          </p:nvPr>
        </p:nvSpPr>
        <p:spPr bwMode="gray">
          <a:xfrm>
            <a:off x="1274763" y="4298950"/>
            <a:ext cx="300038"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FC652BF4-E676-4488-9DAC-A66D28D49A3D}" type="datetime'''''''''''''''''5'''''''''''',''''''5''''''''''0'''''''''">
              <a:rPr lang="en-US" altLang="en-US" sz="1000" smtClean="0"/>
              <a:pPr marL="0" lvl="0" indent="0" algn="ctr">
                <a:spcBef>
                  <a:spcPct val="0"/>
                </a:spcBef>
                <a:spcAft>
                  <a:spcPct val="0"/>
                </a:spcAft>
                <a:buNone/>
              </a:pPr>
              <a:t>5,50</a:t>
            </a:fld>
            <a:endParaRPr lang="en-US" sz="1000" dirty="0"/>
          </a:p>
        </p:txBody>
      </p:sp>
      <p:sp>
        <p:nvSpPr>
          <p:cNvPr id="124" name="Text Placeholder 2">
            <a:extLst>
              <a:ext uri="{FF2B5EF4-FFF2-40B4-BE49-F238E27FC236}">
                <a16:creationId xmlns:a16="http://schemas.microsoft.com/office/drawing/2014/main" id="{FABEF977-A021-BA52-55C9-8DDC303CCAF7}"/>
              </a:ext>
            </a:extLst>
          </p:cNvPr>
          <p:cNvSpPr>
            <a:spLocks/>
          </p:cNvSpPr>
          <p:nvPr>
            <p:custDataLst>
              <p:tags r:id="rId8"/>
            </p:custDataLst>
          </p:nvPr>
        </p:nvSpPr>
        <p:spPr bwMode="gray">
          <a:xfrm>
            <a:off x="1244600" y="4838700"/>
            <a:ext cx="360363" cy="104776"/>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F833215-B462-4D1D-9D54-F6DA32F35AEC}" type="datetime'''''''''''''''''''''39'''''''''''''''''',''''''''91'''''''''''">
              <a:rPr lang="en-US" altLang="en-US" sz="1000" smtClean="0"/>
              <a:pPr marL="0" lvl="0" indent="0" algn="ctr">
                <a:spcBef>
                  <a:spcPct val="0"/>
                </a:spcBef>
                <a:spcAft>
                  <a:spcPct val="0"/>
                </a:spcAft>
                <a:buNone/>
              </a:pPr>
              <a:t>39,91</a:t>
            </a:fld>
            <a:endParaRPr lang="en-US" sz="1000" dirty="0"/>
          </a:p>
        </p:txBody>
      </p:sp>
      <p:sp>
        <p:nvSpPr>
          <p:cNvPr id="125" name="Text Placeholder 2">
            <a:extLst>
              <a:ext uri="{FF2B5EF4-FFF2-40B4-BE49-F238E27FC236}">
                <a16:creationId xmlns:a16="http://schemas.microsoft.com/office/drawing/2014/main" id="{A93D922B-6861-A8E1-F26D-0B5042FF4246}"/>
              </a:ext>
            </a:extLst>
          </p:cNvPr>
          <p:cNvSpPr>
            <a:spLocks/>
          </p:cNvSpPr>
          <p:nvPr>
            <p:custDataLst>
              <p:tags r:id="rId9"/>
            </p:custDataLst>
          </p:nvPr>
        </p:nvSpPr>
        <p:spPr bwMode="auto">
          <a:xfrm>
            <a:off x="1273175" y="5270500"/>
            <a:ext cx="301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3133458-FDCC-4B06-8544-B3311C76675A}" type="datetime'''''''''''''''2''''''''''''''''''0''''''''''''''19'''''''''''">
              <a:rPr lang="en-US" altLang="en-US" sz="1000" smtClean="0"/>
              <a:pPr marL="0" lvl="0" indent="0" algn="ctr">
                <a:spcBef>
                  <a:spcPct val="0"/>
                </a:spcBef>
                <a:spcAft>
                  <a:spcPct val="0"/>
                </a:spcAft>
                <a:buNone/>
              </a:pPr>
              <a:t>2019</a:t>
            </a:fld>
            <a:endParaRPr lang="en-US" sz="1000" dirty="0"/>
          </a:p>
        </p:txBody>
      </p:sp>
      <p:sp>
        <p:nvSpPr>
          <p:cNvPr id="126" name="Text Placeholder 2">
            <a:extLst>
              <a:ext uri="{FF2B5EF4-FFF2-40B4-BE49-F238E27FC236}">
                <a16:creationId xmlns:a16="http://schemas.microsoft.com/office/drawing/2014/main" id="{2940A619-4F2A-6E67-667D-9A6CF33961CA}"/>
              </a:ext>
            </a:extLst>
          </p:cNvPr>
          <p:cNvSpPr>
            <a:spLocks/>
          </p:cNvSpPr>
          <p:nvPr>
            <p:custDataLst>
              <p:tags r:id="rId10"/>
            </p:custDataLst>
          </p:nvPr>
        </p:nvSpPr>
        <p:spPr bwMode="gray">
          <a:xfrm>
            <a:off x="2444750" y="3419475"/>
            <a:ext cx="307975" cy="104776"/>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005250F-9EB4-4F05-8824-6D163AF77782}" type="datetime'''9'''''''''''''''''''''''''''''''''',''6''''''''''''''2'''">
              <a:rPr lang="en-US" altLang="en-US" sz="1000" smtClean="0"/>
              <a:pPr marL="0" lvl="0" indent="0" algn="ctr">
                <a:spcBef>
                  <a:spcPct val="0"/>
                </a:spcBef>
                <a:spcAft>
                  <a:spcPct val="0"/>
                </a:spcAft>
                <a:buNone/>
              </a:pPr>
              <a:t>9,62</a:t>
            </a:fld>
            <a:endParaRPr lang="en-US" sz="1000" dirty="0"/>
          </a:p>
        </p:txBody>
      </p:sp>
      <p:sp>
        <p:nvSpPr>
          <p:cNvPr id="127" name="Text Placeholder 2">
            <a:extLst>
              <a:ext uri="{FF2B5EF4-FFF2-40B4-BE49-F238E27FC236}">
                <a16:creationId xmlns:a16="http://schemas.microsoft.com/office/drawing/2014/main" id="{3CAF4E31-FB0D-B9B1-BF19-4B1F9A56CA8E}"/>
              </a:ext>
            </a:extLst>
          </p:cNvPr>
          <p:cNvSpPr>
            <a:spLocks/>
          </p:cNvSpPr>
          <p:nvPr>
            <p:custDataLst>
              <p:tags r:id="rId11"/>
            </p:custDataLst>
          </p:nvPr>
        </p:nvSpPr>
        <p:spPr bwMode="gray">
          <a:xfrm>
            <a:off x="2451100" y="3910013"/>
            <a:ext cx="295275"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6D67138-8775-4A8F-BC12-97B945C1B061}" type="datetime'''''''''''''''5'''''''''',2''''''''''7'''''''''">
              <a:rPr lang="en-US" altLang="en-US" sz="1000" smtClean="0"/>
              <a:pPr marL="0" lvl="0" indent="0" algn="ctr">
                <a:spcBef>
                  <a:spcPct val="0"/>
                </a:spcBef>
                <a:spcAft>
                  <a:spcPct val="0"/>
                </a:spcAft>
                <a:buNone/>
              </a:pPr>
              <a:t>5,27</a:t>
            </a:fld>
            <a:endParaRPr lang="en-US" sz="1000" dirty="0"/>
          </a:p>
        </p:txBody>
      </p:sp>
      <p:sp>
        <p:nvSpPr>
          <p:cNvPr id="128" name="Text Placeholder 2">
            <a:extLst>
              <a:ext uri="{FF2B5EF4-FFF2-40B4-BE49-F238E27FC236}">
                <a16:creationId xmlns:a16="http://schemas.microsoft.com/office/drawing/2014/main" id="{4F3A2F35-FA3A-B181-60AE-95EFAE0E16A7}"/>
              </a:ext>
            </a:extLst>
          </p:cNvPr>
          <p:cNvSpPr>
            <a:spLocks/>
          </p:cNvSpPr>
          <p:nvPr>
            <p:custDataLst>
              <p:tags r:id="rId12"/>
            </p:custDataLst>
          </p:nvPr>
        </p:nvSpPr>
        <p:spPr bwMode="gray">
          <a:xfrm>
            <a:off x="2411413" y="4535488"/>
            <a:ext cx="374650" cy="314326"/>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09D6CC7-321E-4CEE-8E42-26FD373B22AE}" type="datetime'''''45'''''''',''7''''''''''''''''''''''5'">
              <a:rPr lang="en-US" altLang="en-US" sz="1000" smtClean="0"/>
              <a:pPr marL="0" lvl="0" indent="0" algn="ctr">
                <a:spcBef>
                  <a:spcPct val="0"/>
                </a:spcBef>
                <a:spcAft>
                  <a:spcPct val="0"/>
                </a:spcAft>
                <a:buNone/>
              </a:pPr>
              <a:t>45,75</a:t>
            </a:fld>
            <a:endParaRPr lang="en-US" altLang="en-US" sz="1000" dirty="0"/>
          </a:p>
          <a:p>
            <a:pPr marL="0" lvl="0" indent="0" algn="ctr">
              <a:spcBef>
                <a:spcPct val="0"/>
              </a:spcBef>
              <a:spcAft>
                <a:spcPct val="0"/>
              </a:spcAft>
              <a:buNone/>
            </a:pPr>
            <a:endParaRPr lang="en-US" altLang="en-US" sz="1000" dirty="0"/>
          </a:p>
          <a:p>
            <a:pPr marL="0" lvl="0" indent="0" algn="ctr">
              <a:spcBef>
                <a:spcPct val="0"/>
              </a:spcBef>
              <a:spcAft>
                <a:spcPct val="0"/>
              </a:spcAft>
              <a:buNone/>
            </a:pPr>
            <a:endParaRPr lang="en-US" sz="1000" dirty="0"/>
          </a:p>
        </p:txBody>
      </p:sp>
      <p:sp>
        <p:nvSpPr>
          <p:cNvPr id="129" name="Text Placeholder 2">
            <a:extLst>
              <a:ext uri="{FF2B5EF4-FFF2-40B4-BE49-F238E27FC236}">
                <a16:creationId xmlns:a16="http://schemas.microsoft.com/office/drawing/2014/main" id="{C5892883-C3A8-EFA6-6642-7A8966E9D32B}"/>
              </a:ext>
            </a:extLst>
          </p:cNvPr>
          <p:cNvSpPr>
            <a:spLocks/>
          </p:cNvSpPr>
          <p:nvPr>
            <p:custDataLst>
              <p:tags r:id="rId13"/>
            </p:custDataLst>
          </p:nvPr>
        </p:nvSpPr>
        <p:spPr bwMode="auto">
          <a:xfrm>
            <a:off x="2435225" y="5270500"/>
            <a:ext cx="3270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6C727BE-3F37-42F8-808B-950098FE549D}" type="datetime'''''''''''2''''''''0''2''''''''''''''''''''''''''0'''">
              <a:rPr lang="en-US" altLang="en-US" sz="1000" smtClean="0"/>
              <a:pPr marL="0" lvl="0" indent="0" algn="ctr">
                <a:spcBef>
                  <a:spcPct val="0"/>
                </a:spcBef>
                <a:spcAft>
                  <a:spcPct val="0"/>
                </a:spcAft>
                <a:buNone/>
              </a:pPr>
              <a:t>2020</a:t>
            </a:fld>
            <a:endParaRPr lang="en-US" sz="1000" dirty="0"/>
          </a:p>
        </p:txBody>
      </p:sp>
      <p:sp>
        <p:nvSpPr>
          <p:cNvPr id="130" name="Text Placeholder 2">
            <a:extLst>
              <a:ext uri="{FF2B5EF4-FFF2-40B4-BE49-F238E27FC236}">
                <a16:creationId xmlns:a16="http://schemas.microsoft.com/office/drawing/2014/main" id="{A4A8F8A1-244B-D42F-DEC2-B0E0546413B7}"/>
              </a:ext>
            </a:extLst>
          </p:cNvPr>
          <p:cNvSpPr>
            <a:spLocks/>
          </p:cNvSpPr>
          <p:nvPr>
            <p:custDataLst>
              <p:tags r:id="rId14"/>
            </p:custDataLst>
          </p:nvPr>
        </p:nvSpPr>
        <p:spPr bwMode="gray">
          <a:xfrm>
            <a:off x="3619500" y="2747963"/>
            <a:ext cx="3063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BA01249-9866-4402-BB74-4253E7AA55D3}" type="datetime'1''''''''''''''''''''''''''''''''''''2'''',''''''''''11'''">
              <a:rPr lang="en-US" altLang="en-US" sz="1000" smtClean="0"/>
              <a:pPr marL="0" lvl="0" indent="0" algn="ctr">
                <a:spcBef>
                  <a:spcPct val="0"/>
                </a:spcBef>
                <a:spcAft>
                  <a:spcPct val="0"/>
                </a:spcAft>
                <a:buNone/>
              </a:pPr>
              <a:t>12,11</a:t>
            </a:fld>
            <a:endParaRPr lang="en-US" sz="1000" dirty="0"/>
          </a:p>
        </p:txBody>
      </p:sp>
      <p:sp>
        <p:nvSpPr>
          <p:cNvPr id="131" name="Text Placeholder 2">
            <a:extLst>
              <a:ext uri="{FF2B5EF4-FFF2-40B4-BE49-F238E27FC236}">
                <a16:creationId xmlns:a16="http://schemas.microsoft.com/office/drawing/2014/main" id="{68A99569-60D1-E1CB-F87B-B082A190ED7D}"/>
              </a:ext>
            </a:extLst>
          </p:cNvPr>
          <p:cNvSpPr>
            <a:spLocks/>
          </p:cNvSpPr>
          <p:nvPr>
            <p:custDataLst>
              <p:tags r:id="rId15"/>
            </p:custDataLst>
          </p:nvPr>
        </p:nvSpPr>
        <p:spPr bwMode="gray">
          <a:xfrm>
            <a:off x="3619500" y="3297238"/>
            <a:ext cx="304800"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F8B6CF28-B848-449A-8459-97916D5A408F}" type="datetime'''''''''''''''''''''''''''''4'''''''',''''''''''''0''''7'''''">
              <a:rPr lang="en-US" altLang="en-US" sz="1000" smtClean="0"/>
              <a:pPr marL="0" lvl="0" indent="0" algn="ctr">
                <a:spcBef>
                  <a:spcPct val="0"/>
                </a:spcBef>
                <a:spcAft>
                  <a:spcPct val="0"/>
                </a:spcAft>
                <a:buNone/>
              </a:pPr>
              <a:t>4,07</a:t>
            </a:fld>
            <a:endParaRPr lang="en-US" sz="1000" dirty="0"/>
          </a:p>
        </p:txBody>
      </p:sp>
      <p:sp>
        <p:nvSpPr>
          <p:cNvPr id="132" name="Text Placeholder 2">
            <a:extLst>
              <a:ext uri="{FF2B5EF4-FFF2-40B4-BE49-F238E27FC236}">
                <a16:creationId xmlns:a16="http://schemas.microsoft.com/office/drawing/2014/main" id="{B999EA60-6013-1629-8FAC-3D041BC9EE6E}"/>
              </a:ext>
            </a:extLst>
          </p:cNvPr>
          <p:cNvSpPr>
            <a:spLocks/>
          </p:cNvSpPr>
          <p:nvPr>
            <p:custDataLst>
              <p:tags r:id="rId16"/>
            </p:custDataLst>
          </p:nvPr>
        </p:nvSpPr>
        <p:spPr bwMode="gray">
          <a:xfrm>
            <a:off x="3582988" y="4229100"/>
            <a:ext cx="377825" cy="273050"/>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3414362-EA49-411F-85BF-BD005121596B}" type="datetime'''''5''''''5'''''''''''''''''''''''''''',''''3''''''6'''''">
              <a:rPr lang="en-US" altLang="en-US" sz="1000" smtClean="0"/>
              <a:pPr marL="0" lvl="0" indent="0" algn="ctr">
                <a:spcBef>
                  <a:spcPct val="0"/>
                </a:spcBef>
                <a:spcAft>
                  <a:spcPct val="0"/>
                </a:spcAft>
                <a:buNone/>
              </a:pPr>
              <a:t>55,36</a:t>
            </a:fld>
            <a:endParaRPr lang="en-US" altLang="en-US" sz="1000" dirty="0"/>
          </a:p>
          <a:p>
            <a:pPr marL="0" lvl="0" indent="0" algn="ctr">
              <a:spcBef>
                <a:spcPct val="0"/>
              </a:spcBef>
              <a:spcAft>
                <a:spcPct val="0"/>
              </a:spcAft>
              <a:buNone/>
            </a:pPr>
            <a:endParaRPr lang="en-US" sz="1000" dirty="0"/>
          </a:p>
        </p:txBody>
      </p:sp>
      <p:sp>
        <p:nvSpPr>
          <p:cNvPr id="133" name="Text Placeholder 2">
            <a:extLst>
              <a:ext uri="{FF2B5EF4-FFF2-40B4-BE49-F238E27FC236}">
                <a16:creationId xmlns:a16="http://schemas.microsoft.com/office/drawing/2014/main" id="{D5F33311-554C-B3B2-5CCA-8D1AFB28E706}"/>
              </a:ext>
            </a:extLst>
          </p:cNvPr>
          <p:cNvSpPr>
            <a:spLocks/>
          </p:cNvSpPr>
          <p:nvPr>
            <p:custDataLst>
              <p:tags r:id="rId17"/>
            </p:custDataLst>
          </p:nvPr>
        </p:nvSpPr>
        <p:spPr bwMode="auto">
          <a:xfrm>
            <a:off x="3622675" y="5270500"/>
            <a:ext cx="300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2E3FD94-F459-41BA-ADAF-5E69E4D11C11}" type="datetime'''2''''''''''''''''02''1'''''''''''''''''''''''''">
              <a:rPr lang="en-US" altLang="en-US" sz="1000" smtClean="0"/>
              <a:pPr marL="0" lvl="0" indent="0" algn="ctr">
                <a:spcBef>
                  <a:spcPct val="0"/>
                </a:spcBef>
                <a:spcAft>
                  <a:spcPct val="0"/>
                </a:spcAft>
                <a:buNone/>
              </a:pPr>
              <a:t>2021</a:t>
            </a:fld>
            <a:endParaRPr lang="en-US" sz="1000" dirty="0"/>
          </a:p>
        </p:txBody>
      </p:sp>
      <p:sp>
        <p:nvSpPr>
          <p:cNvPr id="134" name="Text Placeholder 2">
            <a:extLst>
              <a:ext uri="{FF2B5EF4-FFF2-40B4-BE49-F238E27FC236}">
                <a16:creationId xmlns:a16="http://schemas.microsoft.com/office/drawing/2014/main" id="{FE9DB597-1D47-9E3E-BD46-EC3B9F505AF8}"/>
              </a:ext>
            </a:extLst>
          </p:cNvPr>
          <p:cNvSpPr>
            <a:spLocks/>
          </p:cNvSpPr>
          <p:nvPr>
            <p:custDataLst>
              <p:tags r:id="rId18"/>
            </p:custDataLst>
          </p:nvPr>
        </p:nvSpPr>
        <p:spPr bwMode="gray">
          <a:xfrm>
            <a:off x="4765675" y="3216275"/>
            <a:ext cx="3587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1BD97C9-C11C-4FC8-B156-DCC2DBD25462}" type="datetime'''''1''''''''''''''''''''''''''3'''''',''''0''''''2'''''">
              <a:rPr lang="en-US" altLang="en-US" sz="1000" smtClean="0"/>
              <a:pPr marL="0" lvl="0" indent="0" algn="ctr">
                <a:spcBef>
                  <a:spcPct val="0"/>
                </a:spcBef>
                <a:spcAft>
                  <a:spcPct val="0"/>
                </a:spcAft>
                <a:buNone/>
              </a:pPr>
              <a:t>13,02</a:t>
            </a:fld>
            <a:endParaRPr lang="en-US" sz="1000" dirty="0"/>
          </a:p>
        </p:txBody>
      </p:sp>
      <p:sp>
        <p:nvSpPr>
          <p:cNvPr id="135" name="Text Placeholder 2">
            <a:extLst>
              <a:ext uri="{FF2B5EF4-FFF2-40B4-BE49-F238E27FC236}">
                <a16:creationId xmlns:a16="http://schemas.microsoft.com/office/drawing/2014/main" id="{55EA85F7-E975-E9C6-BFC4-22B082C5BD3A}"/>
              </a:ext>
            </a:extLst>
          </p:cNvPr>
          <p:cNvSpPr>
            <a:spLocks/>
          </p:cNvSpPr>
          <p:nvPr>
            <p:custDataLst>
              <p:tags r:id="rId19"/>
            </p:custDataLst>
          </p:nvPr>
        </p:nvSpPr>
        <p:spPr bwMode="gray">
          <a:xfrm>
            <a:off x="4791075" y="3778250"/>
            <a:ext cx="307975" cy="104776"/>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C591DD0-47C5-4DF4-9B8E-C53D3ED2BE84}" type="datetime'''''''''''''''''''''''''''''3,''''''''''06'''''''''''''''''">
              <a:rPr lang="en-US" altLang="en-US" sz="1000" smtClean="0"/>
              <a:pPr marL="0" lvl="0" indent="0" algn="ctr">
                <a:spcBef>
                  <a:spcPct val="0"/>
                </a:spcBef>
                <a:spcAft>
                  <a:spcPct val="0"/>
                </a:spcAft>
                <a:buNone/>
              </a:pPr>
              <a:t>3,06</a:t>
            </a:fld>
            <a:endParaRPr lang="en-US" sz="1000" dirty="0"/>
          </a:p>
        </p:txBody>
      </p:sp>
      <p:sp>
        <p:nvSpPr>
          <p:cNvPr id="137" name="Text Placeholder 2">
            <a:extLst>
              <a:ext uri="{FF2B5EF4-FFF2-40B4-BE49-F238E27FC236}">
                <a16:creationId xmlns:a16="http://schemas.microsoft.com/office/drawing/2014/main" id="{C8E8F4D1-AE3F-1B68-A5EC-4F2C2F95E9B2}"/>
              </a:ext>
            </a:extLst>
          </p:cNvPr>
          <p:cNvSpPr>
            <a:spLocks/>
          </p:cNvSpPr>
          <p:nvPr>
            <p:custDataLst>
              <p:tags r:id="rId20"/>
            </p:custDataLst>
          </p:nvPr>
        </p:nvSpPr>
        <p:spPr bwMode="auto">
          <a:xfrm>
            <a:off x="4759325" y="5270500"/>
            <a:ext cx="3730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1047777-A765-4C8E-A5B4-5DFA491EB6CE}" type="datetime'2''''02''''''''''2'">
              <a:rPr lang="en-US" altLang="en-US" sz="1000" smtClean="0"/>
              <a:pPr marL="0" lvl="0" indent="0" algn="ctr">
                <a:spcBef>
                  <a:spcPct val="0"/>
                </a:spcBef>
                <a:spcAft>
                  <a:spcPct val="0"/>
                </a:spcAft>
                <a:buNone/>
              </a:pPr>
              <a:t>2022</a:t>
            </a:fld>
            <a:r>
              <a:rPr lang="en-IN" sz="1000" baseline="30000" dirty="0"/>
              <a:t>§</a:t>
            </a:r>
            <a:endParaRPr lang="en-US" sz="1000" baseline="30000" dirty="0"/>
          </a:p>
        </p:txBody>
      </p:sp>
      <p:sp>
        <p:nvSpPr>
          <p:cNvPr id="138" name="Text Placeholder 2">
            <a:extLst>
              <a:ext uri="{FF2B5EF4-FFF2-40B4-BE49-F238E27FC236}">
                <a16:creationId xmlns:a16="http://schemas.microsoft.com/office/drawing/2014/main" id="{9B03F81B-E22A-8190-4A2E-D2FC2B8E97DE}"/>
              </a:ext>
            </a:extLst>
          </p:cNvPr>
          <p:cNvSpPr>
            <a:spLocks/>
          </p:cNvSpPr>
          <p:nvPr>
            <p:custDataLst>
              <p:tags r:id="rId21"/>
            </p:custDataLst>
          </p:nvPr>
        </p:nvSpPr>
        <p:spPr bwMode="gray">
          <a:xfrm>
            <a:off x="5938838" y="3306763"/>
            <a:ext cx="3619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4A22E5F-0C24-4281-A512-380127B3159D}" type="datetime'''''''''1''''''4,2''''2'''''''''''''''''">
              <a:rPr lang="en-US" altLang="en-US" sz="1000" smtClean="0"/>
              <a:pPr marL="0" lvl="0" indent="0" algn="ctr">
                <a:spcBef>
                  <a:spcPct val="0"/>
                </a:spcBef>
                <a:spcAft>
                  <a:spcPct val="0"/>
                </a:spcAft>
                <a:buNone/>
              </a:pPr>
              <a:t>14,22</a:t>
            </a:fld>
            <a:endParaRPr lang="en-US" sz="1000" dirty="0"/>
          </a:p>
        </p:txBody>
      </p:sp>
      <p:sp>
        <p:nvSpPr>
          <p:cNvPr id="139" name="Text Placeholder 2">
            <a:extLst>
              <a:ext uri="{FF2B5EF4-FFF2-40B4-BE49-F238E27FC236}">
                <a16:creationId xmlns:a16="http://schemas.microsoft.com/office/drawing/2014/main" id="{0B8E0D9C-8A63-5554-A972-530DF32D8026}"/>
              </a:ext>
            </a:extLst>
          </p:cNvPr>
          <p:cNvSpPr>
            <a:spLocks/>
          </p:cNvSpPr>
          <p:nvPr>
            <p:custDataLst>
              <p:tags r:id="rId22"/>
            </p:custDataLst>
          </p:nvPr>
        </p:nvSpPr>
        <p:spPr bwMode="gray">
          <a:xfrm>
            <a:off x="5970588" y="3898900"/>
            <a:ext cx="300038" cy="104776"/>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D8EA7E3A-4523-4A23-A793-B1136B60F46F}" type="datetime'''''2'''''''''',''''''''''''''''''''''''''''''''''''76'''''">
              <a:rPr lang="en-US" altLang="en-US" sz="1000" smtClean="0"/>
              <a:pPr marL="0" lvl="0" indent="0" algn="ctr">
                <a:spcBef>
                  <a:spcPct val="0"/>
                </a:spcBef>
                <a:spcAft>
                  <a:spcPct val="0"/>
                </a:spcAft>
                <a:buNone/>
              </a:pPr>
              <a:t>2,76</a:t>
            </a:fld>
            <a:endParaRPr lang="en-US" sz="1000" dirty="0"/>
          </a:p>
        </p:txBody>
      </p:sp>
      <p:sp>
        <p:nvSpPr>
          <p:cNvPr id="140" name="Text Placeholder 2">
            <a:extLst>
              <a:ext uri="{FF2B5EF4-FFF2-40B4-BE49-F238E27FC236}">
                <a16:creationId xmlns:a16="http://schemas.microsoft.com/office/drawing/2014/main" id="{3EAA8E65-288E-787E-61B5-53603F7E2408}"/>
              </a:ext>
            </a:extLst>
          </p:cNvPr>
          <p:cNvSpPr>
            <a:spLocks/>
          </p:cNvSpPr>
          <p:nvPr>
            <p:custDataLst>
              <p:tags r:id="rId23"/>
            </p:custDataLst>
          </p:nvPr>
        </p:nvSpPr>
        <p:spPr bwMode="gray">
          <a:xfrm>
            <a:off x="5926138" y="4583113"/>
            <a:ext cx="387350" cy="104776"/>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C0ACD61-8714-4DF8-A917-651ED9E30DBB}" type="datetime'''''4''7'''''''''',4''''''''''''''''''''0'''''''''''">
              <a:rPr lang="en-US" altLang="en-US" sz="1000" smtClean="0"/>
              <a:pPr marL="0" lvl="0" indent="0" algn="ctr">
                <a:spcBef>
                  <a:spcPct val="0"/>
                </a:spcBef>
                <a:spcAft>
                  <a:spcPct val="0"/>
                </a:spcAft>
                <a:buNone/>
              </a:pPr>
              <a:t>47,40</a:t>
            </a:fld>
            <a:endParaRPr lang="en-US" sz="1000" dirty="0"/>
          </a:p>
        </p:txBody>
      </p:sp>
      <p:sp>
        <p:nvSpPr>
          <p:cNvPr id="141" name="Text Placeholder 2">
            <a:extLst>
              <a:ext uri="{FF2B5EF4-FFF2-40B4-BE49-F238E27FC236}">
                <a16:creationId xmlns:a16="http://schemas.microsoft.com/office/drawing/2014/main" id="{E51971EE-F2F2-2243-880D-54630FFF7D38}"/>
              </a:ext>
            </a:extLst>
          </p:cNvPr>
          <p:cNvSpPr>
            <a:spLocks/>
          </p:cNvSpPr>
          <p:nvPr>
            <p:custDataLst>
              <p:tags r:id="rId24"/>
            </p:custDataLst>
          </p:nvPr>
        </p:nvSpPr>
        <p:spPr bwMode="auto">
          <a:xfrm>
            <a:off x="5921375" y="5270500"/>
            <a:ext cx="3968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BF9C99F6-DB04-49E5-A6C5-3377C65E3441}" type="datetime'''''''''''2''0''''''2''''''''3'''''''''">
              <a:rPr lang="en-US" altLang="en-US" sz="1000" smtClean="0"/>
              <a:pPr marL="0" lvl="0" indent="0" algn="ctr">
                <a:spcBef>
                  <a:spcPct val="0"/>
                </a:spcBef>
                <a:spcAft>
                  <a:spcPct val="0"/>
                </a:spcAft>
                <a:buNone/>
              </a:pPr>
              <a:t>2023</a:t>
            </a:fld>
            <a:r>
              <a:rPr lang="en-IN" sz="1000" baseline="30000" dirty="0"/>
              <a:t> §</a:t>
            </a:r>
            <a:endParaRPr lang="en-US" sz="1000" dirty="0"/>
          </a:p>
        </p:txBody>
      </p:sp>
      <p:sp>
        <p:nvSpPr>
          <p:cNvPr id="142" name="Text Placeholder 2">
            <a:extLst>
              <a:ext uri="{FF2B5EF4-FFF2-40B4-BE49-F238E27FC236}">
                <a16:creationId xmlns:a16="http://schemas.microsoft.com/office/drawing/2014/main" id="{047F54A7-FAF1-3F81-89EA-CC810FA36E8F}"/>
              </a:ext>
            </a:extLst>
          </p:cNvPr>
          <p:cNvSpPr>
            <a:spLocks/>
          </p:cNvSpPr>
          <p:nvPr>
            <p:custDataLst>
              <p:tags r:id="rId25"/>
            </p:custDataLst>
          </p:nvPr>
        </p:nvSpPr>
        <p:spPr bwMode="gray">
          <a:xfrm>
            <a:off x="7129463" y="3073400"/>
            <a:ext cx="328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6892B45-0F41-476A-9939-8C0A89A6A615}" type="datetime'''''''''''''''15'',''''''''''''''''''1''3'''''''''''''">
              <a:rPr lang="en-US" altLang="en-US" sz="1000" smtClean="0"/>
              <a:pPr marL="0" lvl="0" indent="0" algn="ctr">
                <a:spcBef>
                  <a:spcPct val="0"/>
                </a:spcBef>
                <a:spcAft>
                  <a:spcPct val="0"/>
                </a:spcAft>
                <a:buNone/>
              </a:pPr>
              <a:t>15,13</a:t>
            </a:fld>
            <a:endParaRPr lang="en-US" sz="1000" dirty="0"/>
          </a:p>
        </p:txBody>
      </p:sp>
      <p:sp>
        <p:nvSpPr>
          <p:cNvPr id="143" name="Text Placeholder 2">
            <a:extLst>
              <a:ext uri="{FF2B5EF4-FFF2-40B4-BE49-F238E27FC236}">
                <a16:creationId xmlns:a16="http://schemas.microsoft.com/office/drawing/2014/main" id="{1FCF555B-6FF2-0A04-A89E-539A1E553D06}"/>
              </a:ext>
            </a:extLst>
          </p:cNvPr>
          <p:cNvSpPr>
            <a:spLocks/>
          </p:cNvSpPr>
          <p:nvPr>
            <p:custDataLst>
              <p:tags r:id="rId26"/>
            </p:custDataLst>
          </p:nvPr>
        </p:nvSpPr>
        <p:spPr bwMode="gray">
          <a:xfrm>
            <a:off x="7140575" y="3698875"/>
            <a:ext cx="306388" cy="104776"/>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4F64A946-2F69-46AD-B474-A341970D4612}" type="datetime'''''''''''''2'''''',''''''''''''''8''''''''''''''''''0'''''">
              <a:rPr lang="en-US" altLang="en-US" sz="1000" smtClean="0"/>
              <a:pPr marL="0" lvl="0" indent="0" algn="ctr">
                <a:spcBef>
                  <a:spcPct val="0"/>
                </a:spcBef>
                <a:spcAft>
                  <a:spcPct val="0"/>
                </a:spcAft>
                <a:buNone/>
              </a:pPr>
              <a:t>2,80</a:t>
            </a:fld>
            <a:endParaRPr lang="en-US" sz="1000" dirty="0"/>
          </a:p>
        </p:txBody>
      </p:sp>
      <p:sp>
        <p:nvSpPr>
          <p:cNvPr id="144" name="Text Placeholder 2">
            <a:extLst>
              <a:ext uri="{FF2B5EF4-FFF2-40B4-BE49-F238E27FC236}">
                <a16:creationId xmlns:a16="http://schemas.microsoft.com/office/drawing/2014/main" id="{D386AD66-40AF-AF72-6CAE-0D354A5EF6D5}"/>
              </a:ext>
            </a:extLst>
          </p:cNvPr>
          <p:cNvSpPr>
            <a:spLocks/>
          </p:cNvSpPr>
          <p:nvPr>
            <p:custDataLst>
              <p:tags r:id="rId27"/>
            </p:custDataLst>
          </p:nvPr>
        </p:nvSpPr>
        <p:spPr bwMode="gray">
          <a:xfrm>
            <a:off x="7102475" y="4468813"/>
            <a:ext cx="381000"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4DE74AED-7956-47F6-BF6A-C1105B339517}" type="datetime'''''''''''50'''''''',''3''2'''''''''''''''">
              <a:rPr lang="en-US" altLang="en-US" sz="1000" smtClean="0"/>
              <a:pPr marL="0" lvl="0" indent="0" algn="ctr">
                <a:spcBef>
                  <a:spcPct val="0"/>
                </a:spcBef>
                <a:spcAft>
                  <a:spcPct val="0"/>
                </a:spcAft>
                <a:buNone/>
              </a:pPr>
              <a:t>50,32</a:t>
            </a:fld>
            <a:endParaRPr lang="en-US" sz="1000" dirty="0"/>
          </a:p>
        </p:txBody>
      </p:sp>
      <p:sp>
        <p:nvSpPr>
          <p:cNvPr id="145" name="Text Placeholder 2">
            <a:extLst>
              <a:ext uri="{FF2B5EF4-FFF2-40B4-BE49-F238E27FC236}">
                <a16:creationId xmlns:a16="http://schemas.microsoft.com/office/drawing/2014/main" id="{7C9553DF-3823-9AFE-DCC5-E1B1A6BE52A6}"/>
              </a:ext>
            </a:extLst>
          </p:cNvPr>
          <p:cNvSpPr>
            <a:spLocks/>
          </p:cNvSpPr>
          <p:nvPr>
            <p:custDataLst>
              <p:tags r:id="rId28"/>
            </p:custDataLst>
          </p:nvPr>
        </p:nvSpPr>
        <p:spPr bwMode="auto">
          <a:xfrm>
            <a:off x="7092950" y="5270500"/>
            <a:ext cx="4016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8F5CF16-E949-4CFF-9923-641D1EF51E4A}" type="datetime'2''''''''''''0''''''2''''''4'''''''''''''''''''''''''''''">
              <a:rPr lang="en-US" altLang="en-US" sz="1000" smtClean="0"/>
              <a:pPr marL="0" lvl="0" indent="0" algn="ctr">
                <a:spcBef>
                  <a:spcPct val="0"/>
                </a:spcBef>
                <a:spcAft>
                  <a:spcPct val="0"/>
                </a:spcAft>
                <a:buNone/>
              </a:pPr>
              <a:t>2024</a:t>
            </a:fld>
            <a:r>
              <a:rPr lang="en-IN" sz="1000" baseline="30000" dirty="0"/>
              <a:t> §</a:t>
            </a:r>
            <a:endParaRPr lang="en-US" sz="1000" dirty="0"/>
          </a:p>
        </p:txBody>
      </p:sp>
      <p:sp>
        <p:nvSpPr>
          <p:cNvPr id="146" name="Text Placeholder 2">
            <a:extLst>
              <a:ext uri="{FF2B5EF4-FFF2-40B4-BE49-F238E27FC236}">
                <a16:creationId xmlns:a16="http://schemas.microsoft.com/office/drawing/2014/main" id="{9FC16273-2BBC-D9B5-0C9D-1216826AB739}"/>
              </a:ext>
            </a:extLst>
          </p:cNvPr>
          <p:cNvSpPr>
            <a:spLocks/>
          </p:cNvSpPr>
          <p:nvPr>
            <p:custDataLst>
              <p:tags r:id="rId29"/>
            </p:custDataLst>
          </p:nvPr>
        </p:nvSpPr>
        <p:spPr bwMode="gray">
          <a:xfrm>
            <a:off x="1263650" y="3627438"/>
            <a:ext cx="322263"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312D991-8742-4EDC-A81A-F070768A0045}" type="datetime'51'''''',''''1''7'''''''''''''''">
              <a:rPr lang="en-US" altLang="en-US" sz="1000" smtClean="0"/>
              <a:pPr marL="0" lvl="0" indent="0" algn="ctr">
                <a:spcBef>
                  <a:spcPct val="0"/>
                </a:spcBef>
                <a:spcAft>
                  <a:spcPct val="0"/>
                </a:spcAft>
                <a:buNone/>
              </a:pPr>
              <a:t>51,17</a:t>
            </a:fld>
            <a:endParaRPr lang="en-US" sz="1000" dirty="0"/>
          </a:p>
        </p:txBody>
      </p:sp>
      <p:sp>
        <p:nvSpPr>
          <p:cNvPr id="147" name="Text Placeholder 2">
            <a:extLst>
              <a:ext uri="{FF2B5EF4-FFF2-40B4-BE49-F238E27FC236}">
                <a16:creationId xmlns:a16="http://schemas.microsoft.com/office/drawing/2014/main" id="{C37FDB2C-C40D-A936-EC76-223E9F9F144F}"/>
              </a:ext>
            </a:extLst>
          </p:cNvPr>
          <p:cNvSpPr>
            <a:spLocks/>
          </p:cNvSpPr>
          <p:nvPr>
            <p:custDataLst>
              <p:tags r:id="rId30"/>
            </p:custDataLst>
          </p:nvPr>
        </p:nvSpPr>
        <p:spPr bwMode="gray">
          <a:xfrm>
            <a:off x="2403475" y="3000375"/>
            <a:ext cx="392113" cy="104776"/>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6B70F3A-38A7-419F-B0D3-9541915A401B}" type="datetime'6''''''''''0'''''''',''''6''''''''''''''''4'''''''''''''''">
              <a:rPr lang="en-US" altLang="en-US" sz="1000" smtClean="0"/>
              <a:pPr marL="0" lvl="0" indent="0" algn="ctr">
                <a:spcBef>
                  <a:spcPct val="0"/>
                </a:spcBef>
                <a:spcAft>
                  <a:spcPct val="0"/>
                </a:spcAft>
                <a:buNone/>
              </a:pPr>
              <a:t>60,64</a:t>
            </a:fld>
            <a:endParaRPr lang="en-US" sz="1000" dirty="0"/>
          </a:p>
        </p:txBody>
      </p:sp>
      <p:sp>
        <p:nvSpPr>
          <p:cNvPr id="148" name="Text Placeholder 2">
            <a:extLst>
              <a:ext uri="{FF2B5EF4-FFF2-40B4-BE49-F238E27FC236}">
                <a16:creationId xmlns:a16="http://schemas.microsoft.com/office/drawing/2014/main" id="{995F8335-104F-AD62-AC45-7A41E3D2276A}"/>
              </a:ext>
            </a:extLst>
          </p:cNvPr>
          <p:cNvSpPr>
            <a:spLocks/>
          </p:cNvSpPr>
          <p:nvPr>
            <p:custDataLst>
              <p:tags r:id="rId31"/>
            </p:custDataLst>
          </p:nvPr>
        </p:nvSpPr>
        <p:spPr bwMode="gray">
          <a:xfrm>
            <a:off x="3595688" y="2243138"/>
            <a:ext cx="3524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799CDEC-402C-4BEF-AE5A-BC732135A602}" type="datetime'''''''''''''''''''''''71'''''''''''''''''''',''''''''''54'">
              <a:rPr lang="en-US" altLang="en-US" sz="1000" smtClean="0"/>
              <a:pPr marL="0" lvl="0" indent="0" algn="ctr">
                <a:spcBef>
                  <a:spcPct val="0"/>
                </a:spcBef>
                <a:spcAft>
                  <a:spcPct val="0"/>
                </a:spcAft>
                <a:buNone/>
              </a:pPr>
              <a:t>71,54</a:t>
            </a:fld>
            <a:endParaRPr lang="en-US" sz="1000" dirty="0"/>
          </a:p>
        </p:txBody>
      </p:sp>
      <p:sp>
        <p:nvSpPr>
          <p:cNvPr id="149" name="Text Placeholder 2">
            <a:extLst>
              <a:ext uri="{FF2B5EF4-FFF2-40B4-BE49-F238E27FC236}">
                <a16:creationId xmlns:a16="http://schemas.microsoft.com/office/drawing/2014/main" id="{20D616F5-E1F8-DB3B-870F-BD241C98DE12}"/>
              </a:ext>
            </a:extLst>
          </p:cNvPr>
          <p:cNvSpPr>
            <a:spLocks/>
          </p:cNvSpPr>
          <p:nvPr>
            <p:custDataLst>
              <p:tags r:id="rId32"/>
            </p:custDataLst>
          </p:nvPr>
        </p:nvSpPr>
        <p:spPr bwMode="gray">
          <a:xfrm>
            <a:off x="4767263" y="2681288"/>
            <a:ext cx="35718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4858FB9-3AFF-47D1-A0DD-88733E594AD1}" type="datetime'''''''6''''''''''''5'''''''',''''1''0'''''''">
              <a:rPr lang="en-US" altLang="en-US" sz="1000" smtClean="0"/>
              <a:pPr marL="0" lvl="0" indent="0" algn="ctr">
                <a:spcBef>
                  <a:spcPct val="0"/>
                </a:spcBef>
                <a:spcAft>
                  <a:spcPct val="0"/>
                </a:spcAft>
                <a:buNone/>
              </a:pPr>
              <a:t>65,10</a:t>
            </a:fld>
            <a:endParaRPr lang="en-US" sz="1000" dirty="0"/>
          </a:p>
        </p:txBody>
      </p:sp>
      <p:sp>
        <p:nvSpPr>
          <p:cNvPr id="150" name="Text Placeholder 2">
            <a:extLst>
              <a:ext uri="{FF2B5EF4-FFF2-40B4-BE49-F238E27FC236}">
                <a16:creationId xmlns:a16="http://schemas.microsoft.com/office/drawing/2014/main" id="{56CDD491-7CFF-FCBA-F547-9F2F8AF85A5C}"/>
              </a:ext>
            </a:extLst>
          </p:cNvPr>
          <p:cNvSpPr>
            <a:spLocks/>
          </p:cNvSpPr>
          <p:nvPr>
            <p:custDataLst>
              <p:tags r:id="rId33"/>
            </p:custDataLst>
          </p:nvPr>
        </p:nvSpPr>
        <p:spPr bwMode="gray">
          <a:xfrm>
            <a:off x="5926138" y="2730500"/>
            <a:ext cx="38893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8F7FB70-CEF2-4B34-B1E6-85E0258A1CD1}" type="datetime'6''''''''''''''''''''''''4'',''''3''''''''''8'''''''''''''">
              <a:rPr lang="en-US" altLang="en-US" sz="1000" smtClean="0"/>
              <a:pPr marL="0" lvl="0" indent="0" algn="ctr">
                <a:spcBef>
                  <a:spcPct val="0"/>
                </a:spcBef>
                <a:spcAft>
                  <a:spcPct val="0"/>
                </a:spcAft>
                <a:buNone/>
              </a:pPr>
              <a:t>64,38</a:t>
            </a:fld>
            <a:endParaRPr lang="en-US" sz="1000" dirty="0"/>
          </a:p>
        </p:txBody>
      </p:sp>
      <p:sp>
        <p:nvSpPr>
          <p:cNvPr id="151" name="Text Placeholder 2">
            <a:extLst>
              <a:ext uri="{FF2B5EF4-FFF2-40B4-BE49-F238E27FC236}">
                <a16:creationId xmlns:a16="http://schemas.microsoft.com/office/drawing/2014/main" id="{4144F812-B326-9BA2-D4D7-605F4E0BCDF4}"/>
              </a:ext>
            </a:extLst>
          </p:cNvPr>
          <p:cNvSpPr>
            <a:spLocks/>
          </p:cNvSpPr>
          <p:nvPr>
            <p:custDataLst>
              <p:tags r:id="rId34"/>
            </p:custDataLst>
          </p:nvPr>
        </p:nvSpPr>
        <p:spPr bwMode="gray">
          <a:xfrm>
            <a:off x="7102475" y="2466975"/>
            <a:ext cx="38258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8D46DB2-99C2-4D9E-B21C-A416405E9866}" type="datetime'6''''''''''''''''''''''8'''',''''2''''''''''''''''''''''''''5'">
              <a:rPr lang="en-US" altLang="en-US" sz="1000" smtClean="0"/>
              <a:pPr marL="0" lvl="0" indent="0" algn="ctr">
                <a:spcBef>
                  <a:spcPct val="0"/>
                </a:spcBef>
                <a:spcAft>
                  <a:spcPct val="0"/>
                </a:spcAft>
                <a:buNone/>
              </a:pPr>
              <a:t>68,25</a:t>
            </a:fld>
            <a:endParaRPr lang="en-US" sz="1000" dirty="0"/>
          </a:p>
        </p:txBody>
      </p:sp>
      <p:sp>
        <p:nvSpPr>
          <p:cNvPr id="136" name="Text Placeholder 2">
            <a:extLst>
              <a:ext uri="{FF2B5EF4-FFF2-40B4-BE49-F238E27FC236}">
                <a16:creationId xmlns:a16="http://schemas.microsoft.com/office/drawing/2014/main" id="{4CE18F59-C722-5747-0339-375DAA5B1606}"/>
              </a:ext>
            </a:extLst>
          </p:cNvPr>
          <p:cNvSpPr>
            <a:spLocks/>
          </p:cNvSpPr>
          <p:nvPr>
            <p:custDataLst>
              <p:tags r:id="rId35"/>
            </p:custDataLst>
          </p:nvPr>
        </p:nvSpPr>
        <p:spPr bwMode="gray">
          <a:xfrm>
            <a:off x="4749800" y="4513263"/>
            <a:ext cx="390525"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8DAF589-2FCA-43D8-841F-EFF15DEA4D64}" type="datetime'''''49,''''''0''2'''''''''''''''''''''''">
              <a:rPr lang="en-US" altLang="en-US" sz="1000" smtClean="0"/>
              <a:pPr marL="0" lvl="0" indent="0" algn="ctr">
                <a:spcBef>
                  <a:spcPct val="0"/>
                </a:spcBef>
                <a:spcAft>
                  <a:spcPct val="0"/>
                </a:spcAft>
                <a:buNone/>
              </a:pPr>
              <a:t>49,02</a:t>
            </a:fld>
            <a:endParaRPr lang="en-US" sz="1000" dirty="0"/>
          </a:p>
        </p:txBody>
      </p:sp>
      <p:graphicFrame>
        <p:nvGraphicFramePr>
          <p:cNvPr id="338" name="Chart 337">
            <a:extLst>
              <a:ext uri="{FF2B5EF4-FFF2-40B4-BE49-F238E27FC236}">
                <a16:creationId xmlns:a16="http://schemas.microsoft.com/office/drawing/2014/main" id="{DF0BBE98-A3E2-8B92-C22C-0D45E157E5EF}"/>
              </a:ext>
            </a:extLst>
          </p:cNvPr>
          <p:cNvGraphicFramePr/>
          <p:nvPr>
            <p:custDataLst>
              <p:tags r:id="rId36"/>
            </p:custDataLst>
          </p:nvPr>
        </p:nvGraphicFramePr>
        <p:xfrm>
          <a:off x="755650" y="4471988"/>
          <a:ext cx="7207250" cy="838200"/>
        </p:xfrm>
        <a:graphic>
          <a:graphicData uri="http://schemas.openxmlformats.org/drawingml/2006/chart">
            <c:chart xmlns:c="http://schemas.openxmlformats.org/drawingml/2006/chart" xmlns:r="http://schemas.openxmlformats.org/officeDocument/2006/relationships" r:id="rId60"/>
          </a:graphicData>
        </a:graphic>
      </p:graphicFrame>
      <p:sp>
        <p:nvSpPr>
          <p:cNvPr id="259" name="Text Placeholder 2">
            <a:extLst>
              <a:ext uri="{FF2B5EF4-FFF2-40B4-BE49-F238E27FC236}">
                <a16:creationId xmlns:a16="http://schemas.microsoft.com/office/drawing/2014/main" id="{32E6A886-826A-91D4-F06F-C7A645317891}"/>
              </a:ext>
            </a:extLst>
          </p:cNvPr>
          <p:cNvSpPr>
            <a:spLocks/>
          </p:cNvSpPr>
          <p:nvPr>
            <p:custDataLst>
              <p:tags r:id="rId37"/>
            </p:custDataLst>
          </p:nvPr>
        </p:nvSpPr>
        <p:spPr bwMode="gray">
          <a:xfrm>
            <a:off x="608013" y="5137150"/>
            <a:ext cx="1127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D650F7B-D72D-4118-B8E4-F9501E834E47}" type="datetime'''''''''''''''''''''''''''''''''''''0'''''">
              <a:rPr lang="en-US" altLang="en-US" sz="1400" smtClean="0">
                <a:solidFill>
                  <a:srgbClr val="3A3A3A"/>
                </a:solidFill>
                <a:effectLst/>
              </a:rPr>
              <a:pPr marL="0" lvl="0" indent="0" algn="r">
                <a:spcBef>
                  <a:spcPct val="0"/>
                </a:spcBef>
                <a:spcAft>
                  <a:spcPct val="0"/>
                </a:spcAft>
                <a:buNone/>
              </a:pPr>
              <a:t>0</a:t>
            </a:fld>
            <a:endParaRPr lang="en-US" sz="1400" dirty="0">
              <a:solidFill>
                <a:srgbClr val="3A3A3A"/>
              </a:solidFill>
            </a:endParaRPr>
          </a:p>
        </p:txBody>
      </p:sp>
      <p:sp>
        <p:nvSpPr>
          <p:cNvPr id="300" name="Text Placeholder 2">
            <a:extLst>
              <a:ext uri="{FF2B5EF4-FFF2-40B4-BE49-F238E27FC236}">
                <a16:creationId xmlns:a16="http://schemas.microsoft.com/office/drawing/2014/main" id="{DEDABCED-0251-0D48-1846-02C89C178258}"/>
              </a:ext>
            </a:extLst>
          </p:cNvPr>
          <p:cNvSpPr>
            <a:spLocks/>
          </p:cNvSpPr>
          <p:nvPr>
            <p:custDataLst>
              <p:tags r:id="rId38"/>
            </p:custDataLst>
          </p:nvPr>
        </p:nvSpPr>
        <p:spPr bwMode="gray">
          <a:xfrm>
            <a:off x="503238" y="4913313"/>
            <a:ext cx="2174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F8FC1CC-99DC-40F1-BB3B-6F61D0BC3B72}" type="datetime'5''''''''''''''''''0'''''''''''''''''''''''''''">
              <a:rPr lang="en-US" altLang="en-US" sz="1400" smtClean="0">
                <a:solidFill>
                  <a:srgbClr val="3A3A3A"/>
                </a:solidFill>
                <a:effectLst/>
              </a:rPr>
              <a:pPr marL="0" lvl="0" indent="0" algn="r">
                <a:spcBef>
                  <a:spcPct val="0"/>
                </a:spcBef>
                <a:spcAft>
                  <a:spcPct val="0"/>
                </a:spcAft>
                <a:buNone/>
              </a:pPr>
              <a:t>50</a:t>
            </a:fld>
            <a:endParaRPr lang="en-US" sz="1400" dirty="0">
              <a:solidFill>
                <a:srgbClr val="3A3A3A"/>
              </a:solidFill>
            </a:endParaRPr>
          </a:p>
        </p:txBody>
      </p:sp>
      <p:sp>
        <p:nvSpPr>
          <p:cNvPr id="227" name="Text Placeholder 2">
            <a:extLst>
              <a:ext uri="{FF2B5EF4-FFF2-40B4-BE49-F238E27FC236}">
                <a16:creationId xmlns:a16="http://schemas.microsoft.com/office/drawing/2014/main" id="{E864EAC1-98F6-779B-4DD8-FEDCBF2C6F07}"/>
              </a:ext>
            </a:extLst>
          </p:cNvPr>
          <p:cNvSpPr>
            <a:spLocks/>
          </p:cNvSpPr>
          <p:nvPr>
            <p:custDataLst>
              <p:tags r:id="rId39"/>
            </p:custDataLst>
          </p:nvPr>
        </p:nvSpPr>
        <p:spPr bwMode="gray">
          <a:xfrm>
            <a:off x="422275" y="4687888"/>
            <a:ext cx="2984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92B74C7-0BE6-4A90-BE45-52070ABA1529}" type="datetime'''''''''''''''''''''1''''''''00'''">
              <a:rPr lang="en-US" altLang="en-US" sz="1400" smtClean="0">
                <a:solidFill>
                  <a:srgbClr val="3A3A3A"/>
                </a:solidFill>
              </a:rPr>
              <a:pPr marL="0" lvl="0" indent="0" algn="r">
                <a:spcBef>
                  <a:spcPct val="0"/>
                </a:spcBef>
                <a:spcAft>
                  <a:spcPct val="0"/>
                </a:spcAft>
                <a:buNone/>
              </a:pPr>
              <a:t>100</a:t>
            </a:fld>
            <a:endParaRPr lang="en-US" sz="1400" dirty="0">
              <a:solidFill>
                <a:srgbClr val="3A3A3A"/>
              </a:solidFill>
            </a:endParaRPr>
          </a:p>
        </p:txBody>
      </p:sp>
      <p:sp>
        <p:nvSpPr>
          <p:cNvPr id="301" name="Text Placeholder 2">
            <a:extLst>
              <a:ext uri="{FF2B5EF4-FFF2-40B4-BE49-F238E27FC236}">
                <a16:creationId xmlns:a16="http://schemas.microsoft.com/office/drawing/2014/main" id="{1E6D5612-C321-0BD0-F398-A53C8097BFC3}"/>
              </a:ext>
            </a:extLst>
          </p:cNvPr>
          <p:cNvSpPr>
            <a:spLocks/>
          </p:cNvSpPr>
          <p:nvPr>
            <p:custDataLst>
              <p:tags r:id="rId40"/>
            </p:custDataLst>
          </p:nvPr>
        </p:nvSpPr>
        <p:spPr bwMode="gray">
          <a:xfrm>
            <a:off x="430213" y="4486386"/>
            <a:ext cx="290513" cy="147416"/>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989A1BB-839F-4DD3-BFAE-9BA24DFBE1CD}" type="datetime'''''''''''''''''1''''''''''''''''''''''''''''5''0'''''''">
              <a:rPr lang="en-US" altLang="en-US" sz="1400" smtClean="0">
                <a:solidFill>
                  <a:srgbClr val="3A3A3A"/>
                </a:solidFill>
                <a:effectLst/>
              </a:rPr>
              <a:pPr marL="0" lvl="0" indent="0" algn="r">
                <a:spcBef>
                  <a:spcPct val="0"/>
                </a:spcBef>
                <a:spcAft>
                  <a:spcPct val="0"/>
                </a:spcAft>
                <a:buNone/>
              </a:pPr>
              <a:t>150</a:t>
            </a:fld>
            <a:endParaRPr lang="en-US" sz="1400" dirty="0">
              <a:solidFill>
                <a:srgbClr val="3A3A3A"/>
              </a:solidFill>
            </a:endParaRPr>
          </a:p>
        </p:txBody>
      </p:sp>
      <p:sp useBgFill="1">
        <p:nvSpPr>
          <p:cNvPr id="231" name="Text Placeholder 2">
            <a:extLst>
              <a:ext uri="{FF2B5EF4-FFF2-40B4-BE49-F238E27FC236}">
                <a16:creationId xmlns:a16="http://schemas.microsoft.com/office/drawing/2014/main" id="{6E77183C-F397-9AA6-4503-4AF7CF236448}"/>
              </a:ext>
            </a:extLst>
          </p:cNvPr>
          <p:cNvSpPr>
            <a:spLocks/>
          </p:cNvSpPr>
          <p:nvPr>
            <p:custDataLst>
              <p:tags r:id="rId41"/>
            </p:custDataLst>
          </p:nvPr>
        </p:nvSpPr>
        <p:spPr bwMode="gray">
          <a:xfrm>
            <a:off x="1246188" y="4608513"/>
            <a:ext cx="357188"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F7F89EA-F2FF-4AA8-AEFA-6E102421AABF}" type="datetime'''''''''1''''2''''''''''''''''''''2,8'">
              <a:rPr lang="en-US" altLang="en-US" sz="1000" smtClean="0"/>
              <a:pPr marL="0" lvl="0" indent="0" algn="ctr">
                <a:spcBef>
                  <a:spcPct val="0"/>
                </a:spcBef>
                <a:spcAft>
                  <a:spcPct val="0"/>
                </a:spcAft>
                <a:buNone/>
              </a:pPr>
              <a:t>122,8</a:t>
            </a:fld>
            <a:endParaRPr lang="en-US" sz="1000" dirty="0"/>
          </a:p>
        </p:txBody>
      </p:sp>
      <p:sp useBgFill="1">
        <p:nvSpPr>
          <p:cNvPr id="229" name="Text Placeholder 2">
            <a:extLst>
              <a:ext uri="{FF2B5EF4-FFF2-40B4-BE49-F238E27FC236}">
                <a16:creationId xmlns:a16="http://schemas.microsoft.com/office/drawing/2014/main" id="{2F699F5B-FFCE-8A41-60A9-4CF59DA54307}"/>
              </a:ext>
            </a:extLst>
          </p:cNvPr>
          <p:cNvSpPr>
            <a:spLocks/>
          </p:cNvSpPr>
          <p:nvPr>
            <p:custDataLst>
              <p:tags r:id="rId42"/>
            </p:custDataLst>
          </p:nvPr>
        </p:nvSpPr>
        <p:spPr bwMode="gray">
          <a:xfrm>
            <a:off x="2422525" y="4714875"/>
            <a:ext cx="352425" cy="104776"/>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3F35DDD-2101-4877-9A52-DEC1E6B36282}" type="datetime'''''1''''''''''''''''''''02'',''''''''''''''''''''''''''''7'">
              <a:rPr lang="en-US" altLang="en-US" sz="1000" smtClean="0">
                <a:effectLst/>
              </a:rPr>
              <a:pPr marL="0" lvl="0" indent="0" algn="ctr">
                <a:spcBef>
                  <a:spcPct val="0"/>
                </a:spcBef>
                <a:spcAft>
                  <a:spcPct val="0"/>
                </a:spcAft>
                <a:buNone/>
              </a:pPr>
              <a:t>102,7</a:t>
            </a:fld>
            <a:endParaRPr lang="en-US" sz="1000" dirty="0"/>
          </a:p>
        </p:txBody>
      </p:sp>
      <p:sp useBgFill="1">
        <p:nvSpPr>
          <p:cNvPr id="230" name="Text Placeholder 2">
            <a:extLst>
              <a:ext uri="{FF2B5EF4-FFF2-40B4-BE49-F238E27FC236}">
                <a16:creationId xmlns:a16="http://schemas.microsoft.com/office/drawing/2014/main" id="{19771964-104A-82FF-07BE-348D9FB419A0}"/>
              </a:ext>
            </a:extLst>
          </p:cNvPr>
          <p:cNvSpPr>
            <a:spLocks/>
          </p:cNvSpPr>
          <p:nvPr>
            <p:custDataLst>
              <p:tags r:id="rId43"/>
            </p:custDataLst>
          </p:nvPr>
        </p:nvSpPr>
        <p:spPr bwMode="gray">
          <a:xfrm>
            <a:off x="3592513" y="4706938"/>
            <a:ext cx="360363"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CA5D05A-E6C7-4938-9804-A5B2020B27EC}" type="datetime'1''''''''''00'''''''''',''''''''''''''''''''''8'''''">
              <a:rPr lang="en-US" altLang="en-US" sz="1000" smtClean="0"/>
              <a:pPr marL="0" lvl="0" indent="0" algn="ctr">
                <a:spcBef>
                  <a:spcPct val="0"/>
                </a:spcBef>
                <a:spcAft>
                  <a:spcPct val="0"/>
                </a:spcAft>
                <a:buNone/>
              </a:pPr>
              <a:t>100,8</a:t>
            </a:fld>
            <a:endParaRPr lang="en-US" sz="1000" dirty="0"/>
          </a:p>
        </p:txBody>
      </p:sp>
      <p:sp useBgFill="1">
        <p:nvSpPr>
          <p:cNvPr id="232" name="Text Placeholder 2">
            <a:extLst>
              <a:ext uri="{FF2B5EF4-FFF2-40B4-BE49-F238E27FC236}">
                <a16:creationId xmlns:a16="http://schemas.microsoft.com/office/drawing/2014/main" id="{E048C990-9717-E76E-7965-477216E37B2E}"/>
              </a:ext>
            </a:extLst>
          </p:cNvPr>
          <p:cNvSpPr>
            <a:spLocks/>
          </p:cNvSpPr>
          <p:nvPr>
            <p:custDataLst>
              <p:tags r:id="rId44"/>
            </p:custDataLst>
          </p:nvPr>
        </p:nvSpPr>
        <p:spPr bwMode="gray">
          <a:xfrm>
            <a:off x="4797425" y="4775200"/>
            <a:ext cx="295275"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CCA169E-A6AB-4C77-9551-7EA441144792}" type="datetime'''''''''8''''''''''5'''''''''''''''',''''''''''''''''7'''''''">
              <a:rPr lang="en-US" altLang="en-US" sz="1000" smtClean="0"/>
              <a:pPr marL="0" lvl="0" indent="0" algn="ctr">
                <a:spcBef>
                  <a:spcPct val="0"/>
                </a:spcBef>
                <a:spcAft>
                  <a:spcPct val="0"/>
                </a:spcAft>
                <a:buNone/>
              </a:pPr>
              <a:t>85,7</a:t>
            </a:fld>
            <a:endParaRPr lang="en-US" sz="1000" dirty="0"/>
          </a:p>
        </p:txBody>
      </p:sp>
      <p:sp useBgFill="1">
        <p:nvSpPr>
          <p:cNvPr id="233" name="Text Placeholder 2">
            <a:extLst>
              <a:ext uri="{FF2B5EF4-FFF2-40B4-BE49-F238E27FC236}">
                <a16:creationId xmlns:a16="http://schemas.microsoft.com/office/drawing/2014/main" id="{565E7BC0-FB20-9DB1-B6B2-69A33605600A}"/>
              </a:ext>
            </a:extLst>
          </p:cNvPr>
          <p:cNvSpPr>
            <a:spLocks/>
          </p:cNvSpPr>
          <p:nvPr>
            <p:custDataLst>
              <p:tags r:id="rId45"/>
            </p:custDataLst>
          </p:nvPr>
        </p:nvSpPr>
        <p:spPr bwMode="gray">
          <a:xfrm>
            <a:off x="5972175" y="4819650"/>
            <a:ext cx="296863"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AD773A3-D952-42D7-845A-FEBDFD6CE446}" type="datetime'''''''''7''''''''''''''''''''''5'''''''',6'''''''''''">
              <a:rPr lang="en-US" altLang="en-US" sz="1000" smtClean="0">
                <a:effectLst/>
              </a:rPr>
              <a:pPr marL="0" lvl="0" indent="0" algn="ctr">
                <a:spcBef>
                  <a:spcPct val="0"/>
                </a:spcBef>
                <a:spcAft>
                  <a:spcPct val="0"/>
                </a:spcAft>
                <a:buNone/>
              </a:pPr>
              <a:t>75,6</a:t>
            </a:fld>
            <a:endParaRPr lang="en-US" sz="1000" dirty="0"/>
          </a:p>
        </p:txBody>
      </p:sp>
      <p:sp useBgFill="1">
        <p:nvSpPr>
          <p:cNvPr id="234" name="Text Placeholder 2">
            <a:extLst>
              <a:ext uri="{FF2B5EF4-FFF2-40B4-BE49-F238E27FC236}">
                <a16:creationId xmlns:a16="http://schemas.microsoft.com/office/drawing/2014/main" id="{9EE7DFEF-FB44-2320-6AAB-2688E363E549}"/>
              </a:ext>
            </a:extLst>
          </p:cNvPr>
          <p:cNvSpPr>
            <a:spLocks/>
          </p:cNvSpPr>
          <p:nvPr>
            <p:custDataLst>
              <p:tags r:id="rId46"/>
            </p:custDataLst>
          </p:nvPr>
        </p:nvSpPr>
        <p:spPr bwMode="gray">
          <a:xfrm>
            <a:off x="7143750" y="4833938"/>
            <a:ext cx="300038"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76C1678-4247-413C-A5CA-28706D9C6F2B}" type="datetime'''''''''''7''''2'''''''''',6'''''''''''''''''''''">
              <a:rPr lang="en-US" altLang="en-US" sz="1000" smtClean="0"/>
              <a:pPr marL="0" lvl="0" indent="0" algn="ctr">
                <a:spcBef>
                  <a:spcPct val="0"/>
                </a:spcBef>
                <a:spcAft>
                  <a:spcPct val="0"/>
                </a:spcAft>
                <a:buNone/>
              </a:pPr>
              <a:t>72,6</a:t>
            </a:fld>
            <a:endParaRPr lang="en-US" sz="1000" dirty="0"/>
          </a:p>
        </p:txBody>
      </p:sp>
      <p:sp>
        <p:nvSpPr>
          <p:cNvPr id="2" name="Title 1">
            <a:extLst>
              <a:ext uri="{FF2B5EF4-FFF2-40B4-BE49-F238E27FC236}">
                <a16:creationId xmlns:a16="http://schemas.microsoft.com/office/drawing/2014/main" id="{C2B3D4CB-AC70-7936-7DE3-D7EBBEB8AC4B}"/>
              </a:ext>
            </a:extLst>
          </p:cNvPr>
          <p:cNvSpPr>
            <a:spLocks noGrp="1"/>
          </p:cNvSpPr>
          <p:nvPr>
            <p:ph type="title"/>
          </p:nvPr>
        </p:nvSpPr>
        <p:spPr>
          <a:xfrm>
            <a:off x="838200" y="374650"/>
            <a:ext cx="10515600" cy="498598"/>
          </a:xfrm>
        </p:spPr>
        <p:txBody>
          <a:bodyPr vert="horz" rIns="91440">
            <a:noAutofit/>
          </a:bodyPr>
          <a:lstStyle/>
          <a:p>
            <a:r>
              <a:rPr lang="en-GB" sz="2800" noProof="0" dirty="0"/>
              <a:t>2024 Sustainability Results: Progress through Intensity</a:t>
            </a:r>
            <a:endParaRPr lang="en-US" sz="2800" noProof="0" dirty="0"/>
          </a:p>
        </p:txBody>
      </p:sp>
      <p:sp>
        <p:nvSpPr>
          <p:cNvPr id="4" name="Slide Number Placeholder 3">
            <a:extLst>
              <a:ext uri="{FF2B5EF4-FFF2-40B4-BE49-F238E27FC236}">
                <a16:creationId xmlns:a16="http://schemas.microsoft.com/office/drawing/2014/main" id="{CDD4EDA3-50BD-22E2-84E2-5EADC7159F5E}"/>
              </a:ext>
            </a:extLst>
          </p:cNvPr>
          <p:cNvSpPr>
            <a:spLocks noGrp="1"/>
          </p:cNvSpPr>
          <p:nvPr>
            <p:ph type="sldNum" sz="quarter" idx="12"/>
          </p:nvPr>
        </p:nvSpPr>
        <p:spPr/>
        <p:txBody>
          <a:bodyPr/>
          <a:lstStyle/>
          <a:p>
            <a:fld id="{49882A7A-00EB-4D45-AA64-F8A75FA21FCC}" type="slidenum">
              <a:rPr lang="en-US" noProof="0" smtClean="0"/>
              <a:pPr/>
              <a:t>10</a:t>
            </a:fld>
            <a:endParaRPr lang="en-US" noProof="0" dirty="0"/>
          </a:p>
        </p:txBody>
      </p:sp>
      <p:sp>
        <p:nvSpPr>
          <p:cNvPr id="120" name="Rectangle 119">
            <a:extLst>
              <a:ext uri="{FF2B5EF4-FFF2-40B4-BE49-F238E27FC236}">
                <a16:creationId xmlns:a16="http://schemas.microsoft.com/office/drawing/2014/main" id="{2F38F89D-1A75-3739-B157-1F9A426C232B}"/>
              </a:ext>
            </a:extLst>
          </p:cNvPr>
          <p:cNvSpPr/>
          <p:nvPr/>
        </p:nvSpPr>
        <p:spPr>
          <a:xfrm>
            <a:off x="838200" y="1421606"/>
            <a:ext cx="5934075" cy="547017"/>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36000" bIns="18000" rtlCol="0" anchor="ctr"/>
          <a:lstStyle/>
          <a:p>
            <a:r>
              <a:rPr lang="en-US" sz="1600" b="1" dirty="0"/>
              <a:t>Amazon’s Carbon Footprint (MMT CO</a:t>
            </a:r>
            <a:r>
              <a:rPr lang="en-US" sz="1600" b="1" baseline="-25000" dirty="0"/>
              <a:t>2</a:t>
            </a:r>
            <a:r>
              <a:rPr lang="en-US" sz="1600" b="1" dirty="0"/>
              <a:t>e*)</a:t>
            </a:r>
          </a:p>
        </p:txBody>
      </p:sp>
      <p:cxnSp>
        <p:nvCxnSpPr>
          <p:cNvPr id="152" name="Straight Connector 151">
            <a:extLst>
              <a:ext uri="{FF2B5EF4-FFF2-40B4-BE49-F238E27FC236}">
                <a16:creationId xmlns:a16="http://schemas.microsoft.com/office/drawing/2014/main" id="{8062A14F-D697-3ED3-2A4A-335D181F2595}"/>
              </a:ext>
            </a:extLst>
          </p:cNvPr>
          <p:cNvCxnSpPr/>
          <p:nvPr>
            <p:custDataLst>
              <p:tags r:id="rId47"/>
            </p:custDataLst>
          </p:nvPr>
        </p:nvCxnSpPr>
        <p:spPr bwMode="gray">
          <a:xfrm>
            <a:off x="1865313" y="5734050"/>
            <a:ext cx="141288"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A18AF45D-D65C-EA37-723D-7B101357678A}"/>
              </a:ext>
            </a:extLst>
          </p:cNvPr>
          <p:cNvSpPr/>
          <p:nvPr>
            <p:custDataLst>
              <p:tags r:id="rId48"/>
            </p:custDataLst>
          </p:nvPr>
        </p:nvSpPr>
        <p:spPr bwMode="auto">
          <a:xfrm>
            <a:off x="1855788" y="5854700"/>
            <a:ext cx="160338" cy="120650"/>
          </a:xfrm>
          <a:prstGeom prst="rect">
            <a:avLst/>
          </a:prstGeom>
          <a:solidFill>
            <a:schemeClr val="accent1"/>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6C24377F-CFE5-DD22-CE8B-C4C740E9FE08}"/>
              </a:ext>
            </a:extLst>
          </p:cNvPr>
          <p:cNvSpPr/>
          <p:nvPr>
            <p:custDataLst>
              <p:tags r:id="rId49"/>
            </p:custDataLst>
          </p:nvPr>
        </p:nvSpPr>
        <p:spPr bwMode="auto">
          <a:xfrm>
            <a:off x="3968750" y="5673725"/>
            <a:ext cx="160338" cy="120650"/>
          </a:xfrm>
          <a:prstGeom prst="rect">
            <a:avLst/>
          </a:prstGeom>
          <a:solidFill>
            <a:srgbClr val="F9560C"/>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612B1374-19B6-8088-BE9B-1610D9ED97A4}"/>
              </a:ext>
            </a:extLst>
          </p:cNvPr>
          <p:cNvSpPr/>
          <p:nvPr>
            <p:custDataLst>
              <p:tags r:id="rId50"/>
            </p:custDataLst>
          </p:nvPr>
        </p:nvSpPr>
        <p:spPr bwMode="auto">
          <a:xfrm>
            <a:off x="3968750" y="5854700"/>
            <a:ext cx="160338" cy="120650"/>
          </a:xfrm>
          <a:prstGeom prst="rect">
            <a:avLst/>
          </a:prstGeom>
          <a:solidFill>
            <a:srgbClr val="AA3804"/>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 Placeholder 2">
            <a:extLst>
              <a:ext uri="{FF2B5EF4-FFF2-40B4-BE49-F238E27FC236}">
                <a16:creationId xmlns:a16="http://schemas.microsoft.com/office/drawing/2014/main" id="{C1704885-761B-678D-D13E-6DAF37BCCCCF}"/>
              </a:ext>
            </a:extLst>
          </p:cNvPr>
          <p:cNvSpPr>
            <a:spLocks/>
          </p:cNvSpPr>
          <p:nvPr>
            <p:custDataLst>
              <p:tags r:id="rId51"/>
            </p:custDataLst>
          </p:nvPr>
        </p:nvSpPr>
        <p:spPr bwMode="auto">
          <a:xfrm>
            <a:off x="2066925" y="5680075"/>
            <a:ext cx="18002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900" dirty="0"/>
              <a:t>Carbon intensity (gCO</a:t>
            </a:r>
            <a:r>
              <a:rPr lang="en-US" altLang="en-US" sz="900" baseline="-25000" dirty="0"/>
              <a:t>2</a:t>
            </a:r>
            <a:r>
              <a:rPr lang="en-US" altLang="en-US" sz="900" dirty="0"/>
              <a:t>e/$GMS)</a:t>
            </a:r>
            <a:r>
              <a:rPr lang="en-IN" sz="900" dirty="0"/>
              <a:t> </a:t>
            </a:r>
            <a:r>
              <a:rPr lang="en-IN" sz="900" baseline="30000" dirty="0"/>
              <a:t>‡</a:t>
            </a:r>
            <a:endParaRPr lang="en-US" sz="900" baseline="30000" dirty="0"/>
          </a:p>
        </p:txBody>
      </p:sp>
      <p:sp>
        <p:nvSpPr>
          <p:cNvPr id="157" name="Text Placeholder 2">
            <a:extLst>
              <a:ext uri="{FF2B5EF4-FFF2-40B4-BE49-F238E27FC236}">
                <a16:creationId xmlns:a16="http://schemas.microsoft.com/office/drawing/2014/main" id="{FF7E2B43-E574-13D9-8375-C30EFC7267DE}"/>
              </a:ext>
            </a:extLst>
          </p:cNvPr>
          <p:cNvSpPr>
            <a:spLocks/>
          </p:cNvSpPr>
          <p:nvPr>
            <p:custDataLst>
              <p:tags r:id="rId52"/>
            </p:custDataLst>
          </p:nvPr>
        </p:nvSpPr>
        <p:spPr bwMode="auto">
          <a:xfrm>
            <a:off x="2066925" y="5861050"/>
            <a:ext cx="89376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CA30E505-40A5-40DD-8F9B-432AFC7F31D3}" type="datetime'D''''i''''''''r''ect'''' ''''Emi''''ssi''''ons'''''''''''">
              <a:rPr lang="en-US" altLang="en-US" sz="900" smtClean="0"/>
              <a:pPr/>
              <a:t>Direct Emissions</a:t>
            </a:fld>
            <a:endParaRPr lang="en-US" sz="900" dirty="0"/>
          </a:p>
        </p:txBody>
      </p:sp>
      <p:sp>
        <p:nvSpPr>
          <p:cNvPr id="158" name="Text Placeholder 2">
            <a:extLst>
              <a:ext uri="{FF2B5EF4-FFF2-40B4-BE49-F238E27FC236}">
                <a16:creationId xmlns:a16="http://schemas.microsoft.com/office/drawing/2014/main" id="{267AD324-F48A-1E7F-43F4-801E161FCA98}"/>
              </a:ext>
            </a:extLst>
          </p:cNvPr>
          <p:cNvSpPr>
            <a:spLocks/>
          </p:cNvSpPr>
          <p:nvPr>
            <p:custDataLst>
              <p:tags r:id="rId53"/>
            </p:custDataLst>
          </p:nvPr>
        </p:nvSpPr>
        <p:spPr bwMode="auto">
          <a:xfrm>
            <a:off x="4179888" y="5680075"/>
            <a:ext cx="24955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E4094943-21F9-4F1C-BAA9-F395F0BE1EA6}" type="datetime'''Indirect Emi''s''sions from ''Pur''cha''se''d'' Electricity'">
              <a:rPr lang="en-US" altLang="en-US" sz="900" smtClean="0"/>
              <a:pPr/>
              <a:t>Indirect Emissions from Purchased Electricity</a:t>
            </a:fld>
            <a:r>
              <a:rPr lang="en-IN" sz="900" baseline="30000" dirty="0"/>
              <a:t> †</a:t>
            </a:r>
            <a:endParaRPr lang="en-US" sz="900" dirty="0"/>
          </a:p>
        </p:txBody>
      </p:sp>
      <p:sp>
        <p:nvSpPr>
          <p:cNvPr id="159" name="Text Placeholder 2">
            <a:extLst>
              <a:ext uri="{FF2B5EF4-FFF2-40B4-BE49-F238E27FC236}">
                <a16:creationId xmlns:a16="http://schemas.microsoft.com/office/drawing/2014/main" id="{8EFD884D-5E8F-0B2F-9106-AA59E2EFB44D}"/>
              </a:ext>
            </a:extLst>
          </p:cNvPr>
          <p:cNvSpPr>
            <a:spLocks/>
          </p:cNvSpPr>
          <p:nvPr>
            <p:custDataLst>
              <p:tags r:id="rId54"/>
            </p:custDataLst>
          </p:nvPr>
        </p:nvSpPr>
        <p:spPr bwMode="auto">
          <a:xfrm>
            <a:off x="4179888" y="5861050"/>
            <a:ext cx="21463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0000D1D2-B135-4CC4-BEB1-A9D497A94843}" type="datetime'''Indi''re''ct ''''Em''issions f''r''om'' ''Othe''r So''urces'">
              <a:rPr lang="en-US" altLang="en-US" sz="900" smtClean="0"/>
              <a:pPr/>
              <a:t>Indirect Emissions from Other Sources</a:t>
            </a:fld>
            <a:r>
              <a:rPr lang="en-IN" sz="900" dirty="0"/>
              <a:t> </a:t>
            </a:r>
            <a:r>
              <a:rPr lang="en-IN" sz="900" baseline="30000" dirty="0"/>
              <a:t>†</a:t>
            </a:r>
            <a:endParaRPr lang="en-US" sz="900" baseline="30000" dirty="0"/>
          </a:p>
        </p:txBody>
      </p:sp>
      <p:sp>
        <p:nvSpPr>
          <p:cNvPr id="310" name="Content Placeholder 2">
            <a:extLst>
              <a:ext uri="{FF2B5EF4-FFF2-40B4-BE49-F238E27FC236}">
                <a16:creationId xmlns:a16="http://schemas.microsoft.com/office/drawing/2014/main" id="{F9D99ECD-F0DD-7970-B48B-35D94E183B1A}"/>
              </a:ext>
            </a:extLst>
          </p:cNvPr>
          <p:cNvSpPr txBox="1">
            <a:spLocks/>
          </p:cNvSpPr>
          <p:nvPr/>
        </p:nvSpPr>
        <p:spPr>
          <a:xfrm>
            <a:off x="8447314" y="2208212"/>
            <a:ext cx="2992815" cy="3904994"/>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lvl="1" indent="-216000" eaLnBrk="0" fontAlgn="base" hangingPunct="0">
              <a:lnSpc>
                <a:spcPct val="100000"/>
              </a:lnSpc>
              <a:spcBef>
                <a:spcPct val="0"/>
              </a:spcBef>
              <a:spcAft>
                <a:spcPts val="600"/>
              </a:spcAft>
              <a:buFontTx/>
              <a:buChar char="•"/>
            </a:pPr>
            <a:r>
              <a:rPr lang="en-GB" sz="1400" dirty="0"/>
              <a:t>Amazon is not just growing; it is optimizing. Without the current AI-driven placement and routing systems, business expansion would have likely resulted in a much higher, non-linear surge in emissions</a:t>
            </a:r>
            <a:endParaRPr lang="en-GB" sz="1400" b="1" dirty="0"/>
          </a:p>
          <a:p>
            <a:pPr marL="540000" lvl="1" indent="-216000" eaLnBrk="0" fontAlgn="base" hangingPunct="0">
              <a:lnSpc>
                <a:spcPct val="100000"/>
              </a:lnSpc>
              <a:spcBef>
                <a:spcPct val="0"/>
              </a:spcBef>
              <a:spcAft>
                <a:spcPts val="600"/>
              </a:spcAft>
              <a:buFontTx/>
              <a:buChar char="•"/>
            </a:pPr>
            <a:r>
              <a:rPr lang="en-GB" sz="1400" dirty="0">
                <a:solidFill>
                  <a:schemeClr val="tx2"/>
                </a:solidFill>
              </a:rPr>
              <a:t>Carbon intensity has decreased by ~40% </a:t>
            </a:r>
            <a:r>
              <a:rPr lang="en-GB" sz="1400" dirty="0"/>
              <a:t>since committing to The Climate Pledge in 2019</a:t>
            </a:r>
          </a:p>
          <a:p>
            <a:pPr marL="540000" lvl="1" indent="-216000" eaLnBrk="0" fontAlgn="base" hangingPunct="0">
              <a:lnSpc>
                <a:spcPct val="100000"/>
              </a:lnSpc>
              <a:spcBef>
                <a:spcPct val="0"/>
              </a:spcBef>
              <a:spcAft>
                <a:spcPts val="600"/>
              </a:spcAft>
              <a:buFontTx/>
              <a:buChar char="•"/>
            </a:pPr>
            <a:r>
              <a:rPr lang="en-GB" sz="1400" dirty="0"/>
              <a:t>In 2024, compared to 2023, Amazon achieved an </a:t>
            </a:r>
            <a:r>
              <a:rPr lang="en-GB" sz="1400" dirty="0">
                <a:solidFill>
                  <a:schemeClr val="tx2"/>
                </a:solidFill>
              </a:rPr>
              <a:t>11% business growth</a:t>
            </a:r>
            <a:r>
              <a:rPr lang="en-GB" sz="1400" dirty="0"/>
              <a:t> while </a:t>
            </a:r>
            <a:r>
              <a:rPr lang="en-GB" sz="1400" dirty="0">
                <a:solidFill>
                  <a:schemeClr val="tx2"/>
                </a:solidFill>
              </a:rPr>
              <a:t>reducing carbon intensity </a:t>
            </a:r>
            <a:br>
              <a:rPr lang="en-GB" sz="1400" dirty="0">
                <a:solidFill>
                  <a:schemeClr val="tx2"/>
                </a:solidFill>
              </a:rPr>
            </a:br>
            <a:r>
              <a:rPr lang="en-GB" sz="1400" dirty="0">
                <a:solidFill>
                  <a:schemeClr val="tx2"/>
                </a:solidFill>
              </a:rPr>
              <a:t>by 4%</a:t>
            </a:r>
          </a:p>
        </p:txBody>
      </p:sp>
      <p:sp>
        <p:nvSpPr>
          <p:cNvPr id="311" name="Content Placeholder 2">
            <a:extLst>
              <a:ext uri="{FF2B5EF4-FFF2-40B4-BE49-F238E27FC236}">
                <a16:creationId xmlns:a16="http://schemas.microsoft.com/office/drawing/2014/main" id="{C24E5227-7D42-ADAA-BCB8-6C561B66BAFD}"/>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IN" sz="700" dirty="0"/>
              <a:t>*Million metric tons carbon dioxide equivalent</a:t>
            </a:r>
          </a:p>
          <a:p>
            <a:pPr marL="0" indent="0">
              <a:spcBef>
                <a:spcPts val="0"/>
              </a:spcBef>
              <a:buNone/>
            </a:pPr>
            <a:r>
              <a:rPr lang="en-IN" sz="700" dirty="0"/>
              <a:t>†</a:t>
            </a:r>
            <a:r>
              <a:rPr lang="en-GB" sz="700" dirty="0"/>
              <a:t> Scope 2 and 3 carbon emissions are calculated using a market-based method.</a:t>
            </a:r>
          </a:p>
          <a:p>
            <a:pPr marL="0" indent="0">
              <a:spcBef>
                <a:spcPts val="0"/>
              </a:spcBef>
              <a:buNone/>
            </a:pPr>
            <a:r>
              <a:rPr lang="en-IN" sz="700" dirty="0"/>
              <a:t>‡</a:t>
            </a:r>
            <a:r>
              <a:rPr lang="en-GB" sz="700" dirty="0"/>
              <a:t> Grams of carbon dioxide equivalent per dollar of gross merchandise sales.</a:t>
            </a:r>
          </a:p>
          <a:p>
            <a:pPr marL="0" indent="0">
              <a:spcBef>
                <a:spcPts val="0"/>
              </a:spcBef>
              <a:buNone/>
            </a:pPr>
            <a:r>
              <a:rPr lang="en-GB" sz="700" dirty="0"/>
              <a:t>§ Updated </a:t>
            </a:r>
            <a:r>
              <a:rPr lang="en-GB" sz="700" dirty="0">
                <a:hlinkClick r:id="rId61"/>
              </a:rPr>
              <a:t>Carbon Methodology </a:t>
            </a:r>
            <a:r>
              <a:rPr lang="en-GB" sz="700" dirty="0"/>
              <a:t>used for 2022, 2023, and 2024 carbon footprint</a:t>
            </a:r>
            <a:endParaRPr lang="en-IN" sz="700" dirty="0">
              <a:hlinkClick r:id="rId62"/>
            </a:endParaRPr>
          </a:p>
          <a:p>
            <a:pPr marL="0" indent="0">
              <a:spcBef>
                <a:spcPts val="0"/>
              </a:spcBef>
              <a:buNone/>
            </a:pPr>
            <a:r>
              <a:rPr lang="en-IN" sz="700" dirty="0">
                <a:hlinkClick r:id="rId62"/>
              </a:rPr>
              <a:t>2024 Amazon Sustainability Report</a:t>
            </a:r>
            <a:endParaRPr lang="en-US" sz="700" dirty="0"/>
          </a:p>
        </p:txBody>
      </p:sp>
      <p:cxnSp>
        <p:nvCxnSpPr>
          <p:cNvPr id="314" name="Straight Connector 313">
            <a:extLst>
              <a:ext uri="{FF2B5EF4-FFF2-40B4-BE49-F238E27FC236}">
                <a16:creationId xmlns:a16="http://schemas.microsoft.com/office/drawing/2014/main" id="{D031BD86-4855-5AC0-9207-92E15F785E5F}"/>
              </a:ext>
            </a:extLst>
          </p:cNvPr>
          <p:cNvCxnSpPr>
            <a:cxnSpLocks/>
          </p:cNvCxnSpPr>
          <p:nvPr/>
        </p:nvCxnSpPr>
        <p:spPr>
          <a:xfrm flipV="1">
            <a:off x="4384646" y="2106613"/>
            <a:ext cx="0" cy="3046412"/>
          </a:xfrm>
          <a:prstGeom prst="line">
            <a:avLst/>
          </a:prstGeom>
          <a:ln w="9525">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316" name="Straight Arrow Connector 315">
            <a:extLst>
              <a:ext uri="{FF2B5EF4-FFF2-40B4-BE49-F238E27FC236}">
                <a16:creationId xmlns:a16="http://schemas.microsoft.com/office/drawing/2014/main" id="{8783C842-E5DC-5778-CB1C-70983E511502}"/>
              </a:ext>
            </a:extLst>
          </p:cNvPr>
          <p:cNvCxnSpPr/>
          <p:nvPr/>
        </p:nvCxnSpPr>
        <p:spPr>
          <a:xfrm>
            <a:off x="838200" y="1968623"/>
            <a:ext cx="10515600"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119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16"/>
                                        </p:tgtEl>
                                        <p:attrNameLst>
                                          <p:attrName>style.visibility</p:attrName>
                                        </p:attrNameLst>
                                      </p:cBhvr>
                                      <p:to>
                                        <p:strVal val="visible"/>
                                      </p:to>
                                    </p:set>
                                    <p:animEffect transition="in" filter="wipe(left)">
                                      <p:cBhvr>
                                        <p:cTn id="11" dur="500"/>
                                        <p:tgtEl>
                                          <p:spTgt spid="3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9">
                                            <p:graphicEl>
                                              <a:chart seriesIdx="-3" categoryIdx="-3" bldStep="gridLegend"/>
                                            </p:graphicEl>
                                          </p:spTgt>
                                        </p:tgtEl>
                                        <p:attrNameLst>
                                          <p:attrName>style.visibility</p:attrName>
                                        </p:attrNameLst>
                                      </p:cBhvr>
                                      <p:to>
                                        <p:strVal val="visible"/>
                                      </p:to>
                                    </p:set>
                                    <p:animEffect transition="in" filter="wipe(left)">
                                      <p:cBhvr>
                                        <p:cTn id="15" dur="500"/>
                                        <p:tgtEl>
                                          <p:spTgt spid="319">
                                            <p:graphicEl>
                                              <a:chart seriesIdx="-3" categoryIdx="-3" bldStep="gridLegend"/>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19">
                                            <p:graphicEl>
                                              <a:chart seriesIdx="0" categoryIdx="-4" bldStep="series"/>
                                            </p:graphicEl>
                                          </p:spTgt>
                                        </p:tgtEl>
                                        <p:attrNameLst>
                                          <p:attrName>style.visibility</p:attrName>
                                        </p:attrNameLst>
                                      </p:cBhvr>
                                      <p:to>
                                        <p:strVal val="visible"/>
                                      </p:to>
                                    </p:set>
                                    <p:animEffect transition="in" filter="wipe(left)">
                                      <p:cBhvr>
                                        <p:cTn id="19" dur="500"/>
                                        <p:tgtEl>
                                          <p:spTgt spid="319">
                                            <p:graphicEl>
                                              <a:chart seriesIdx="0" categoryIdx="-4" bldStep="series"/>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19">
                                            <p:graphicEl>
                                              <a:chart seriesIdx="1" categoryIdx="-4" bldStep="series"/>
                                            </p:graphicEl>
                                          </p:spTgt>
                                        </p:tgtEl>
                                        <p:attrNameLst>
                                          <p:attrName>style.visibility</p:attrName>
                                        </p:attrNameLst>
                                      </p:cBhvr>
                                      <p:to>
                                        <p:strVal val="visible"/>
                                      </p:to>
                                    </p:set>
                                    <p:animEffect transition="in" filter="wipe(left)">
                                      <p:cBhvr>
                                        <p:cTn id="23" dur="500"/>
                                        <p:tgtEl>
                                          <p:spTgt spid="319">
                                            <p:graphicEl>
                                              <a:chart seriesIdx="1" categoryIdx="-4" bldStep="series"/>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19">
                                            <p:graphicEl>
                                              <a:chart seriesIdx="2" categoryIdx="-4" bldStep="series"/>
                                            </p:graphicEl>
                                          </p:spTgt>
                                        </p:tgtEl>
                                        <p:attrNameLst>
                                          <p:attrName>style.visibility</p:attrName>
                                        </p:attrNameLst>
                                      </p:cBhvr>
                                      <p:to>
                                        <p:strVal val="visible"/>
                                      </p:to>
                                    </p:set>
                                    <p:animEffect transition="in" filter="wipe(left)">
                                      <p:cBhvr>
                                        <p:cTn id="27" dur="500"/>
                                        <p:tgtEl>
                                          <p:spTgt spid="319">
                                            <p:graphicEl>
                                              <a:chart seriesIdx="2" categoryIdx="-4" bldStep="series"/>
                                            </p:graphic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19">
                                            <p:graphicEl>
                                              <a:chart seriesIdx="3" categoryIdx="-4" bldStep="series"/>
                                            </p:graphicEl>
                                          </p:spTgt>
                                        </p:tgtEl>
                                        <p:attrNameLst>
                                          <p:attrName>style.visibility</p:attrName>
                                        </p:attrNameLst>
                                      </p:cBhvr>
                                      <p:to>
                                        <p:strVal val="visible"/>
                                      </p:to>
                                    </p:set>
                                    <p:animEffect transition="in" filter="wipe(left)">
                                      <p:cBhvr>
                                        <p:cTn id="31" dur="500"/>
                                        <p:tgtEl>
                                          <p:spTgt spid="319">
                                            <p:graphicEl>
                                              <a:chart seriesIdx="3" categoryIdx="-4" bldStep="series"/>
                                            </p:graphic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19">
                                            <p:graphicEl>
                                              <a:chart seriesIdx="4" categoryIdx="-4" bldStep="series"/>
                                            </p:graphicEl>
                                          </p:spTgt>
                                        </p:tgtEl>
                                        <p:attrNameLst>
                                          <p:attrName>style.visibility</p:attrName>
                                        </p:attrNameLst>
                                      </p:cBhvr>
                                      <p:to>
                                        <p:strVal val="visible"/>
                                      </p:to>
                                    </p:set>
                                    <p:animEffect transition="in" filter="wipe(left)">
                                      <p:cBhvr>
                                        <p:cTn id="35" dur="500"/>
                                        <p:tgtEl>
                                          <p:spTgt spid="319">
                                            <p:graphicEl>
                                              <a:chart seriesIdx="4" categoryIdx="-4" bldStep="series"/>
                                            </p:graphic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fade">
                                      <p:cBhvr>
                                        <p:cTn id="39" dur="500"/>
                                        <p:tgtEl>
                                          <p:spTgt spid="1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9"/>
                                        </p:tgtEl>
                                        <p:attrNameLst>
                                          <p:attrName>style.visibility</p:attrName>
                                        </p:attrNameLst>
                                      </p:cBhvr>
                                      <p:to>
                                        <p:strVal val="visible"/>
                                      </p:to>
                                    </p:set>
                                    <p:animEffect transition="in" filter="fade">
                                      <p:cBhvr>
                                        <p:cTn id="42" dur="500"/>
                                        <p:tgtEl>
                                          <p:spTgt spid="1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3"/>
                                        </p:tgtEl>
                                        <p:attrNameLst>
                                          <p:attrName>style.visibility</p:attrName>
                                        </p:attrNameLst>
                                      </p:cBhvr>
                                      <p:to>
                                        <p:strVal val="visible"/>
                                      </p:to>
                                    </p:set>
                                    <p:animEffect transition="in" filter="fade">
                                      <p:cBhvr>
                                        <p:cTn id="45" dur="500"/>
                                        <p:tgtEl>
                                          <p:spTgt spid="1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7"/>
                                        </p:tgtEl>
                                        <p:attrNameLst>
                                          <p:attrName>style.visibility</p:attrName>
                                        </p:attrNameLst>
                                      </p:cBhvr>
                                      <p:to>
                                        <p:strVal val="visible"/>
                                      </p:to>
                                    </p:set>
                                    <p:animEffect transition="in" filter="fade">
                                      <p:cBhvr>
                                        <p:cTn id="48" dur="500"/>
                                        <p:tgtEl>
                                          <p:spTgt spid="1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1"/>
                                        </p:tgtEl>
                                        <p:attrNameLst>
                                          <p:attrName>style.visibility</p:attrName>
                                        </p:attrNameLst>
                                      </p:cBhvr>
                                      <p:to>
                                        <p:strVal val="visible"/>
                                      </p:to>
                                    </p:set>
                                    <p:animEffect transition="in" filter="fade">
                                      <p:cBhvr>
                                        <p:cTn id="51" dur="500"/>
                                        <p:tgtEl>
                                          <p:spTgt spid="14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5"/>
                                        </p:tgtEl>
                                        <p:attrNameLst>
                                          <p:attrName>style.visibility</p:attrName>
                                        </p:attrNameLst>
                                      </p:cBhvr>
                                      <p:to>
                                        <p:strVal val="visible"/>
                                      </p:to>
                                    </p:set>
                                    <p:animEffect transition="in" filter="fade">
                                      <p:cBhvr>
                                        <p:cTn id="54" dur="500"/>
                                        <p:tgtEl>
                                          <p:spTgt spid="145"/>
                                        </p:tgtEl>
                                      </p:cBhvr>
                                    </p:animEffect>
                                  </p:childTnLst>
                                </p:cTn>
                              </p:par>
                            </p:childTnLst>
                          </p:cTn>
                        </p:par>
                        <p:par>
                          <p:cTn id="55" fill="hold">
                            <p:stCondLst>
                              <p:cond delay="4500"/>
                            </p:stCondLst>
                            <p:childTnLst>
                              <p:par>
                                <p:cTn id="56" presetID="10" presetClass="entr" presetSubtype="0" fill="hold" grpId="0" nodeType="afterEffect">
                                  <p:stCondLst>
                                    <p:cond delay="0"/>
                                  </p:stCondLst>
                                  <p:childTnLst>
                                    <p:set>
                                      <p:cBhvr>
                                        <p:cTn id="57" dur="1" fill="hold">
                                          <p:stCondLst>
                                            <p:cond delay="0"/>
                                          </p:stCondLst>
                                        </p:cTn>
                                        <p:tgtEl>
                                          <p:spTgt spid="207"/>
                                        </p:tgtEl>
                                        <p:attrNameLst>
                                          <p:attrName>style.visibility</p:attrName>
                                        </p:attrNameLst>
                                      </p:cBhvr>
                                      <p:to>
                                        <p:strVal val="visible"/>
                                      </p:to>
                                    </p:set>
                                    <p:animEffect transition="in" filter="fade">
                                      <p:cBhvr>
                                        <p:cTn id="58" dur="250"/>
                                        <p:tgtEl>
                                          <p:spTgt spid="20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2"/>
                                        </p:tgtEl>
                                        <p:attrNameLst>
                                          <p:attrName>style.visibility</p:attrName>
                                        </p:attrNameLst>
                                      </p:cBhvr>
                                      <p:to>
                                        <p:strVal val="visible"/>
                                      </p:to>
                                    </p:set>
                                    <p:animEffect transition="in" filter="fade">
                                      <p:cBhvr>
                                        <p:cTn id="61" dur="250"/>
                                        <p:tgtEl>
                                          <p:spTgt spid="1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23"/>
                                        </p:tgtEl>
                                        <p:attrNameLst>
                                          <p:attrName>style.visibility</p:attrName>
                                        </p:attrNameLst>
                                      </p:cBhvr>
                                      <p:to>
                                        <p:strVal val="visible"/>
                                      </p:to>
                                    </p:set>
                                    <p:animEffect transition="in" filter="fade">
                                      <p:cBhvr>
                                        <p:cTn id="64" dur="250"/>
                                        <p:tgtEl>
                                          <p:spTgt spid="1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6"/>
                                        </p:tgtEl>
                                        <p:attrNameLst>
                                          <p:attrName>style.visibility</p:attrName>
                                        </p:attrNameLst>
                                      </p:cBhvr>
                                      <p:to>
                                        <p:strVal val="visible"/>
                                      </p:to>
                                    </p:set>
                                    <p:animEffect transition="in" filter="fade">
                                      <p:cBhvr>
                                        <p:cTn id="67" dur="250"/>
                                        <p:tgtEl>
                                          <p:spTgt spid="14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24"/>
                                        </p:tgtEl>
                                        <p:attrNameLst>
                                          <p:attrName>style.visibility</p:attrName>
                                        </p:attrNameLst>
                                      </p:cBhvr>
                                      <p:to>
                                        <p:strVal val="visible"/>
                                      </p:to>
                                    </p:set>
                                    <p:animEffect transition="in" filter="fade">
                                      <p:cBhvr>
                                        <p:cTn id="70" dur="250"/>
                                        <p:tgtEl>
                                          <p:spTgt spid="1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0"/>
                                        </p:tgtEl>
                                        <p:attrNameLst>
                                          <p:attrName>style.visibility</p:attrName>
                                        </p:attrNameLst>
                                      </p:cBhvr>
                                      <p:to>
                                        <p:strVal val="visible"/>
                                      </p:to>
                                    </p:set>
                                    <p:animEffect transition="in" filter="fade">
                                      <p:cBhvr>
                                        <p:cTn id="73" dur="250"/>
                                        <p:tgtEl>
                                          <p:spTgt spid="30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8"/>
                                        </p:tgtEl>
                                        <p:attrNameLst>
                                          <p:attrName>style.visibility</p:attrName>
                                        </p:attrNameLst>
                                      </p:cBhvr>
                                      <p:to>
                                        <p:strVal val="visible"/>
                                      </p:to>
                                    </p:set>
                                    <p:animEffect transition="in" filter="fade">
                                      <p:cBhvr>
                                        <p:cTn id="76" dur="250"/>
                                        <p:tgtEl>
                                          <p:spTgt spid="1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27"/>
                                        </p:tgtEl>
                                        <p:attrNameLst>
                                          <p:attrName>style.visibility</p:attrName>
                                        </p:attrNameLst>
                                      </p:cBhvr>
                                      <p:to>
                                        <p:strVal val="visible"/>
                                      </p:to>
                                    </p:set>
                                    <p:animEffect transition="in" filter="fade">
                                      <p:cBhvr>
                                        <p:cTn id="79" dur="250"/>
                                        <p:tgtEl>
                                          <p:spTgt spid="1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26"/>
                                        </p:tgtEl>
                                        <p:attrNameLst>
                                          <p:attrName>style.visibility</p:attrName>
                                        </p:attrNameLst>
                                      </p:cBhvr>
                                      <p:to>
                                        <p:strVal val="visible"/>
                                      </p:to>
                                    </p:set>
                                    <p:animEffect transition="in" filter="fade">
                                      <p:cBhvr>
                                        <p:cTn id="82" dur="250"/>
                                        <p:tgtEl>
                                          <p:spTgt spid="1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47"/>
                                        </p:tgtEl>
                                        <p:attrNameLst>
                                          <p:attrName>style.visibility</p:attrName>
                                        </p:attrNameLst>
                                      </p:cBhvr>
                                      <p:to>
                                        <p:strVal val="visible"/>
                                      </p:to>
                                    </p:set>
                                    <p:animEffect transition="in" filter="fade">
                                      <p:cBhvr>
                                        <p:cTn id="85" dur="250"/>
                                        <p:tgtEl>
                                          <p:spTgt spid="1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32"/>
                                        </p:tgtEl>
                                        <p:attrNameLst>
                                          <p:attrName>style.visibility</p:attrName>
                                        </p:attrNameLst>
                                      </p:cBhvr>
                                      <p:to>
                                        <p:strVal val="visible"/>
                                      </p:to>
                                    </p:set>
                                    <p:animEffect transition="in" filter="fade">
                                      <p:cBhvr>
                                        <p:cTn id="88" dur="250"/>
                                        <p:tgtEl>
                                          <p:spTgt spid="1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31"/>
                                        </p:tgtEl>
                                        <p:attrNameLst>
                                          <p:attrName>style.visibility</p:attrName>
                                        </p:attrNameLst>
                                      </p:cBhvr>
                                      <p:to>
                                        <p:strVal val="visible"/>
                                      </p:to>
                                    </p:set>
                                    <p:animEffect transition="in" filter="fade">
                                      <p:cBhvr>
                                        <p:cTn id="91" dur="250"/>
                                        <p:tgtEl>
                                          <p:spTgt spid="1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30"/>
                                        </p:tgtEl>
                                        <p:attrNameLst>
                                          <p:attrName>style.visibility</p:attrName>
                                        </p:attrNameLst>
                                      </p:cBhvr>
                                      <p:to>
                                        <p:strVal val="visible"/>
                                      </p:to>
                                    </p:set>
                                    <p:animEffect transition="in" filter="fade">
                                      <p:cBhvr>
                                        <p:cTn id="94" dur="250"/>
                                        <p:tgtEl>
                                          <p:spTgt spid="13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48"/>
                                        </p:tgtEl>
                                        <p:attrNameLst>
                                          <p:attrName>style.visibility</p:attrName>
                                        </p:attrNameLst>
                                      </p:cBhvr>
                                      <p:to>
                                        <p:strVal val="visible"/>
                                      </p:to>
                                    </p:set>
                                    <p:animEffect transition="in" filter="fade">
                                      <p:cBhvr>
                                        <p:cTn id="97" dur="250"/>
                                        <p:tgtEl>
                                          <p:spTgt spid="14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36"/>
                                        </p:tgtEl>
                                        <p:attrNameLst>
                                          <p:attrName>style.visibility</p:attrName>
                                        </p:attrNameLst>
                                      </p:cBhvr>
                                      <p:to>
                                        <p:strVal val="visible"/>
                                      </p:to>
                                    </p:set>
                                    <p:animEffect transition="in" filter="fade">
                                      <p:cBhvr>
                                        <p:cTn id="100" dur="250"/>
                                        <p:tgtEl>
                                          <p:spTgt spid="1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40"/>
                                        </p:tgtEl>
                                        <p:attrNameLst>
                                          <p:attrName>style.visibility</p:attrName>
                                        </p:attrNameLst>
                                      </p:cBhvr>
                                      <p:to>
                                        <p:strVal val="visible"/>
                                      </p:to>
                                    </p:set>
                                    <p:animEffect transition="in" filter="fade">
                                      <p:cBhvr>
                                        <p:cTn id="103" dur="250"/>
                                        <p:tgtEl>
                                          <p:spTgt spid="14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35"/>
                                        </p:tgtEl>
                                        <p:attrNameLst>
                                          <p:attrName>style.visibility</p:attrName>
                                        </p:attrNameLst>
                                      </p:cBhvr>
                                      <p:to>
                                        <p:strVal val="visible"/>
                                      </p:to>
                                    </p:set>
                                    <p:animEffect transition="in" filter="fade">
                                      <p:cBhvr>
                                        <p:cTn id="106" dur="250"/>
                                        <p:tgtEl>
                                          <p:spTgt spid="1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34"/>
                                        </p:tgtEl>
                                        <p:attrNameLst>
                                          <p:attrName>style.visibility</p:attrName>
                                        </p:attrNameLst>
                                      </p:cBhvr>
                                      <p:to>
                                        <p:strVal val="visible"/>
                                      </p:to>
                                    </p:set>
                                    <p:animEffect transition="in" filter="fade">
                                      <p:cBhvr>
                                        <p:cTn id="109" dur="250"/>
                                        <p:tgtEl>
                                          <p:spTgt spid="13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49"/>
                                        </p:tgtEl>
                                        <p:attrNameLst>
                                          <p:attrName>style.visibility</p:attrName>
                                        </p:attrNameLst>
                                      </p:cBhvr>
                                      <p:to>
                                        <p:strVal val="visible"/>
                                      </p:to>
                                    </p:set>
                                    <p:animEffect transition="in" filter="fade">
                                      <p:cBhvr>
                                        <p:cTn id="112" dur="250"/>
                                        <p:tgtEl>
                                          <p:spTgt spid="1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42"/>
                                        </p:tgtEl>
                                        <p:attrNameLst>
                                          <p:attrName>style.visibility</p:attrName>
                                        </p:attrNameLst>
                                      </p:cBhvr>
                                      <p:to>
                                        <p:strVal val="visible"/>
                                      </p:to>
                                    </p:set>
                                    <p:animEffect transition="in" filter="fade">
                                      <p:cBhvr>
                                        <p:cTn id="115" dur="250"/>
                                        <p:tgtEl>
                                          <p:spTgt spid="1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43"/>
                                        </p:tgtEl>
                                        <p:attrNameLst>
                                          <p:attrName>style.visibility</p:attrName>
                                        </p:attrNameLst>
                                      </p:cBhvr>
                                      <p:to>
                                        <p:strVal val="visible"/>
                                      </p:to>
                                    </p:set>
                                    <p:animEffect transition="in" filter="fade">
                                      <p:cBhvr>
                                        <p:cTn id="118" dur="250"/>
                                        <p:tgtEl>
                                          <p:spTgt spid="1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44"/>
                                        </p:tgtEl>
                                        <p:attrNameLst>
                                          <p:attrName>style.visibility</p:attrName>
                                        </p:attrNameLst>
                                      </p:cBhvr>
                                      <p:to>
                                        <p:strVal val="visible"/>
                                      </p:to>
                                    </p:set>
                                    <p:animEffect transition="in" filter="fade">
                                      <p:cBhvr>
                                        <p:cTn id="121" dur="250"/>
                                        <p:tgtEl>
                                          <p:spTgt spid="1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51"/>
                                        </p:tgtEl>
                                        <p:attrNameLst>
                                          <p:attrName>style.visibility</p:attrName>
                                        </p:attrNameLst>
                                      </p:cBhvr>
                                      <p:to>
                                        <p:strVal val="visible"/>
                                      </p:to>
                                    </p:set>
                                    <p:animEffect transition="in" filter="fade">
                                      <p:cBhvr>
                                        <p:cTn id="124" dur="250"/>
                                        <p:tgtEl>
                                          <p:spTgt spid="15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39"/>
                                        </p:tgtEl>
                                        <p:attrNameLst>
                                          <p:attrName>style.visibility</p:attrName>
                                        </p:attrNameLst>
                                      </p:cBhvr>
                                      <p:to>
                                        <p:strVal val="visible"/>
                                      </p:to>
                                    </p:set>
                                    <p:animEffect transition="in" filter="fade">
                                      <p:cBhvr>
                                        <p:cTn id="127" dur="250"/>
                                        <p:tgtEl>
                                          <p:spTgt spid="13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38"/>
                                        </p:tgtEl>
                                        <p:attrNameLst>
                                          <p:attrName>style.visibility</p:attrName>
                                        </p:attrNameLst>
                                      </p:cBhvr>
                                      <p:to>
                                        <p:strVal val="visible"/>
                                      </p:to>
                                    </p:set>
                                    <p:animEffect transition="in" filter="fade">
                                      <p:cBhvr>
                                        <p:cTn id="130" dur="250"/>
                                        <p:tgtEl>
                                          <p:spTgt spid="13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50"/>
                                        </p:tgtEl>
                                        <p:attrNameLst>
                                          <p:attrName>style.visibility</p:attrName>
                                        </p:attrNameLst>
                                      </p:cBhvr>
                                      <p:to>
                                        <p:strVal val="visible"/>
                                      </p:to>
                                    </p:set>
                                    <p:animEffect transition="in" filter="fade">
                                      <p:cBhvr>
                                        <p:cTn id="133" dur="250"/>
                                        <p:tgtEl>
                                          <p:spTgt spid="150"/>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54"/>
                                        </p:tgtEl>
                                        <p:attrNameLst>
                                          <p:attrName>style.visibility</p:attrName>
                                        </p:attrNameLst>
                                      </p:cBhvr>
                                      <p:to>
                                        <p:strVal val="visible"/>
                                      </p:to>
                                    </p:set>
                                    <p:animEffect transition="in" filter="fade">
                                      <p:cBhvr>
                                        <p:cTn id="136" dur="500"/>
                                        <p:tgtEl>
                                          <p:spTgt spid="154"/>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58"/>
                                        </p:tgtEl>
                                        <p:attrNameLst>
                                          <p:attrName>style.visibility</p:attrName>
                                        </p:attrNameLst>
                                      </p:cBhvr>
                                      <p:to>
                                        <p:strVal val="visible"/>
                                      </p:to>
                                    </p:set>
                                    <p:animEffect transition="in" filter="fade">
                                      <p:cBhvr>
                                        <p:cTn id="139" dur="500"/>
                                        <p:tgtEl>
                                          <p:spTgt spid="15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55"/>
                                        </p:tgtEl>
                                        <p:attrNameLst>
                                          <p:attrName>style.visibility</p:attrName>
                                        </p:attrNameLst>
                                      </p:cBhvr>
                                      <p:to>
                                        <p:strVal val="visible"/>
                                      </p:to>
                                    </p:set>
                                    <p:animEffect transition="in" filter="fade">
                                      <p:cBhvr>
                                        <p:cTn id="142" dur="500"/>
                                        <p:tgtEl>
                                          <p:spTgt spid="155"/>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159"/>
                                        </p:tgtEl>
                                        <p:attrNameLst>
                                          <p:attrName>style.visibility</p:attrName>
                                        </p:attrNameLst>
                                      </p:cBhvr>
                                      <p:to>
                                        <p:strVal val="visible"/>
                                      </p:to>
                                    </p:set>
                                    <p:animEffect transition="in" filter="fade">
                                      <p:cBhvr>
                                        <p:cTn id="145" dur="500"/>
                                        <p:tgtEl>
                                          <p:spTgt spid="15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53"/>
                                        </p:tgtEl>
                                        <p:attrNameLst>
                                          <p:attrName>style.visibility</p:attrName>
                                        </p:attrNameLst>
                                      </p:cBhvr>
                                      <p:to>
                                        <p:strVal val="visible"/>
                                      </p:to>
                                    </p:set>
                                    <p:animEffect transition="in" filter="fade">
                                      <p:cBhvr>
                                        <p:cTn id="148" dur="500"/>
                                        <p:tgtEl>
                                          <p:spTgt spid="1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57"/>
                                        </p:tgtEl>
                                        <p:attrNameLst>
                                          <p:attrName>style.visibility</p:attrName>
                                        </p:attrNameLst>
                                      </p:cBhvr>
                                      <p:to>
                                        <p:strVal val="visible"/>
                                      </p:to>
                                    </p:set>
                                    <p:animEffect transition="in" filter="fade">
                                      <p:cBhvr>
                                        <p:cTn id="151" dur="500"/>
                                        <p:tgtEl>
                                          <p:spTgt spid="157"/>
                                        </p:tgtEl>
                                      </p:cBhvr>
                                    </p:animEffect>
                                  </p:childTnLst>
                                </p:cTn>
                              </p:par>
                            </p:childTnLst>
                          </p:cTn>
                        </p:par>
                        <p:par>
                          <p:cTn id="152" fill="hold">
                            <p:stCondLst>
                              <p:cond delay="5000"/>
                            </p:stCondLst>
                            <p:childTnLst>
                              <p:par>
                                <p:cTn id="153" presetID="22" presetClass="entr" presetSubtype="8" fill="hold" grpId="0" nodeType="afterEffect">
                                  <p:stCondLst>
                                    <p:cond delay="0"/>
                                  </p:stCondLst>
                                  <p:childTnLst>
                                    <p:set>
                                      <p:cBhvr>
                                        <p:cTn id="154" dur="1" fill="hold">
                                          <p:stCondLst>
                                            <p:cond delay="0"/>
                                          </p:stCondLst>
                                        </p:cTn>
                                        <p:tgtEl>
                                          <p:spTgt spid="338">
                                            <p:graphicEl>
                                              <a:chart seriesIdx="0" categoryIdx="-4" bldStep="series"/>
                                            </p:graphicEl>
                                          </p:spTgt>
                                        </p:tgtEl>
                                        <p:attrNameLst>
                                          <p:attrName>style.visibility</p:attrName>
                                        </p:attrNameLst>
                                      </p:cBhvr>
                                      <p:to>
                                        <p:strVal val="visible"/>
                                      </p:to>
                                    </p:set>
                                    <p:animEffect transition="in" filter="wipe(left)">
                                      <p:cBhvr>
                                        <p:cTn id="155" dur="500"/>
                                        <p:tgtEl>
                                          <p:spTgt spid="338">
                                            <p:graphicEl>
                                              <a:chart seriesIdx="0" categoryIdx="-4" bldStep="series"/>
                                            </p:graphicEl>
                                          </p:spTgt>
                                        </p:tgtEl>
                                      </p:cBhvr>
                                    </p:animEffect>
                                  </p:childTnLst>
                                </p:cTn>
                              </p:par>
                            </p:childTnLst>
                          </p:cTn>
                        </p:par>
                        <p:par>
                          <p:cTn id="156" fill="hold">
                            <p:stCondLst>
                              <p:cond delay="5500"/>
                            </p:stCondLst>
                            <p:childTnLst>
                              <p:par>
                                <p:cTn id="157" presetID="22" presetClass="entr" presetSubtype="8" fill="hold" grpId="0" nodeType="afterEffect">
                                  <p:stCondLst>
                                    <p:cond delay="0"/>
                                  </p:stCondLst>
                                  <p:childTnLst>
                                    <p:set>
                                      <p:cBhvr>
                                        <p:cTn id="158" dur="1" fill="hold">
                                          <p:stCondLst>
                                            <p:cond delay="0"/>
                                          </p:stCondLst>
                                        </p:cTn>
                                        <p:tgtEl>
                                          <p:spTgt spid="338">
                                            <p:graphicEl>
                                              <a:chart seriesIdx="1" categoryIdx="-4" bldStep="series"/>
                                            </p:graphicEl>
                                          </p:spTgt>
                                        </p:tgtEl>
                                        <p:attrNameLst>
                                          <p:attrName>style.visibility</p:attrName>
                                        </p:attrNameLst>
                                      </p:cBhvr>
                                      <p:to>
                                        <p:strVal val="visible"/>
                                      </p:to>
                                    </p:set>
                                    <p:animEffect transition="in" filter="wipe(left)">
                                      <p:cBhvr>
                                        <p:cTn id="159" dur="500"/>
                                        <p:tgtEl>
                                          <p:spTgt spid="338">
                                            <p:graphicEl>
                                              <a:chart seriesIdx="1" categoryIdx="-4" bldStep="series"/>
                                            </p:graphicEl>
                                          </p:spTgt>
                                        </p:tgtEl>
                                      </p:cBhvr>
                                    </p:animEffect>
                                  </p:childTnLst>
                                </p:cTn>
                              </p:par>
                              <p:par>
                                <p:cTn id="160" presetID="10" presetClass="entr" presetSubtype="0" fill="hold" nodeType="withEffect">
                                  <p:stCondLst>
                                    <p:cond delay="0"/>
                                  </p:stCondLst>
                                  <p:childTnLst>
                                    <p:set>
                                      <p:cBhvr>
                                        <p:cTn id="161" dur="1" fill="hold">
                                          <p:stCondLst>
                                            <p:cond delay="0"/>
                                          </p:stCondLst>
                                        </p:cTn>
                                        <p:tgtEl>
                                          <p:spTgt spid="152"/>
                                        </p:tgtEl>
                                        <p:attrNameLst>
                                          <p:attrName>style.visibility</p:attrName>
                                        </p:attrNameLst>
                                      </p:cBhvr>
                                      <p:to>
                                        <p:strVal val="visible"/>
                                      </p:to>
                                    </p:set>
                                    <p:animEffect transition="in" filter="fade">
                                      <p:cBhvr>
                                        <p:cTn id="162" dur="500"/>
                                        <p:tgtEl>
                                          <p:spTgt spid="152"/>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156"/>
                                        </p:tgtEl>
                                        <p:attrNameLst>
                                          <p:attrName>style.visibility</p:attrName>
                                        </p:attrNameLst>
                                      </p:cBhvr>
                                      <p:to>
                                        <p:strVal val="visible"/>
                                      </p:to>
                                    </p:set>
                                    <p:animEffect transition="in" filter="fade">
                                      <p:cBhvr>
                                        <p:cTn id="165" dur="500"/>
                                        <p:tgtEl>
                                          <p:spTgt spid="156"/>
                                        </p:tgtEl>
                                      </p:cBhvr>
                                    </p:animEffect>
                                  </p:childTnLst>
                                </p:cTn>
                              </p:par>
                            </p:childTnLst>
                          </p:cTn>
                        </p:par>
                        <p:par>
                          <p:cTn id="166" fill="hold">
                            <p:stCondLst>
                              <p:cond delay="6000"/>
                            </p:stCondLst>
                            <p:childTnLst>
                              <p:par>
                                <p:cTn id="167" presetID="10" presetClass="entr" presetSubtype="0" fill="hold" grpId="0" nodeType="afterEffect">
                                  <p:stCondLst>
                                    <p:cond delay="0"/>
                                  </p:stCondLst>
                                  <p:childTnLst>
                                    <p:set>
                                      <p:cBhvr>
                                        <p:cTn id="168" dur="1" fill="hold">
                                          <p:stCondLst>
                                            <p:cond delay="0"/>
                                          </p:stCondLst>
                                        </p:cTn>
                                        <p:tgtEl>
                                          <p:spTgt spid="231"/>
                                        </p:tgtEl>
                                        <p:attrNameLst>
                                          <p:attrName>style.visibility</p:attrName>
                                        </p:attrNameLst>
                                      </p:cBhvr>
                                      <p:to>
                                        <p:strVal val="visible"/>
                                      </p:to>
                                    </p:set>
                                    <p:animEffect transition="in" filter="fade">
                                      <p:cBhvr>
                                        <p:cTn id="169" dur="250"/>
                                        <p:tgtEl>
                                          <p:spTgt spid="231"/>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229"/>
                                        </p:tgtEl>
                                        <p:attrNameLst>
                                          <p:attrName>style.visibility</p:attrName>
                                        </p:attrNameLst>
                                      </p:cBhvr>
                                      <p:to>
                                        <p:strVal val="visible"/>
                                      </p:to>
                                    </p:set>
                                    <p:animEffect transition="in" filter="fade">
                                      <p:cBhvr>
                                        <p:cTn id="172" dur="250"/>
                                        <p:tgtEl>
                                          <p:spTgt spid="22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230"/>
                                        </p:tgtEl>
                                        <p:attrNameLst>
                                          <p:attrName>style.visibility</p:attrName>
                                        </p:attrNameLst>
                                      </p:cBhvr>
                                      <p:to>
                                        <p:strVal val="visible"/>
                                      </p:to>
                                    </p:set>
                                    <p:animEffect transition="in" filter="fade">
                                      <p:cBhvr>
                                        <p:cTn id="175" dur="250"/>
                                        <p:tgtEl>
                                          <p:spTgt spid="23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232"/>
                                        </p:tgtEl>
                                        <p:attrNameLst>
                                          <p:attrName>style.visibility</p:attrName>
                                        </p:attrNameLst>
                                      </p:cBhvr>
                                      <p:to>
                                        <p:strVal val="visible"/>
                                      </p:to>
                                    </p:set>
                                    <p:animEffect transition="in" filter="fade">
                                      <p:cBhvr>
                                        <p:cTn id="178" dur="250"/>
                                        <p:tgtEl>
                                          <p:spTgt spid="232"/>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234"/>
                                        </p:tgtEl>
                                        <p:attrNameLst>
                                          <p:attrName>style.visibility</p:attrName>
                                        </p:attrNameLst>
                                      </p:cBhvr>
                                      <p:to>
                                        <p:strVal val="visible"/>
                                      </p:to>
                                    </p:set>
                                    <p:animEffect transition="in" filter="fade">
                                      <p:cBhvr>
                                        <p:cTn id="181" dur="250"/>
                                        <p:tgtEl>
                                          <p:spTgt spid="234"/>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233">
                                            <p:bg/>
                                          </p:spTgt>
                                        </p:tgtEl>
                                        <p:attrNameLst>
                                          <p:attrName>style.visibility</p:attrName>
                                        </p:attrNameLst>
                                      </p:cBhvr>
                                      <p:to>
                                        <p:strVal val="visible"/>
                                      </p:to>
                                    </p:set>
                                    <p:animEffect transition="in" filter="fade">
                                      <p:cBhvr>
                                        <p:cTn id="184" dur="250"/>
                                        <p:tgtEl>
                                          <p:spTgt spid="233">
                                            <p:bg/>
                                          </p:spTgt>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233">
                                            <p:txEl>
                                              <p:pRg st="0" end="0"/>
                                            </p:txEl>
                                          </p:spTgt>
                                        </p:tgtEl>
                                        <p:attrNameLst>
                                          <p:attrName>style.visibility</p:attrName>
                                        </p:attrNameLst>
                                      </p:cBhvr>
                                      <p:to>
                                        <p:strVal val="visible"/>
                                      </p:to>
                                    </p:set>
                                    <p:animEffect transition="in" filter="fade">
                                      <p:cBhvr>
                                        <p:cTn id="187" dur="250"/>
                                        <p:tgtEl>
                                          <p:spTgt spid="233">
                                            <p:txEl>
                                              <p:pRg st="0" end="0"/>
                                            </p:txEl>
                                          </p:spTgt>
                                        </p:tgtEl>
                                      </p:cBhvr>
                                    </p:animEffect>
                                  </p:childTnLst>
                                </p:cTn>
                              </p:par>
                            </p:childTnLst>
                          </p:cTn>
                        </p:par>
                        <p:par>
                          <p:cTn id="188" fill="hold">
                            <p:stCondLst>
                              <p:cond delay="6250"/>
                            </p:stCondLst>
                            <p:childTnLst>
                              <p:par>
                                <p:cTn id="189" presetID="22" presetClass="entr" presetSubtype="1" fill="hold" nodeType="afterEffect">
                                  <p:stCondLst>
                                    <p:cond delay="0"/>
                                  </p:stCondLst>
                                  <p:childTnLst>
                                    <p:set>
                                      <p:cBhvr>
                                        <p:cTn id="190" dur="1" fill="hold">
                                          <p:stCondLst>
                                            <p:cond delay="0"/>
                                          </p:stCondLst>
                                        </p:cTn>
                                        <p:tgtEl>
                                          <p:spTgt spid="314"/>
                                        </p:tgtEl>
                                        <p:attrNameLst>
                                          <p:attrName>style.visibility</p:attrName>
                                        </p:attrNameLst>
                                      </p:cBhvr>
                                      <p:to>
                                        <p:strVal val="visible"/>
                                      </p:to>
                                    </p:set>
                                    <p:animEffect transition="in" filter="wipe(up)">
                                      <p:cBhvr>
                                        <p:cTn id="191" dur="500"/>
                                        <p:tgtEl>
                                          <p:spTgt spid="314"/>
                                        </p:tgtEl>
                                      </p:cBhvr>
                                    </p:animEffect>
                                  </p:childTnLst>
                                </p:cTn>
                              </p:par>
                            </p:childTnLst>
                          </p:cTn>
                        </p:par>
                        <p:par>
                          <p:cTn id="192" fill="hold">
                            <p:stCondLst>
                              <p:cond delay="6750"/>
                            </p:stCondLst>
                            <p:childTnLst>
                              <p:par>
                                <p:cTn id="193" presetID="10" presetClass="entr" presetSubtype="0" fill="hold" grpId="0" nodeType="afterEffect">
                                  <p:stCondLst>
                                    <p:cond delay="0"/>
                                  </p:stCondLst>
                                  <p:childTnLst>
                                    <p:set>
                                      <p:cBhvr>
                                        <p:cTn id="194" dur="1" fill="hold">
                                          <p:stCondLst>
                                            <p:cond delay="0"/>
                                          </p:stCondLst>
                                        </p:cTn>
                                        <p:tgtEl>
                                          <p:spTgt spid="310"/>
                                        </p:tgtEl>
                                        <p:attrNameLst>
                                          <p:attrName>style.visibility</p:attrName>
                                        </p:attrNameLst>
                                      </p:cBhvr>
                                      <p:to>
                                        <p:strVal val="visible"/>
                                      </p:to>
                                    </p:set>
                                    <p:animEffect transition="in" filter="fade">
                                      <p:cBhvr>
                                        <p:cTn id="195"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19" grpId="0">
        <p:bldSub>
          <a:bldChart bld="series"/>
        </p:bldSub>
      </p:bldGraphic>
      <p:bldP spid="207"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7" grpId="0"/>
      <p:bldP spid="138" grpId="0"/>
      <p:bldP spid="139" grpId="0"/>
      <p:bldP spid="140" grpId="0"/>
      <p:bldP spid="141" grpId="0"/>
      <p:bldP spid="142" grpId="0"/>
      <p:bldP spid="143" grpId="0"/>
      <p:bldP spid="144" grpId="0"/>
      <p:bldP spid="145" grpId="0"/>
      <p:bldP spid="146" grpId="0"/>
      <p:bldP spid="147" grpId="0"/>
      <p:bldP spid="148" grpId="0"/>
      <p:bldP spid="149" grpId="0"/>
      <p:bldP spid="150" grpId="0"/>
      <p:bldP spid="151" grpId="0"/>
      <p:bldP spid="136" grpId="0"/>
      <p:bldGraphic spid="338" grpId="0">
        <p:bldSub>
          <a:bldChart bld="series"/>
        </p:bldSub>
      </p:bldGraphic>
      <p:bldP spid="300" grpId="0"/>
      <p:bldP spid="231" grpId="0" animBg="1"/>
      <p:bldP spid="229" grpId="0" animBg="1"/>
      <p:bldP spid="230" grpId="0" animBg="1"/>
      <p:bldP spid="232" grpId="0" animBg="1"/>
      <p:bldP spid="233" grpId="0" build="allAtOnce" animBg="1"/>
      <p:bldP spid="234" grpId="0" animBg="1"/>
      <p:bldP spid="120" grpId="0"/>
      <p:bldP spid="153" grpId="0" animBg="1"/>
      <p:bldP spid="154" grpId="0" animBg="1"/>
      <p:bldP spid="155" grpId="0" animBg="1"/>
      <p:bldP spid="156" grpId="0"/>
      <p:bldP spid="157" grpId="0"/>
      <p:bldP spid="158" grpId="0"/>
      <p:bldP spid="159" grpId="0"/>
      <p:bldP spid="3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5439D23-E639-8E42-790B-F2B9E5AC380C}"/>
              </a:ext>
            </a:extLst>
          </p:cNvPr>
          <p:cNvGraphicFramePr>
            <a:graphicFrameLocks/>
          </p:cNvGraphicFramePr>
          <p:nvPr>
            <p:custDataLst>
              <p:tags r:id="rId1"/>
            </p:custDataLst>
            <p:extLst>
              <p:ext uri="{D42A27DB-BD31-4B8C-83A1-F6EECF244321}">
                <p14:modId xmlns:p14="http://schemas.microsoft.com/office/powerpoint/2010/main" val="3737674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4" name="think-cell data - do not delete" hidden="1">
                        <a:extLst>
                          <a:ext uri="{FF2B5EF4-FFF2-40B4-BE49-F238E27FC236}">
                            <a16:creationId xmlns:a16="http://schemas.microsoft.com/office/drawing/2014/main" id="{C5439D23-E639-8E42-790B-F2B9E5AC38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Top Corners Rounded 7">
            <a:extLst>
              <a:ext uri="{FF2B5EF4-FFF2-40B4-BE49-F238E27FC236}">
                <a16:creationId xmlns:a16="http://schemas.microsoft.com/office/drawing/2014/main" id="{80D7C5AA-E563-9EDB-04B2-F167C4842418}"/>
              </a:ext>
            </a:extLst>
          </p:cNvPr>
          <p:cNvSpPr/>
          <p:nvPr/>
        </p:nvSpPr>
        <p:spPr>
          <a:xfrm rot="5400000" flipH="1">
            <a:off x="-1784604" y="3165729"/>
            <a:ext cx="4133850" cy="1212341"/>
          </a:xfrm>
          <a:prstGeom prst="round2SameRect">
            <a:avLst>
              <a:gd name="adj1" fmla="val 50000"/>
              <a:gd name="adj2" fmla="val 0"/>
            </a:avLst>
          </a:prstGeom>
          <a:noFill/>
          <a:ln w="952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31355E6-05A4-3195-219B-9F3A7E8E1232}"/>
              </a:ext>
            </a:extLst>
          </p:cNvPr>
          <p:cNvSpPr/>
          <p:nvPr/>
        </p:nvSpPr>
        <p:spPr>
          <a:xfrm rot="16200000">
            <a:off x="4630484" y="-1903667"/>
            <a:ext cx="4133852" cy="11351136"/>
          </a:xfrm>
          <a:custGeom>
            <a:avLst/>
            <a:gdLst>
              <a:gd name="csX0" fmla="*/ 4133852 w 4133852"/>
              <a:gd name="csY0" fmla="*/ 606171 h 11351136"/>
              <a:gd name="csX1" fmla="*/ 4133852 w 4133852"/>
              <a:gd name="csY1" fmla="*/ 1212341 h 11351136"/>
              <a:gd name="csX2" fmla="*/ 4133850 w 4133852"/>
              <a:gd name="csY2" fmla="*/ 1212341 h 11351136"/>
              <a:gd name="csX3" fmla="*/ 4133850 w 4133852"/>
              <a:gd name="csY3" fmla="*/ 11351136 h 11351136"/>
              <a:gd name="csX4" fmla="*/ 0 w 4133852"/>
              <a:gd name="csY4" fmla="*/ 11351136 h 11351136"/>
              <a:gd name="csX5" fmla="*/ 0 w 4133852"/>
              <a:gd name="csY5" fmla="*/ 730758 h 11351136"/>
              <a:gd name="csX6" fmla="*/ 2 w 4133852"/>
              <a:gd name="csY6" fmla="*/ 730758 h 11351136"/>
              <a:gd name="csX7" fmla="*/ 2 w 4133852"/>
              <a:gd name="csY7" fmla="*/ 606171 h 11351136"/>
              <a:gd name="csX8" fmla="*/ 606173 w 4133852"/>
              <a:gd name="csY8" fmla="*/ 0 h 11351136"/>
              <a:gd name="csX9" fmla="*/ 3527682 w 4133852"/>
              <a:gd name="csY9" fmla="*/ 0 h 11351136"/>
              <a:gd name="csX10" fmla="*/ 4133852 w 4133852"/>
              <a:gd name="csY10" fmla="*/ 606171 h 113511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133852" h="11351136">
                <a:moveTo>
                  <a:pt x="4133852" y="606171"/>
                </a:moveTo>
                <a:cubicBezTo>
                  <a:pt x="4133852" y="808228"/>
                  <a:pt x="4133852" y="1010284"/>
                  <a:pt x="4133852" y="1212341"/>
                </a:cubicBezTo>
                <a:lnTo>
                  <a:pt x="4133850" y="1212341"/>
                </a:lnTo>
                <a:lnTo>
                  <a:pt x="4133850" y="11351136"/>
                </a:lnTo>
                <a:lnTo>
                  <a:pt x="0" y="11351136"/>
                </a:lnTo>
                <a:lnTo>
                  <a:pt x="0" y="730758"/>
                </a:lnTo>
                <a:lnTo>
                  <a:pt x="2" y="730758"/>
                </a:lnTo>
                <a:lnTo>
                  <a:pt x="2" y="606171"/>
                </a:lnTo>
                <a:cubicBezTo>
                  <a:pt x="2" y="271392"/>
                  <a:pt x="271394" y="0"/>
                  <a:pt x="606173" y="0"/>
                </a:cubicBezTo>
                <a:lnTo>
                  <a:pt x="3527682" y="0"/>
                </a:lnTo>
                <a:cubicBezTo>
                  <a:pt x="3862461" y="0"/>
                  <a:pt x="4133852" y="271392"/>
                  <a:pt x="4133852" y="606171"/>
                </a:cubicBezTo>
                <a:close/>
              </a:path>
            </a:pathLst>
          </a:custGeom>
          <a:noFill/>
          <a:ln w="952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3" name="Group 22">
            <a:extLst>
              <a:ext uri="{FF2B5EF4-FFF2-40B4-BE49-F238E27FC236}">
                <a16:creationId xmlns:a16="http://schemas.microsoft.com/office/drawing/2014/main" id="{527F8495-FC9E-4CBF-9FD1-A368DFA553A0}"/>
              </a:ext>
            </a:extLst>
          </p:cNvPr>
          <p:cNvGrpSpPr/>
          <p:nvPr/>
        </p:nvGrpSpPr>
        <p:grpSpPr>
          <a:xfrm>
            <a:off x="529858" y="2576341"/>
            <a:ext cx="850616" cy="850616"/>
            <a:chOff x="765062" y="3012808"/>
            <a:chExt cx="850616" cy="850616"/>
          </a:xfrm>
        </p:grpSpPr>
        <p:grpSp>
          <p:nvGrpSpPr>
            <p:cNvPr id="20" name="Gruppieren 12">
              <a:extLst>
                <a:ext uri="{FF2B5EF4-FFF2-40B4-BE49-F238E27FC236}">
                  <a16:creationId xmlns:a16="http://schemas.microsoft.com/office/drawing/2014/main" id="{36598C76-6AE3-3211-C1AC-30D6F3307528}"/>
                </a:ext>
              </a:extLst>
            </p:cNvPr>
            <p:cNvGrpSpPr>
              <a:grpSpLocks/>
            </p:cNvGrpSpPr>
            <p:nvPr/>
          </p:nvGrpSpPr>
          <p:grpSpPr>
            <a:xfrm>
              <a:off x="765062" y="3012808"/>
              <a:ext cx="850616" cy="850616"/>
              <a:chOff x="2387600" y="1866900"/>
              <a:chExt cx="704340" cy="704340"/>
            </a:xfrm>
          </p:grpSpPr>
          <p:sp>
            <p:nvSpPr>
              <p:cNvPr id="21" name="Ellipse 8">
                <a:extLst>
                  <a:ext uri="{FF2B5EF4-FFF2-40B4-BE49-F238E27FC236}">
                    <a16:creationId xmlns:a16="http://schemas.microsoft.com/office/drawing/2014/main" id="{71A69D28-49CD-9483-2F43-4DFE9D9F50BE}"/>
                  </a:ext>
                </a:extLst>
              </p:cNvPr>
              <p:cNvSpPr>
                <a:spLocks/>
              </p:cNvSpPr>
              <p:nvPr/>
            </p:nvSpPr>
            <p:spPr>
              <a:xfrm>
                <a:off x="2387600" y="1866900"/>
                <a:ext cx="704340" cy="704340"/>
              </a:xfrm>
              <a:prstGeom prst="ellipse">
                <a:avLst/>
              </a:prstGeom>
              <a:solidFill>
                <a:srgbClr val="3A3A3A"/>
              </a:solidFill>
              <a:ln w="19050" cap="flat" cmpd="sng" algn="ctr">
                <a:solidFill>
                  <a:srgbClr val="3A3A3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feld 11">
                <a:extLst>
                  <a:ext uri="{FF2B5EF4-FFF2-40B4-BE49-F238E27FC236}">
                    <a16:creationId xmlns:a16="http://schemas.microsoft.com/office/drawing/2014/main" id="{E1ED005F-BF1A-E472-E4CA-7004B4642ED8}"/>
                  </a:ext>
                </a:extLst>
              </p:cNvPr>
              <p:cNvSpPr txBox="1">
                <a:spLocks/>
              </p:cNvSpPr>
              <p:nvPr/>
            </p:nvSpPr>
            <p:spPr>
              <a:xfrm>
                <a:off x="2571242" y="2086517"/>
                <a:ext cx="337058" cy="265108"/>
              </a:xfrm>
              <a:custGeom>
                <a:avLst/>
                <a:gdLst/>
                <a:ahLst/>
                <a:cxnLst/>
                <a:rect l="l" t="t" r="r" b="b"/>
                <a:pathLst>
                  <a:path w="212113" h="166837">
                    <a:moveTo>
                      <a:pt x="197021" y="0"/>
                    </a:moveTo>
                    <a:lnTo>
                      <a:pt x="212113" y="31831"/>
                    </a:lnTo>
                    <a:cubicBezTo>
                      <a:pt x="196746" y="36953"/>
                      <a:pt x="185724" y="44088"/>
                      <a:pt x="179047" y="53234"/>
                    </a:cubicBezTo>
                    <a:cubicBezTo>
                      <a:pt x="172370" y="62381"/>
                      <a:pt x="168849" y="74546"/>
                      <a:pt x="168483" y="89730"/>
                    </a:cubicBezTo>
                    <a:lnTo>
                      <a:pt x="205802" y="89730"/>
                    </a:lnTo>
                    <a:lnTo>
                      <a:pt x="205802" y="166837"/>
                    </a:lnTo>
                    <a:lnTo>
                      <a:pt x="128695" y="166837"/>
                    </a:lnTo>
                    <a:lnTo>
                      <a:pt x="128695" y="111682"/>
                    </a:lnTo>
                    <a:cubicBezTo>
                      <a:pt x="128695" y="89181"/>
                      <a:pt x="130661" y="71528"/>
                      <a:pt x="134594" y="58722"/>
                    </a:cubicBezTo>
                    <a:cubicBezTo>
                      <a:pt x="138527" y="45917"/>
                      <a:pt x="145845" y="34392"/>
                      <a:pt x="156546" y="24148"/>
                    </a:cubicBezTo>
                    <a:cubicBezTo>
                      <a:pt x="167248" y="13903"/>
                      <a:pt x="180740" y="5854"/>
                      <a:pt x="197021" y="0"/>
                    </a:cubicBezTo>
                    <a:close/>
                    <a:moveTo>
                      <a:pt x="68326" y="0"/>
                    </a:moveTo>
                    <a:lnTo>
                      <a:pt x="83418" y="31831"/>
                    </a:lnTo>
                    <a:cubicBezTo>
                      <a:pt x="68052" y="36953"/>
                      <a:pt x="57030" y="44088"/>
                      <a:pt x="50353" y="53234"/>
                    </a:cubicBezTo>
                    <a:cubicBezTo>
                      <a:pt x="43676" y="62381"/>
                      <a:pt x="40154" y="74546"/>
                      <a:pt x="39788" y="89730"/>
                    </a:cubicBezTo>
                    <a:lnTo>
                      <a:pt x="77107" y="89730"/>
                    </a:lnTo>
                    <a:lnTo>
                      <a:pt x="77107" y="166837"/>
                    </a:lnTo>
                    <a:lnTo>
                      <a:pt x="0" y="166837"/>
                    </a:lnTo>
                    <a:lnTo>
                      <a:pt x="0" y="111682"/>
                    </a:lnTo>
                    <a:cubicBezTo>
                      <a:pt x="0" y="89364"/>
                      <a:pt x="1967" y="71756"/>
                      <a:pt x="5900" y="58860"/>
                    </a:cubicBezTo>
                    <a:cubicBezTo>
                      <a:pt x="9833" y="45963"/>
                      <a:pt x="17105" y="34392"/>
                      <a:pt x="27715" y="24148"/>
                    </a:cubicBezTo>
                    <a:cubicBezTo>
                      <a:pt x="38325" y="13903"/>
                      <a:pt x="51862" y="5854"/>
                      <a:pt x="68326" y="0"/>
                    </a:cubicBezTo>
                    <a:close/>
                  </a:path>
                </a:pathLst>
              </a:custGeom>
              <a:solidFill>
                <a:srgbClr val="3A3A3A"/>
              </a:solidFill>
              <a:ln w="9525" cap="flat" cmpd="sng" algn="ctr">
                <a:solidFill>
                  <a:srgbClr val="3A3A3A"/>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4400" b="1"/>
              </a:p>
            </p:txBody>
          </p:sp>
        </p:grpSp>
        <p:grpSp>
          <p:nvGrpSpPr>
            <p:cNvPr id="15" name="Gruppieren 12">
              <a:extLst>
                <a:ext uri="{FF2B5EF4-FFF2-40B4-BE49-F238E27FC236}">
                  <a16:creationId xmlns:a16="http://schemas.microsoft.com/office/drawing/2014/main" id="{75C75844-74FC-6B82-6F8A-0E82FF20219B}"/>
                </a:ext>
              </a:extLst>
            </p:cNvPr>
            <p:cNvGrpSpPr>
              <a:grpSpLocks/>
            </p:cNvGrpSpPr>
            <p:nvPr/>
          </p:nvGrpSpPr>
          <p:grpSpPr>
            <a:xfrm>
              <a:off x="838200" y="3085946"/>
              <a:ext cx="704340" cy="704340"/>
              <a:chOff x="2387600" y="1866900"/>
              <a:chExt cx="704340" cy="704340"/>
            </a:xfrm>
          </p:grpSpPr>
          <p:sp>
            <p:nvSpPr>
              <p:cNvPr id="16" name="Ellipse 8">
                <a:extLst>
                  <a:ext uri="{FF2B5EF4-FFF2-40B4-BE49-F238E27FC236}">
                    <a16:creationId xmlns:a16="http://schemas.microsoft.com/office/drawing/2014/main" id="{957ABD2D-C9F9-5733-755A-4E34B3D02CA5}"/>
                  </a:ext>
                </a:extLst>
              </p:cNvPr>
              <p:cNvSpPr>
                <a:spLocks/>
              </p:cNvSpPr>
              <p:nvPr/>
            </p:nvSpPr>
            <p:spPr>
              <a:xfrm>
                <a:off x="2387600" y="1866900"/>
                <a:ext cx="704340" cy="704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feld 11">
                <a:extLst>
                  <a:ext uri="{FF2B5EF4-FFF2-40B4-BE49-F238E27FC236}">
                    <a16:creationId xmlns:a16="http://schemas.microsoft.com/office/drawing/2014/main" id="{16E8FB1A-6C43-04C6-57A8-D47CF235F97F}"/>
                  </a:ext>
                </a:extLst>
              </p:cNvPr>
              <p:cNvSpPr txBox="1">
                <a:spLocks/>
              </p:cNvSpPr>
              <p:nvPr/>
            </p:nvSpPr>
            <p:spPr>
              <a:xfrm>
                <a:off x="2571242" y="2086517"/>
                <a:ext cx="337058" cy="265108"/>
              </a:xfrm>
              <a:custGeom>
                <a:avLst/>
                <a:gdLst/>
                <a:ahLst/>
                <a:cxnLst/>
                <a:rect l="l" t="t" r="r" b="b"/>
                <a:pathLst>
                  <a:path w="212113" h="166837">
                    <a:moveTo>
                      <a:pt x="197021" y="0"/>
                    </a:moveTo>
                    <a:lnTo>
                      <a:pt x="212113" y="31831"/>
                    </a:lnTo>
                    <a:cubicBezTo>
                      <a:pt x="196746" y="36953"/>
                      <a:pt x="185724" y="44088"/>
                      <a:pt x="179047" y="53234"/>
                    </a:cubicBezTo>
                    <a:cubicBezTo>
                      <a:pt x="172370" y="62381"/>
                      <a:pt x="168849" y="74546"/>
                      <a:pt x="168483" y="89730"/>
                    </a:cubicBezTo>
                    <a:lnTo>
                      <a:pt x="205802" y="89730"/>
                    </a:lnTo>
                    <a:lnTo>
                      <a:pt x="205802" y="166837"/>
                    </a:lnTo>
                    <a:lnTo>
                      <a:pt x="128695" y="166837"/>
                    </a:lnTo>
                    <a:lnTo>
                      <a:pt x="128695" y="111682"/>
                    </a:lnTo>
                    <a:cubicBezTo>
                      <a:pt x="128695" y="89181"/>
                      <a:pt x="130661" y="71528"/>
                      <a:pt x="134594" y="58722"/>
                    </a:cubicBezTo>
                    <a:cubicBezTo>
                      <a:pt x="138527" y="45917"/>
                      <a:pt x="145845" y="34392"/>
                      <a:pt x="156546" y="24148"/>
                    </a:cubicBezTo>
                    <a:cubicBezTo>
                      <a:pt x="167248" y="13903"/>
                      <a:pt x="180740" y="5854"/>
                      <a:pt x="197021" y="0"/>
                    </a:cubicBezTo>
                    <a:close/>
                    <a:moveTo>
                      <a:pt x="68326" y="0"/>
                    </a:moveTo>
                    <a:lnTo>
                      <a:pt x="83418" y="31831"/>
                    </a:lnTo>
                    <a:cubicBezTo>
                      <a:pt x="68052" y="36953"/>
                      <a:pt x="57030" y="44088"/>
                      <a:pt x="50353" y="53234"/>
                    </a:cubicBezTo>
                    <a:cubicBezTo>
                      <a:pt x="43676" y="62381"/>
                      <a:pt x="40154" y="74546"/>
                      <a:pt x="39788" y="89730"/>
                    </a:cubicBezTo>
                    <a:lnTo>
                      <a:pt x="77107" y="89730"/>
                    </a:lnTo>
                    <a:lnTo>
                      <a:pt x="77107" y="166837"/>
                    </a:lnTo>
                    <a:lnTo>
                      <a:pt x="0" y="166837"/>
                    </a:lnTo>
                    <a:lnTo>
                      <a:pt x="0" y="111682"/>
                    </a:lnTo>
                    <a:cubicBezTo>
                      <a:pt x="0" y="89364"/>
                      <a:pt x="1967" y="71756"/>
                      <a:pt x="5900" y="58860"/>
                    </a:cubicBezTo>
                    <a:cubicBezTo>
                      <a:pt x="9833" y="45963"/>
                      <a:pt x="17105" y="34392"/>
                      <a:pt x="27715" y="24148"/>
                    </a:cubicBezTo>
                    <a:cubicBezTo>
                      <a:pt x="38325" y="13903"/>
                      <a:pt x="51862" y="5854"/>
                      <a:pt x="68326"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4400" b="1"/>
              </a:p>
            </p:txBody>
          </p:sp>
        </p:grpSp>
      </p:grpSp>
      <p:sp>
        <p:nvSpPr>
          <p:cNvPr id="2" name="Title 1">
            <a:extLst>
              <a:ext uri="{FF2B5EF4-FFF2-40B4-BE49-F238E27FC236}">
                <a16:creationId xmlns:a16="http://schemas.microsoft.com/office/drawing/2014/main" id="{389DE221-B789-6BEE-D029-E9E71D22503E}"/>
              </a:ext>
            </a:extLst>
          </p:cNvPr>
          <p:cNvSpPr>
            <a:spLocks noGrp="1"/>
          </p:cNvSpPr>
          <p:nvPr>
            <p:ph type="title"/>
          </p:nvPr>
        </p:nvSpPr>
        <p:spPr>
          <a:xfrm>
            <a:off x="838200" y="374650"/>
            <a:ext cx="10515600" cy="498598"/>
          </a:xfrm>
        </p:spPr>
        <p:txBody>
          <a:bodyPr vert="horz" rIns="0">
            <a:noAutofit/>
          </a:bodyPr>
          <a:lstStyle/>
          <a:p>
            <a:r>
              <a:rPr lang="en-US" dirty="0"/>
              <a:t>Final thoughts and discussion…</a:t>
            </a:r>
          </a:p>
        </p:txBody>
      </p:sp>
      <p:sp>
        <p:nvSpPr>
          <p:cNvPr id="3" name="Slide Number Placeholder 2">
            <a:extLst>
              <a:ext uri="{FF2B5EF4-FFF2-40B4-BE49-F238E27FC236}">
                <a16:creationId xmlns:a16="http://schemas.microsoft.com/office/drawing/2014/main" id="{BBE7AA14-EB6B-EEB3-1730-972D1A8CAA9C}"/>
              </a:ext>
            </a:extLst>
          </p:cNvPr>
          <p:cNvSpPr>
            <a:spLocks noGrp="1"/>
          </p:cNvSpPr>
          <p:nvPr>
            <p:ph type="sldNum" sz="quarter" idx="12"/>
          </p:nvPr>
        </p:nvSpPr>
        <p:spPr/>
        <p:txBody>
          <a:bodyPr/>
          <a:lstStyle/>
          <a:p>
            <a:fld id="{49882A7A-00EB-4D45-AA64-F8A75FA21FCC}" type="slidenum">
              <a:rPr lang="en-US" smtClean="0"/>
              <a:pPr/>
              <a:t>11</a:t>
            </a:fld>
            <a:endParaRPr lang="en-US" dirty="0"/>
          </a:p>
        </p:txBody>
      </p:sp>
      <p:sp>
        <p:nvSpPr>
          <p:cNvPr id="13" name="Textplatzhalter 4">
            <a:extLst>
              <a:ext uri="{FF2B5EF4-FFF2-40B4-BE49-F238E27FC236}">
                <a16:creationId xmlns:a16="http://schemas.microsoft.com/office/drawing/2014/main" id="{9F2CF263-7AEF-9FED-2DDC-0C7AF382E449}"/>
              </a:ext>
            </a:extLst>
          </p:cNvPr>
          <p:cNvSpPr txBox="1">
            <a:spLocks/>
          </p:cNvSpPr>
          <p:nvPr/>
        </p:nvSpPr>
        <p:spPr bwMode="gray">
          <a:xfrm>
            <a:off x="1752600" y="4990464"/>
            <a:ext cx="9601200" cy="252249"/>
          </a:xfrm>
          <a:prstGeom prst="rect">
            <a:avLst/>
          </a:prstGeom>
        </p:spPr>
        <p:txBody>
          <a:bodyPr vert="horz" wrap="square" lIns="0" tIns="0" rIns="0" bIns="0" rtlCol="0">
            <a:spAutoFit/>
          </a:bodyPr>
          <a:lstStyle>
            <a:lvl1pPr marL="0" indent="0" algn="l" defTabSz="914400" rtl="0" eaLnBrk="1" latinLnBrk="0" hangingPunct="1">
              <a:spcBef>
                <a:spcPts val="600"/>
              </a:spcBef>
              <a:buClr>
                <a:schemeClr val="tx1"/>
              </a:buClr>
              <a:buFont typeface="Arial" panose="020B0604020202020204" pitchFamily="34" charset="0"/>
              <a:buNone/>
              <a:defRPr sz="1200" kern="1200">
                <a:solidFill>
                  <a:schemeClr val="tx1"/>
                </a:solidFill>
                <a:latin typeface="+mn-lt"/>
                <a:ea typeface="+mn-ea"/>
                <a:cs typeface="+mn-cs"/>
                <a:sym typeface="Futura"/>
              </a:defRPr>
            </a:lvl1pPr>
            <a:lvl2pPr marL="180975"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2pPr>
            <a:lvl3pPr marL="361950"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3pPr>
            <a:lvl4pPr marL="541338" indent="-179388" algn="l" defTabSz="914400" rtl="0" eaLnBrk="1" latinLnBrk="0" hangingPunct="1">
              <a:spcBef>
                <a:spcPts val="600"/>
              </a:spcBef>
              <a:buClr>
                <a:schemeClr val="tx1"/>
              </a:buClr>
              <a:buFont typeface="Arial" panose="020B0604020202020204" pitchFamily="34" charset="0"/>
              <a:buChar char="•"/>
              <a:tabLst/>
              <a:defRPr sz="1200" kern="1200">
                <a:solidFill>
                  <a:schemeClr val="tx1"/>
                </a:solidFill>
                <a:latin typeface="+mn-lt"/>
                <a:ea typeface="+mn-ea"/>
                <a:cs typeface="+mn-cs"/>
                <a:sym typeface="Futura"/>
              </a:defRPr>
            </a:lvl4pPr>
            <a:lvl5pPr marL="722313" indent="-180975" algn="l" defTabSz="914400" rtl="0" eaLnBrk="1" latinLnBrk="0" hangingPunct="1">
              <a:spcBef>
                <a:spcPts val="600"/>
              </a:spcBef>
              <a:buClr>
                <a:schemeClr val="tx1"/>
              </a:buClr>
              <a:buFont typeface="Arial" panose="020B0604020202020204" pitchFamily="34" charset="0"/>
              <a:buChar char="•"/>
              <a:defRPr sz="1200" kern="1200">
                <a:solidFill>
                  <a:schemeClr val="tx1"/>
                </a:solidFill>
                <a:latin typeface="+mn-lt"/>
                <a:ea typeface="+mn-ea"/>
                <a:cs typeface="+mn-cs"/>
                <a:sym typeface="Futura"/>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r">
              <a:lnSpc>
                <a:spcPct val="110000"/>
              </a:lnSpc>
              <a:spcBef>
                <a:spcPts val="0"/>
              </a:spcBef>
              <a:spcAft>
                <a:spcPts val="600"/>
              </a:spcAft>
              <a:buClr>
                <a:srgbClr val="000000"/>
              </a:buClr>
            </a:pPr>
            <a:r>
              <a:rPr lang="en-GB" sz="1600" dirty="0"/>
              <a:t>— </a:t>
            </a:r>
            <a:r>
              <a:rPr lang="en-GB" sz="1600" b="1" dirty="0"/>
              <a:t>Andy Jassy, as quoted in </a:t>
            </a:r>
            <a:r>
              <a:rPr lang="en-GB" sz="1600" b="1" i="1" dirty="0">
                <a:hlinkClick r:id="rId5"/>
              </a:rPr>
              <a:t>Fortune</a:t>
            </a:r>
            <a:r>
              <a:rPr lang="en-GB" sz="1600" b="1" dirty="0">
                <a:hlinkClick r:id="rId5"/>
              </a:rPr>
              <a:t> (2022)</a:t>
            </a:r>
            <a:endParaRPr lang="en-US" sz="2000" b="1" dirty="0"/>
          </a:p>
        </p:txBody>
      </p:sp>
      <p:sp>
        <p:nvSpPr>
          <p:cNvPr id="14" name="Titel 1">
            <a:extLst>
              <a:ext uri="{FF2B5EF4-FFF2-40B4-BE49-F238E27FC236}">
                <a16:creationId xmlns:a16="http://schemas.microsoft.com/office/drawing/2014/main" id="{8BCD6186-0F75-103C-138D-925128F706FC}"/>
              </a:ext>
            </a:extLst>
          </p:cNvPr>
          <p:cNvSpPr txBox="1">
            <a:spLocks/>
          </p:cNvSpPr>
          <p:nvPr/>
        </p:nvSpPr>
        <p:spPr bwMode="gray">
          <a:xfrm>
            <a:off x="1752600" y="2576341"/>
            <a:ext cx="9601200" cy="1723549"/>
          </a:xfrm>
          <a:prstGeom prst="rect">
            <a:avLst/>
          </a:prstGeom>
        </p:spPr>
        <p:txBody>
          <a:bodyPr vert="horz" wrap="square" lIns="0" tIns="0" rIns="0" bIns="0" rtlCol="0" anchor="t">
            <a:spAutoFit/>
          </a:bodyPr>
          <a:lstStyle>
            <a:lvl1pPr algn="l" defTabSz="914400" rtl="0" eaLnBrk="1" latinLnBrk="0" hangingPunct="1">
              <a:spcBef>
                <a:spcPct val="0"/>
              </a:spcBef>
              <a:buNone/>
              <a:defRPr sz="3200" b="0" i="1" kern="1200">
                <a:solidFill>
                  <a:schemeClr val="bg1"/>
                </a:solidFill>
                <a:latin typeface="Montserrat ExtraBold" panose="00000900000000000000" pitchFamily="2" charset="0"/>
                <a:ea typeface="+mj-ea"/>
                <a:cs typeface="+mj-cs"/>
                <a:sym typeface="Futura"/>
              </a:defRPr>
            </a:lvl1pPr>
          </a:lstStyle>
          <a:p>
            <a:pPr marL="0" marR="0" lvl="0" indent="0" algn="l" defTabSz="914400" eaLnBrk="1" fontAlgn="auto" latinLnBrk="0" hangingPunct="1">
              <a:lnSpc>
                <a:spcPct val="100000"/>
              </a:lnSpc>
              <a:spcBef>
                <a:spcPct val="0"/>
              </a:spcBef>
              <a:spcAft>
                <a:spcPts val="0"/>
              </a:spcAft>
              <a:buClrTx/>
              <a:buSzTx/>
              <a:buFontTx/>
              <a:buNone/>
              <a:tabLst/>
              <a:defRPr/>
            </a:pPr>
            <a:r>
              <a:rPr kumimoji="0" lang="en-GB" sz="2800" b="1" u="none" strike="noStrike" kern="1200" cap="none" spc="0" normalizeH="0" baseline="0" noProof="0" dirty="0">
                <a:ln>
                  <a:noFill/>
                </a:ln>
                <a:solidFill>
                  <a:schemeClr val="accent1"/>
                </a:solidFill>
                <a:effectLst/>
                <a:uLnTx/>
                <a:uFillTx/>
                <a:latin typeface="+mn-lt"/>
                <a:ea typeface="+mj-ea"/>
                <a:cs typeface="+mn-cs"/>
                <a:sym typeface="Futura"/>
              </a:rPr>
              <a:t>The world saw Amazon as an online retailer, but the company’s leaders never thought of it that way. They thought of it as “a technology company that had simply applied its technology to the retail space first,”</a:t>
            </a:r>
            <a:endParaRPr kumimoji="0" lang="en-US" sz="2800" b="1" u="none" strike="noStrike" kern="1200" cap="none" spc="0" normalizeH="0" baseline="0" noProof="0" dirty="0">
              <a:ln>
                <a:noFill/>
              </a:ln>
              <a:solidFill>
                <a:schemeClr val="accent1"/>
              </a:solidFill>
              <a:effectLst/>
              <a:uLnTx/>
              <a:uFillTx/>
              <a:latin typeface="+mn-lt"/>
              <a:ea typeface="+mj-ea"/>
              <a:cs typeface="+mn-cs"/>
              <a:sym typeface="Futura"/>
            </a:endParaRPr>
          </a:p>
        </p:txBody>
      </p:sp>
      <p:pic>
        <p:nvPicPr>
          <p:cNvPr id="11" name="Picture 10">
            <a:extLst>
              <a:ext uri="{FF2B5EF4-FFF2-40B4-BE49-F238E27FC236}">
                <a16:creationId xmlns:a16="http://schemas.microsoft.com/office/drawing/2014/main" id="{C7768BC2-0322-AE00-F0FC-92D315AF27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62494" y="279522"/>
            <a:ext cx="907929" cy="907929"/>
          </a:xfrm>
          <a:prstGeom prst="rect">
            <a:avLst/>
          </a:prstGeom>
        </p:spPr>
      </p:pic>
      <p:sp>
        <p:nvSpPr>
          <p:cNvPr id="9" name="Title 1">
            <a:extLst>
              <a:ext uri="{FF2B5EF4-FFF2-40B4-BE49-F238E27FC236}">
                <a16:creationId xmlns:a16="http://schemas.microsoft.com/office/drawing/2014/main" id="{83E28CB0-BB2E-3FF5-74A9-8EBBF46C557E}"/>
              </a:ext>
            </a:extLst>
          </p:cNvPr>
          <p:cNvSpPr txBox="1">
            <a:spLocks/>
          </p:cNvSpPr>
          <p:nvPr/>
        </p:nvSpPr>
        <p:spPr>
          <a:xfrm>
            <a:off x="10562493" y="1217680"/>
            <a:ext cx="907929" cy="14110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pPr algn="ctr"/>
            <a:r>
              <a:rPr lang="en-US" sz="900" dirty="0"/>
              <a:t>Scan for slides</a:t>
            </a:r>
          </a:p>
        </p:txBody>
      </p:sp>
    </p:spTree>
    <p:extLst>
      <p:ext uri="{BB962C8B-B14F-4D97-AF65-F5344CB8AC3E}">
        <p14:creationId xmlns:p14="http://schemas.microsoft.com/office/powerpoint/2010/main" val="9620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6E3C9D-E114-0B47-F9E8-BAB714A445F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46EFE60-A723-6BD2-7BA0-673C62EFC204}"/>
              </a:ext>
            </a:extLst>
          </p:cNvPr>
          <p:cNvGraphicFramePr>
            <a:graphicFrameLocks/>
          </p:cNvGraphicFramePr>
          <p:nvPr>
            <p:custDataLst>
              <p:tags r:id="rId1"/>
            </p:custDataLst>
            <p:extLst>
              <p:ext uri="{D42A27DB-BD31-4B8C-83A1-F6EECF244321}">
                <p14:modId xmlns:p14="http://schemas.microsoft.com/office/powerpoint/2010/main" val="1943227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405" imgH="405" progId="TCLayout.ActiveDocument.1">
                  <p:embed/>
                </p:oleObj>
              </mc:Choice>
              <mc:Fallback>
                <p:oleObj name="think-cell Slide" r:id="rId57" imgW="405" imgH="405" progId="TCLayout.ActiveDocument.1">
                  <p:embed/>
                  <p:pic>
                    <p:nvPicPr>
                      <p:cNvPr id="5" name="think-cell data - do not delete" hidden="1">
                        <a:extLst>
                          <a:ext uri="{FF2B5EF4-FFF2-40B4-BE49-F238E27FC236}">
                            <a16:creationId xmlns:a16="http://schemas.microsoft.com/office/drawing/2014/main" id="{B46EFE60-A723-6BD2-7BA0-673C62EFC204}"/>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graphicFrame>
        <p:nvGraphicFramePr>
          <p:cNvPr id="319" name="Chart 318">
            <a:extLst>
              <a:ext uri="{FF2B5EF4-FFF2-40B4-BE49-F238E27FC236}">
                <a16:creationId xmlns:a16="http://schemas.microsoft.com/office/drawing/2014/main" id="{227894C7-8424-5D8D-F171-40326E09CCB7}"/>
              </a:ext>
            </a:extLst>
          </p:cNvPr>
          <p:cNvGraphicFramePr/>
          <p:nvPr>
            <p:custDataLst>
              <p:tags r:id="rId2"/>
            </p:custDataLst>
            <p:extLst>
              <p:ext uri="{D42A27DB-BD31-4B8C-83A1-F6EECF244321}">
                <p14:modId xmlns:p14="http://schemas.microsoft.com/office/powerpoint/2010/main" val="1412441038"/>
              </p:ext>
            </p:extLst>
          </p:nvPr>
        </p:nvGraphicFramePr>
        <p:xfrm>
          <a:off x="755650" y="2087563"/>
          <a:ext cx="7207250" cy="3222625"/>
        </p:xfrm>
        <a:graphic>
          <a:graphicData uri="http://schemas.openxmlformats.org/drawingml/2006/chart">
            <c:chart xmlns:c="http://schemas.openxmlformats.org/drawingml/2006/chart" xmlns:r="http://schemas.openxmlformats.org/officeDocument/2006/relationships" r:id="rId59"/>
          </a:graphicData>
        </a:graphic>
      </p:graphicFrame>
      <p:sp>
        <p:nvSpPr>
          <p:cNvPr id="208" name="Text Placeholder 2">
            <a:extLst>
              <a:ext uri="{FF2B5EF4-FFF2-40B4-BE49-F238E27FC236}">
                <a16:creationId xmlns:a16="http://schemas.microsoft.com/office/drawing/2014/main" id="{D77BBC3C-CEC7-6BA1-7727-22B1BA6E6322}"/>
              </a:ext>
            </a:extLst>
          </p:cNvPr>
          <p:cNvSpPr>
            <a:spLocks/>
          </p:cNvSpPr>
          <p:nvPr>
            <p:custDataLst>
              <p:tags r:id="rId3"/>
            </p:custDataLst>
          </p:nvPr>
        </p:nvSpPr>
        <p:spPr bwMode="gray">
          <a:xfrm>
            <a:off x="593725" y="3125788"/>
            <a:ext cx="1587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AECBB7A5-A10C-407C-9A9A-ABA60E677C66}" type="datetime'''''''''''''''''''''6''''''''''0'''''''''''''''''''''">
              <a:rPr lang="en-US" altLang="en-US" sz="1000" smtClean="0">
                <a:solidFill>
                  <a:srgbClr val="3A3A3A"/>
                </a:solidFill>
                <a:effectLst/>
              </a:rPr>
              <a:pPr marL="0" lvl="0" indent="0" algn="r">
                <a:spcBef>
                  <a:spcPct val="0"/>
                </a:spcBef>
                <a:spcAft>
                  <a:spcPct val="0"/>
                </a:spcAft>
                <a:buNone/>
              </a:pPr>
              <a:t>60</a:t>
            </a:fld>
            <a:endParaRPr lang="en-US" sz="1000" dirty="0">
              <a:solidFill>
                <a:srgbClr val="3A3A3A"/>
              </a:solidFill>
            </a:endParaRPr>
          </a:p>
        </p:txBody>
      </p:sp>
      <p:sp>
        <p:nvSpPr>
          <p:cNvPr id="209" name="Text Placeholder 2">
            <a:extLst>
              <a:ext uri="{FF2B5EF4-FFF2-40B4-BE49-F238E27FC236}">
                <a16:creationId xmlns:a16="http://schemas.microsoft.com/office/drawing/2014/main" id="{D77BBC3C-CEC7-6BA1-7727-22B1BA6E6322}"/>
              </a:ext>
            </a:extLst>
          </p:cNvPr>
          <p:cNvSpPr>
            <a:spLocks/>
          </p:cNvSpPr>
          <p:nvPr>
            <p:custDataLst>
              <p:tags r:id="rId4"/>
            </p:custDataLst>
          </p:nvPr>
        </p:nvSpPr>
        <p:spPr bwMode="gray">
          <a:xfrm>
            <a:off x="606425" y="2106613"/>
            <a:ext cx="1460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CDF8C67A-758F-47C3-B8DA-A5C2444C383A}" type="datetime'''''7''''''''''''5'''''''''''''''''''''">
              <a:rPr lang="en-US" altLang="en-US" sz="1000" smtClean="0">
                <a:solidFill>
                  <a:srgbClr val="3A3A3A"/>
                </a:solidFill>
                <a:effectLst/>
              </a:rPr>
              <a:pPr marL="0" lvl="0" indent="0" algn="r">
                <a:spcBef>
                  <a:spcPct val="0"/>
                </a:spcBef>
                <a:spcAft>
                  <a:spcPct val="0"/>
                </a:spcAft>
                <a:buNone/>
              </a:pPr>
              <a:t>75</a:t>
            </a:fld>
            <a:endParaRPr lang="en-US" sz="1000" dirty="0">
              <a:solidFill>
                <a:srgbClr val="3A3A3A"/>
              </a:solidFill>
            </a:endParaRPr>
          </a:p>
        </p:txBody>
      </p:sp>
      <p:sp>
        <p:nvSpPr>
          <p:cNvPr id="207" name="Text Placeholder 2">
            <a:extLst>
              <a:ext uri="{FF2B5EF4-FFF2-40B4-BE49-F238E27FC236}">
                <a16:creationId xmlns:a16="http://schemas.microsoft.com/office/drawing/2014/main" id="{D77BBC3C-CEC7-6BA1-7727-22B1BA6E6322}"/>
              </a:ext>
            </a:extLst>
          </p:cNvPr>
          <p:cNvSpPr>
            <a:spLocks/>
          </p:cNvSpPr>
          <p:nvPr>
            <p:custDataLst>
              <p:tags r:id="rId5"/>
            </p:custDataLst>
          </p:nvPr>
        </p:nvSpPr>
        <p:spPr bwMode="gray">
          <a:xfrm>
            <a:off x="595313" y="4144963"/>
            <a:ext cx="157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A3C2D4B6-20AE-46A6-BCFC-3AD5ED0512A8}" type="datetime'''''''''4''5'''''''''''''''''''''''''''''''''''''''''''''''''">
              <a:rPr lang="en-US" altLang="en-US" sz="1000" smtClean="0">
                <a:solidFill>
                  <a:srgbClr val="3A3A3A"/>
                </a:solidFill>
                <a:effectLst/>
              </a:rPr>
              <a:pPr marL="0" lvl="0" indent="0" algn="r">
                <a:spcBef>
                  <a:spcPct val="0"/>
                </a:spcBef>
                <a:spcAft>
                  <a:spcPct val="0"/>
                </a:spcAft>
                <a:buNone/>
              </a:pPr>
              <a:t>45</a:t>
            </a:fld>
            <a:endParaRPr lang="en-US" sz="1000" dirty="0">
              <a:solidFill>
                <a:srgbClr val="3A3A3A"/>
              </a:solidFill>
            </a:endParaRPr>
          </a:p>
        </p:txBody>
      </p:sp>
      <p:sp>
        <p:nvSpPr>
          <p:cNvPr id="122" name="Text Placeholder 2">
            <a:extLst>
              <a:ext uri="{FF2B5EF4-FFF2-40B4-BE49-F238E27FC236}">
                <a16:creationId xmlns:a16="http://schemas.microsoft.com/office/drawing/2014/main" id="{400CBEBE-0D1F-6626-8147-1F6C360E3B7C}"/>
              </a:ext>
            </a:extLst>
          </p:cNvPr>
          <p:cNvSpPr>
            <a:spLocks/>
          </p:cNvSpPr>
          <p:nvPr>
            <p:custDataLst>
              <p:tags r:id="rId6"/>
            </p:custDataLst>
          </p:nvPr>
        </p:nvSpPr>
        <p:spPr bwMode="gray">
          <a:xfrm>
            <a:off x="1276350" y="3916363"/>
            <a:ext cx="2968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8620B49-07F6-4757-8C02-68F8E892F68A}" type="datetime'''5'',''''''''''''''''''''''''''''7''''''''6'">
              <a:rPr lang="en-US" altLang="en-US" sz="1000" smtClean="0"/>
              <a:pPr marL="0" lvl="0" indent="0" algn="ctr">
                <a:spcBef>
                  <a:spcPct val="0"/>
                </a:spcBef>
                <a:spcAft>
                  <a:spcPct val="0"/>
                </a:spcAft>
                <a:buNone/>
              </a:pPr>
              <a:t>5,76</a:t>
            </a:fld>
            <a:endParaRPr lang="en-US" sz="1000" dirty="0"/>
          </a:p>
        </p:txBody>
      </p:sp>
      <p:sp>
        <p:nvSpPr>
          <p:cNvPr id="123" name="Text Placeholder 2">
            <a:extLst>
              <a:ext uri="{FF2B5EF4-FFF2-40B4-BE49-F238E27FC236}">
                <a16:creationId xmlns:a16="http://schemas.microsoft.com/office/drawing/2014/main" id="{8456AF67-6251-85D1-A8C9-485362664B0D}"/>
              </a:ext>
            </a:extLst>
          </p:cNvPr>
          <p:cNvSpPr>
            <a:spLocks/>
          </p:cNvSpPr>
          <p:nvPr>
            <p:custDataLst>
              <p:tags r:id="rId7"/>
            </p:custDataLst>
          </p:nvPr>
        </p:nvSpPr>
        <p:spPr bwMode="gray">
          <a:xfrm>
            <a:off x="1274763" y="4298950"/>
            <a:ext cx="300038"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FC652BF4-E676-4488-9DAC-A66D28D49A3D}" type="datetime'''''''''''''''''5'''''''''''',''''''5''''''''''0'''''''''">
              <a:rPr lang="en-US" altLang="en-US" sz="1000" smtClean="0"/>
              <a:pPr marL="0" lvl="0" indent="0" algn="ctr">
                <a:spcBef>
                  <a:spcPct val="0"/>
                </a:spcBef>
                <a:spcAft>
                  <a:spcPct val="0"/>
                </a:spcAft>
                <a:buNone/>
              </a:pPr>
              <a:t>5,50</a:t>
            </a:fld>
            <a:endParaRPr lang="en-US" sz="1000" dirty="0"/>
          </a:p>
        </p:txBody>
      </p:sp>
      <p:sp>
        <p:nvSpPr>
          <p:cNvPr id="124" name="Text Placeholder 2">
            <a:extLst>
              <a:ext uri="{FF2B5EF4-FFF2-40B4-BE49-F238E27FC236}">
                <a16:creationId xmlns:a16="http://schemas.microsoft.com/office/drawing/2014/main" id="{C9D7C027-06D7-3CEF-EA60-7A4AE82CB48E}"/>
              </a:ext>
            </a:extLst>
          </p:cNvPr>
          <p:cNvSpPr>
            <a:spLocks/>
          </p:cNvSpPr>
          <p:nvPr>
            <p:custDataLst>
              <p:tags r:id="rId8"/>
            </p:custDataLst>
          </p:nvPr>
        </p:nvSpPr>
        <p:spPr bwMode="gray">
          <a:xfrm>
            <a:off x="1244600" y="4822825"/>
            <a:ext cx="360363"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F833215-B462-4D1D-9D54-F6DA32F35AEC}" type="datetime'''''''''''''''''''''39'''''''''''''''''',''''''''91'''''''''''">
              <a:rPr lang="en-US" altLang="en-US" sz="1000" smtClean="0"/>
              <a:pPr marL="0" lvl="0" indent="0" algn="ctr">
                <a:spcBef>
                  <a:spcPct val="0"/>
                </a:spcBef>
                <a:spcAft>
                  <a:spcPct val="0"/>
                </a:spcAft>
                <a:buNone/>
              </a:pPr>
              <a:t>39,91</a:t>
            </a:fld>
            <a:endParaRPr lang="en-US" sz="1000" dirty="0"/>
          </a:p>
        </p:txBody>
      </p:sp>
      <p:sp>
        <p:nvSpPr>
          <p:cNvPr id="125" name="Text Placeholder 2">
            <a:extLst>
              <a:ext uri="{FF2B5EF4-FFF2-40B4-BE49-F238E27FC236}">
                <a16:creationId xmlns:a16="http://schemas.microsoft.com/office/drawing/2014/main" id="{59955C86-6B64-6E74-3433-D898556506DA}"/>
              </a:ext>
            </a:extLst>
          </p:cNvPr>
          <p:cNvSpPr>
            <a:spLocks/>
          </p:cNvSpPr>
          <p:nvPr>
            <p:custDataLst>
              <p:tags r:id="rId9"/>
            </p:custDataLst>
          </p:nvPr>
        </p:nvSpPr>
        <p:spPr bwMode="auto">
          <a:xfrm>
            <a:off x="1273175" y="5270500"/>
            <a:ext cx="301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3133458-FDCC-4B06-8544-B3311C76675A}" type="datetime'''''''''''''''2''''''''''''''''''0''''''''''''''19'''''''''''">
              <a:rPr lang="en-US" altLang="en-US" sz="1000" smtClean="0"/>
              <a:pPr marL="0" lvl="0" indent="0" algn="ctr">
                <a:spcBef>
                  <a:spcPct val="0"/>
                </a:spcBef>
                <a:spcAft>
                  <a:spcPct val="0"/>
                </a:spcAft>
                <a:buNone/>
              </a:pPr>
              <a:t>2019</a:t>
            </a:fld>
            <a:endParaRPr lang="en-US" sz="1000" dirty="0"/>
          </a:p>
        </p:txBody>
      </p:sp>
      <p:sp>
        <p:nvSpPr>
          <p:cNvPr id="126" name="Text Placeholder 2">
            <a:extLst>
              <a:ext uri="{FF2B5EF4-FFF2-40B4-BE49-F238E27FC236}">
                <a16:creationId xmlns:a16="http://schemas.microsoft.com/office/drawing/2014/main" id="{72516E29-F219-8CC5-A5A9-8403C8275AEA}"/>
              </a:ext>
            </a:extLst>
          </p:cNvPr>
          <p:cNvSpPr>
            <a:spLocks/>
          </p:cNvSpPr>
          <p:nvPr>
            <p:custDataLst>
              <p:tags r:id="rId10"/>
            </p:custDataLst>
          </p:nvPr>
        </p:nvSpPr>
        <p:spPr bwMode="gray">
          <a:xfrm>
            <a:off x="2444750" y="3403600"/>
            <a:ext cx="3079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005250F-9EB4-4F05-8824-6D163AF77782}" type="datetime'''9'''''''''''''''''''''''''''''''''',''6''''''''''''''2'''">
              <a:rPr lang="en-US" altLang="en-US" sz="1000" smtClean="0"/>
              <a:pPr marL="0" lvl="0" indent="0" algn="ctr">
                <a:spcBef>
                  <a:spcPct val="0"/>
                </a:spcBef>
                <a:spcAft>
                  <a:spcPct val="0"/>
                </a:spcAft>
                <a:buNone/>
              </a:pPr>
              <a:t>9,62</a:t>
            </a:fld>
            <a:endParaRPr lang="en-US" sz="1000" dirty="0"/>
          </a:p>
        </p:txBody>
      </p:sp>
      <p:sp>
        <p:nvSpPr>
          <p:cNvPr id="127" name="Text Placeholder 2">
            <a:extLst>
              <a:ext uri="{FF2B5EF4-FFF2-40B4-BE49-F238E27FC236}">
                <a16:creationId xmlns:a16="http://schemas.microsoft.com/office/drawing/2014/main" id="{96E72014-E57C-4C66-CAEA-C99C15984419}"/>
              </a:ext>
            </a:extLst>
          </p:cNvPr>
          <p:cNvSpPr>
            <a:spLocks/>
          </p:cNvSpPr>
          <p:nvPr>
            <p:custDataLst>
              <p:tags r:id="rId11"/>
            </p:custDataLst>
          </p:nvPr>
        </p:nvSpPr>
        <p:spPr bwMode="gray">
          <a:xfrm>
            <a:off x="2451100" y="3910013"/>
            <a:ext cx="295275"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6D67138-8775-4A8F-BC12-97B945C1B061}" type="datetime'''''''''''''''5'''''''''',2''''''''''7'''''''''">
              <a:rPr lang="en-US" altLang="en-US" sz="1000" smtClean="0"/>
              <a:pPr marL="0" lvl="0" indent="0" algn="ctr">
                <a:spcBef>
                  <a:spcPct val="0"/>
                </a:spcBef>
                <a:spcAft>
                  <a:spcPct val="0"/>
                </a:spcAft>
                <a:buNone/>
              </a:pPr>
              <a:t>5,27</a:t>
            </a:fld>
            <a:endParaRPr lang="en-US" sz="1000" dirty="0"/>
          </a:p>
        </p:txBody>
      </p:sp>
      <p:sp>
        <p:nvSpPr>
          <p:cNvPr id="128" name="Text Placeholder 2">
            <a:extLst>
              <a:ext uri="{FF2B5EF4-FFF2-40B4-BE49-F238E27FC236}">
                <a16:creationId xmlns:a16="http://schemas.microsoft.com/office/drawing/2014/main" id="{2D080E43-9D47-27E4-2667-36E2767C0AE6}"/>
              </a:ext>
            </a:extLst>
          </p:cNvPr>
          <p:cNvSpPr>
            <a:spLocks/>
          </p:cNvSpPr>
          <p:nvPr>
            <p:custDataLst>
              <p:tags r:id="rId12"/>
            </p:custDataLst>
          </p:nvPr>
        </p:nvSpPr>
        <p:spPr bwMode="gray">
          <a:xfrm>
            <a:off x="2411413" y="4487863"/>
            <a:ext cx="374650" cy="40957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09D6CC7-321E-4CEE-8E42-26FD373B22AE}" type="datetime'''''45'''''''',''7''''''''''''''''''''''5'">
              <a:rPr lang="en-US" altLang="en-US" sz="1000" smtClean="0"/>
              <a:pPr marL="0" lvl="0" indent="0" algn="ctr">
                <a:spcBef>
                  <a:spcPct val="0"/>
                </a:spcBef>
                <a:spcAft>
                  <a:spcPct val="0"/>
                </a:spcAft>
                <a:buNone/>
              </a:pPr>
              <a:t>45,75</a:t>
            </a:fld>
            <a:endParaRPr lang="en-US" altLang="en-US" sz="1000" dirty="0"/>
          </a:p>
          <a:p>
            <a:pPr marL="0" lvl="0" indent="0" algn="ctr">
              <a:spcBef>
                <a:spcPct val="0"/>
              </a:spcBef>
              <a:spcAft>
                <a:spcPct val="0"/>
              </a:spcAft>
              <a:buNone/>
            </a:pPr>
            <a:endParaRPr lang="en-US" altLang="en-US" sz="1000" dirty="0"/>
          </a:p>
          <a:p>
            <a:pPr marL="0" lvl="0" indent="0" algn="ctr">
              <a:spcBef>
                <a:spcPct val="0"/>
              </a:spcBef>
              <a:spcAft>
                <a:spcPct val="0"/>
              </a:spcAft>
              <a:buNone/>
            </a:pPr>
            <a:endParaRPr lang="en-US" sz="1000" dirty="0"/>
          </a:p>
        </p:txBody>
      </p:sp>
      <p:sp>
        <p:nvSpPr>
          <p:cNvPr id="129" name="Text Placeholder 2">
            <a:extLst>
              <a:ext uri="{FF2B5EF4-FFF2-40B4-BE49-F238E27FC236}">
                <a16:creationId xmlns:a16="http://schemas.microsoft.com/office/drawing/2014/main" id="{46B5FA4D-CBD0-7E7F-A005-C3F011B7B040}"/>
              </a:ext>
            </a:extLst>
          </p:cNvPr>
          <p:cNvSpPr>
            <a:spLocks/>
          </p:cNvSpPr>
          <p:nvPr>
            <p:custDataLst>
              <p:tags r:id="rId13"/>
            </p:custDataLst>
          </p:nvPr>
        </p:nvSpPr>
        <p:spPr bwMode="auto">
          <a:xfrm>
            <a:off x="2435225" y="5270500"/>
            <a:ext cx="3270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6C727BE-3F37-42F8-808B-950098FE549D}" type="datetime'''''''''''2''''''''0''2''''''''''''''''''''''''''0'''">
              <a:rPr lang="en-US" altLang="en-US" sz="1000" smtClean="0"/>
              <a:pPr marL="0" lvl="0" indent="0" algn="ctr">
                <a:spcBef>
                  <a:spcPct val="0"/>
                </a:spcBef>
                <a:spcAft>
                  <a:spcPct val="0"/>
                </a:spcAft>
                <a:buNone/>
              </a:pPr>
              <a:t>2020</a:t>
            </a:fld>
            <a:endParaRPr lang="en-US" sz="1000" dirty="0"/>
          </a:p>
        </p:txBody>
      </p:sp>
      <p:sp>
        <p:nvSpPr>
          <p:cNvPr id="130" name="Text Placeholder 2">
            <a:extLst>
              <a:ext uri="{FF2B5EF4-FFF2-40B4-BE49-F238E27FC236}">
                <a16:creationId xmlns:a16="http://schemas.microsoft.com/office/drawing/2014/main" id="{C545BE88-FEEB-996D-BA69-F0965704C5EF}"/>
              </a:ext>
            </a:extLst>
          </p:cNvPr>
          <p:cNvSpPr>
            <a:spLocks/>
          </p:cNvSpPr>
          <p:nvPr>
            <p:custDataLst>
              <p:tags r:id="rId14"/>
            </p:custDataLst>
          </p:nvPr>
        </p:nvSpPr>
        <p:spPr bwMode="gray">
          <a:xfrm>
            <a:off x="3619500" y="2747963"/>
            <a:ext cx="3063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BA01249-9866-4402-BB74-4253E7AA55D3}" type="datetime'1''''''''''''''''''''''''''''''''''''2'''',''''''''''11'''">
              <a:rPr lang="en-US" altLang="en-US" sz="1000" smtClean="0"/>
              <a:pPr marL="0" lvl="0" indent="0" algn="ctr">
                <a:spcBef>
                  <a:spcPct val="0"/>
                </a:spcBef>
                <a:spcAft>
                  <a:spcPct val="0"/>
                </a:spcAft>
                <a:buNone/>
              </a:pPr>
              <a:t>12,11</a:t>
            </a:fld>
            <a:endParaRPr lang="en-US" sz="1000" dirty="0"/>
          </a:p>
        </p:txBody>
      </p:sp>
      <p:sp>
        <p:nvSpPr>
          <p:cNvPr id="131" name="Text Placeholder 2">
            <a:extLst>
              <a:ext uri="{FF2B5EF4-FFF2-40B4-BE49-F238E27FC236}">
                <a16:creationId xmlns:a16="http://schemas.microsoft.com/office/drawing/2014/main" id="{68840E1C-F5F5-7488-B1F5-4CDEFD1EC6F7}"/>
              </a:ext>
            </a:extLst>
          </p:cNvPr>
          <p:cNvSpPr>
            <a:spLocks/>
          </p:cNvSpPr>
          <p:nvPr>
            <p:custDataLst>
              <p:tags r:id="rId15"/>
            </p:custDataLst>
          </p:nvPr>
        </p:nvSpPr>
        <p:spPr bwMode="gray">
          <a:xfrm>
            <a:off x="3619500" y="3297238"/>
            <a:ext cx="304800"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F8B6CF28-B848-449A-8459-97916D5A408F}" type="datetime'''''''''''''''''''''''''''''4'''''''',''''''''''''0''''7'''''">
              <a:rPr lang="en-US" altLang="en-US" sz="1000" smtClean="0"/>
              <a:pPr marL="0" lvl="0" indent="0" algn="ctr">
                <a:spcBef>
                  <a:spcPct val="0"/>
                </a:spcBef>
                <a:spcAft>
                  <a:spcPct val="0"/>
                </a:spcAft>
                <a:buNone/>
              </a:pPr>
              <a:t>4,07</a:t>
            </a:fld>
            <a:endParaRPr lang="en-US" sz="1000" dirty="0"/>
          </a:p>
        </p:txBody>
      </p:sp>
      <p:sp>
        <p:nvSpPr>
          <p:cNvPr id="132" name="Text Placeholder 2">
            <a:extLst>
              <a:ext uri="{FF2B5EF4-FFF2-40B4-BE49-F238E27FC236}">
                <a16:creationId xmlns:a16="http://schemas.microsoft.com/office/drawing/2014/main" id="{CF9303B0-013A-1961-C766-1D047F99B64F}"/>
              </a:ext>
            </a:extLst>
          </p:cNvPr>
          <p:cNvSpPr>
            <a:spLocks/>
          </p:cNvSpPr>
          <p:nvPr>
            <p:custDataLst>
              <p:tags r:id="rId16"/>
            </p:custDataLst>
          </p:nvPr>
        </p:nvSpPr>
        <p:spPr bwMode="gray">
          <a:xfrm>
            <a:off x="3582988" y="4229100"/>
            <a:ext cx="377825" cy="273050"/>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3414362-EA49-411F-85BF-BD005121596B}" type="datetime'''''5''''''5'''''''''''''''''''''''''''',''''3''''''6'''''">
              <a:rPr lang="en-US" altLang="en-US" sz="1000" smtClean="0"/>
              <a:pPr marL="0" lvl="0" indent="0" algn="ctr">
                <a:spcBef>
                  <a:spcPct val="0"/>
                </a:spcBef>
                <a:spcAft>
                  <a:spcPct val="0"/>
                </a:spcAft>
                <a:buNone/>
              </a:pPr>
              <a:t>55,36</a:t>
            </a:fld>
            <a:endParaRPr lang="en-US" altLang="en-US" sz="1000" dirty="0"/>
          </a:p>
          <a:p>
            <a:pPr marL="0" lvl="0" indent="0" algn="ctr">
              <a:spcBef>
                <a:spcPct val="0"/>
              </a:spcBef>
              <a:spcAft>
                <a:spcPct val="0"/>
              </a:spcAft>
              <a:buNone/>
            </a:pPr>
            <a:endParaRPr lang="en-US" sz="1000" dirty="0"/>
          </a:p>
        </p:txBody>
      </p:sp>
      <p:sp>
        <p:nvSpPr>
          <p:cNvPr id="133" name="Text Placeholder 2">
            <a:extLst>
              <a:ext uri="{FF2B5EF4-FFF2-40B4-BE49-F238E27FC236}">
                <a16:creationId xmlns:a16="http://schemas.microsoft.com/office/drawing/2014/main" id="{19916CAE-B074-3937-65A2-D04943BC4643}"/>
              </a:ext>
            </a:extLst>
          </p:cNvPr>
          <p:cNvSpPr>
            <a:spLocks/>
          </p:cNvSpPr>
          <p:nvPr>
            <p:custDataLst>
              <p:tags r:id="rId17"/>
            </p:custDataLst>
          </p:nvPr>
        </p:nvSpPr>
        <p:spPr bwMode="auto">
          <a:xfrm>
            <a:off x="3622675" y="5270500"/>
            <a:ext cx="3000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82E3FD94-F459-41BA-ADAF-5E69E4D11C11}" type="datetime'''2''''''''''''''''02''1'''''''''''''''''''''''''">
              <a:rPr lang="en-US" altLang="en-US" sz="1000" smtClean="0"/>
              <a:pPr marL="0" lvl="0" indent="0" algn="ctr">
                <a:spcBef>
                  <a:spcPct val="0"/>
                </a:spcBef>
                <a:spcAft>
                  <a:spcPct val="0"/>
                </a:spcAft>
                <a:buNone/>
              </a:pPr>
              <a:t>2021</a:t>
            </a:fld>
            <a:endParaRPr lang="en-US" sz="1000" dirty="0"/>
          </a:p>
        </p:txBody>
      </p:sp>
      <p:sp>
        <p:nvSpPr>
          <p:cNvPr id="134" name="Text Placeholder 2">
            <a:extLst>
              <a:ext uri="{FF2B5EF4-FFF2-40B4-BE49-F238E27FC236}">
                <a16:creationId xmlns:a16="http://schemas.microsoft.com/office/drawing/2014/main" id="{BA64708F-1C54-2C9A-17A0-38577C9B1496}"/>
              </a:ext>
            </a:extLst>
          </p:cNvPr>
          <p:cNvSpPr>
            <a:spLocks/>
          </p:cNvSpPr>
          <p:nvPr>
            <p:custDataLst>
              <p:tags r:id="rId18"/>
            </p:custDataLst>
          </p:nvPr>
        </p:nvSpPr>
        <p:spPr bwMode="gray">
          <a:xfrm>
            <a:off x="4765675" y="3216275"/>
            <a:ext cx="3587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1BD97C9-C11C-4FC8-B156-DCC2DBD25462}" type="datetime'''''1''''''''''''''''''''''''''3'''''',''''0''''''2'''''">
              <a:rPr lang="en-US" altLang="en-US" sz="1000" smtClean="0"/>
              <a:pPr marL="0" lvl="0" indent="0" algn="ctr">
                <a:spcBef>
                  <a:spcPct val="0"/>
                </a:spcBef>
                <a:spcAft>
                  <a:spcPct val="0"/>
                </a:spcAft>
                <a:buNone/>
              </a:pPr>
              <a:t>13,02</a:t>
            </a:fld>
            <a:endParaRPr lang="en-US" sz="1000" dirty="0"/>
          </a:p>
        </p:txBody>
      </p:sp>
      <p:sp>
        <p:nvSpPr>
          <p:cNvPr id="135" name="Text Placeholder 2">
            <a:extLst>
              <a:ext uri="{FF2B5EF4-FFF2-40B4-BE49-F238E27FC236}">
                <a16:creationId xmlns:a16="http://schemas.microsoft.com/office/drawing/2014/main" id="{36D39EE6-52F0-60A6-5FA3-ACBD226C50AD}"/>
              </a:ext>
            </a:extLst>
          </p:cNvPr>
          <p:cNvSpPr>
            <a:spLocks/>
          </p:cNvSpPr>
          <p:nvPr>
            <p:custDataLst>
              <p:tags r:id="rId19"/>
            </p:custDataLst>
          </p:nvPr>
        </p:nvSpPr>
        <p:spPr bwMode="gray">
          <a:xfrm>
            <a:off x="4791075" y="3762375"/>
            <a:ext cx="307975"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C591DD0-47C5-4DF4-9B8E-C53D3ED2BE84}" type="datetime'''''''''''''''''''''''''''''3,''''''''''06'''''''''''''''''">
              <a:rPr lang="en-US" altLang="en-US" sz="1000" smtClean="0"/>
              <a:pPr marL="0" lvl="0" indent="0" algn="ctr">
                <a:spcBef>
                  <a:spcPct val="0"/>
                </a:spcBef>
                <a:spcAft>
                  <a:spcPct val="0"/>
                </a:spcAft>
                <a:buNone/>
              </a:pPr>
              <a:t>3,06</a:t>
            </a:fld>
            <a:endParaRPr lang="en-US" sz="1000" dirty="0"/>
          </a:p>
        </p:txBody>
      </p:sp>
      <p:sp>
        <p:nvSpPr>
          <p:cNvPr id="137" name="Text Placeholder 2">
            <a:extLst>
              <a:ext uri="{FF2B5EF4-FFF2-40B4-BE49-F238E27FC236}">
                <a16:creationId xmlns:a16="http://schemas.microsoft.com/office/drawing/2014/main" id="{BC395E1E-37E5-1267-7699-83C33053C128}"/>
              </a:ext>
            </a:extLst>
          </p:cNvPr>
          <p:cNvSpPr>
            <a:spLocks/>
          </p:cNvSpPr>
          <p:nvPr>
            <p:custDataLst>
              <p:tags r:id="rId20"/>
            </p:custDataLst>
          </p:nvPr>
        </p:nvSpPr>
        <p:spPr bwMode="auto">
          <a:xfrm>
            <a:off x="4759325" y="5270500"/>
            <a:ext cx="3730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51047777-A765-4C8E-A5B4-5DFA491EB6CE}" type="datetime'2''''02''''''''''2'">
              <a:rPr lang="en-US" altLang="en-US" sz="1000" smtClean="0"/>
              <a:pPr marL="0" lvl="0" indent="0" algn="ctr">
                <a:spcBef>
                  <a:spcPct val="0"/>
                </a:spcBef>
                <a:spcAft>
                  <a:spcPct val="0"/>
                </a:spcAft>
                <a:buNone/>
              </a:pPr>
              <a:t>2022</a:t>
            </a:fld>
            <a:r>
              <a:rPr lang="en-IN" sz="1000" baseline="30000" dirty="0"/>
              <a:t>§</a:t>
            </a:r>
            <a:endParaRPr lang="en-US" sz="1000" baseline="30000" dirty="0"/>
          </a:p>
        </p:txBody>
      </p:sp>
      <p:sp>
        <p:nvSpPr>
          <p:cNvPr id="138" name="Text Placeholder 2">
            <a:extLst>
              <a:ext uri="{FF2B5EF4-FFF2-40B4-BE49-F238E27FC236}">
                <a16:creationId xmlns:a16="http://schemas.microsoft.com/office/drawing/2014/main" id="{1432FA8B-4308-46DA-33B8-4216C5E8C43D}"/>
              </a:ext>
            </a:extLst>
          </p:cNvPr>
          <p:cNvSpPr>
            <a:spLocks/>
          </p:cNvSpPr>
          <p:nvPr>
            <p:custDataLst>
              <p:tags r:id="rId21"/>
            </p:custDataLst>
          </p:nvPr>
        </p:nvSpPr>
        <p:spPr bwMode="gray">
          <a:xfrm>
            <a:off x="5938838" y="3306763"/>
            <a:ext cx="3619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4A22E5F-0C24-4281-A512-380127B3159D}" type="datetime'''''''''1''''''4,2''''2'''''''''''''''''">
              <a:rPr lang="en-US" altLang="en-US" sz="1000" smtClean="0"/>
              <a:pPr marL="0" lvl="0" indent="0" algn="ctr">
                <a:spcBef>
                  <a:spcPct val="0"/>
                </a:spcBef>
                <a:spcAft>
                  <a:spcPct val="0"/>
                </a:spcAft>
                <a:buNone/>
              </a:pPr>
              <a:t>14,22</a:t>
            </a:fld>
            <a:endParaRPr lang="en-US" sz="1000" dirty="0"/>
          </a:p>
        </p:txBody>
      </p:sp>
      <p:sp>
        <p:nvSpPr>
          <p:cNvPr id="139" name="Text Placeholder 2">
            <a:extLst>
              <a:ext uri="{FF2B5EF4-FFF2-40B4-BE49-F238E27FC236}">
                <a16:creationId xmlns:a16="http://schemas.microsoft.com/office/drawing/2014/main" id="{A76A3FA7-EAC0-2029-4C26-9E193BECEB8E}"/>
              </a:ext>
            </a:extLst>
          </p:cNvPr>
          <p:cNvSpPr>
            <a:spLocks/>
          </p:cNvSpPr>
          <p:nvPr>
            <p:custDataLst>
              <p:tags r:id="rId22"/>
            </p:custDataLst>
          </p:nvPr>
        </p:nvSpPr>
        <p:spPr bwMode="gray">
          <a:xfrm>
            <a:off x="5970588" y="3883025"/>
            <a:ext cx="300038"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D8EA7E3A-4523-4A23-A793-B1136B60F46F}" type="datetime'''''2'''''''''',''''''''''''''''''''''''''''''''''''76'''''">
              <a:rPr lang="en-US" altLang="en-US" sz="1000" smtClean="0"/>
              <a:pPr marL="0" lvl="0" indent="0" algn="ctr">
                <a:spcBef>
                  <a:spcPct val="0"/>
                </a:spcBef>
                <a:spcAft>
                  <a:spcPct val="0"/>
                </a:spcAft>
                <a:buNone/>
              </a:pPr>
              <a:t>2,76</a:t>
            </a:fld>
            <a:endParaRPr lang="en-US" sz="1000" dirty="0"/>
          </a:p>
        </p:txBody>
      </p:sp>
      <p:sp>
        <p:nvSpPr>
          <p:cNvPr id="140" name="Text Placeholder 2">
            <a:extLst>
              <a:ext uri="{FF2B5EF4-FFF2-40B4-BE49-F238E27FC236}">
                <a16:creationId xmlns:a16="http://schemas.microsoft.com/office/drawing/2014/main" id="{D76E97C5-8F9F-CCAD-6FA8-ADE8E404FCE3}"/>
              </a:ext>
            </a:extLst>
          </p:cNvPr>
          <p:cNvSpPr>
            <a:spLocks/>
          </p:cNvSpPr>
          <p:nvPr>
            <p:custDataLst>
              <p:tags r:id="rId23"/>
            </p:custDataLst>
          </p:nvPr>
        </p:nvSpPr>
        <p:spPr bwMode="gray">
          <a:xfrm>
            <a:off x="5926138" y="4567238"/>
            <a:ext cx="387350"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C0ACD61-8714-4DF8-A917-651ED9E30DBB}" type="datetime'''''4''7'''''''''',4''''''''''''''''''''0'''''''''''">
              <a:rPr lang="en-US" altLang="en-US" sz="1000" smtClean="0"/>
              <a:pPr marL="0" lvl="0" indent="0" algn="ctr">
                <a:spcBef>
                  <a:spcPct val="0"/>
                </a:spcBef>
                <a:spcAft>
                  <a:spcPct val="0"/>
                </a:spcAft>
                <a:buNone/>
              </a:pPr>
              <a:t>47,40</a:t>
            </a:fld>
            <a:endParaRPr lang="en-US" sz="1000" dirty="0"/>
          </a:p>
        </p:txBody>
      </p:sp>
      <p:sp>
        <p:nvSpPr>
          <p:cNvPr id="141" name="Text Placeholder 2">
            <a:extLst>
              <a:ext uri="{FF2B5EF4-FFF2-40B4-BE49-F238E27FC236}">
                <a16:creationId xmlns:a16="http://schemas.microsoft.com/office/drawing/2014/main" id="{888913C5-45E2-740E-3F96-CB870626C057}"/>
              </a:ext>
            </a:extLst>
          </p:cNvPr>
          <p:cNvSpPr>
            <a:spLocks/>
          </p:cNvSpPr>
          <p:nvPr>
            <p:custDataLst>
              <p:tags r:id="rId24"/>
            </p:custDataLst>
          </p:nvPr>
        </p:nvSpPr>
        <p:spPr bwMode="auto">
          <a:xfrm>
            <a:off x="5921375" y="5270500"/>
            <a:ext cx="3968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BF9C99F6-DB04-49E5-A6C5-3377C65E3441}" type="datetime'''''''''''2''0''''''2''''''''3'''''''''">
              <a:rPr lang="en-US" altLang="en-US" sz="1000" smtClean="0"/>
              <a:pPr marL="0" lvl="0" indent="0" algn="ctr">
                <a:spcBef>
                  <a:spcPct val="0"/>
                </a:spcBef>
                <a:spcAft>
                  <a:spcPct val="0"/>
                </a:spcAft>
                <a:buNone/>
              </a:pPr>
              <a:t>2023</a:t>
            </a:fld>
            <a:r>
              <a:rPr lang="en-IN" sz="1000" baseline="30000" dirty="0"/>
              <a:t> §</a:t>
            </a:r>
            <a:endParaRPr lang="en-US" sz="1000" dirty="0"/>
          </a:p>
        </p:txBody>
      </p:sp>
      <p:sp>
        <p:nvSpPr>
          <p:cNvPr id="142" name="Text Placeholder 2">
            <a:extLst>
              <a:ext uri="{FF2B5EF4-FFF2-40B4-BE49-F238E27FC236}">
                <a16:creationId xmlns:a16="http://schemas.microsoft.com/office/drawing/2014/main" id="{B53C11E8-C49D-4612-252E-9EF6044B420F}"/>
              </a:ext>
            </a:extLst>
          </p:cNvPr>
          <p:cNvSpPr>
            <a:spLocks/>
          </p:cNvSpPr>
          <p:nvPr>
            <p:custDataLst>
              <p:tags r:id="rId25"/>
            </p:custDataLst>
          </p:nvPr>
        </p:nvSpPr>
        <p:spPr bwMode="gray">
          <a:xfrm>
            <a:off x="7129463" y="3073400"/>
            <a:ext cx="3286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6892B45-0F41-476A-9939-8C0A89A6A615}" type="datetime'''''''''''''''15'',''''''''''''''''''1''3'''''''''''''">
              <a:rPr lang="en-US" altLang="en-US" sz="1000" smtClean="0"/>
              <a:pPr marL="0" lvl="0" indent="0" algn="ctr">
                <a:spcBef>
                  <a:spcPct val="0"/>
                </a:spcBef>
                <a:spcAft>
                  <a:spcPct val="0"/>
                </a:spcAft>
                <a:buNone/>
              </a:pPr>
              <a:t>15,13</a:t>
            </a:fld>
            <a:endParaRPr lang="en-US" sz="1000" dirty="0"/>
          </a:p>
        </p:txBody>
      </p:sp>
      <p:sp>
        <p:nvSpPr>
          <p:cNvPr id="143" name="Text Placeholder 2">
            <a:extLst>
              <a:ext uri="{FF2B5EF4-FFF2-40B4-BE49-F238E27FC236}">
                <a16:creationId xmlns:a16="http://schemas.microsoft.com/office/drawing/2014/main" id="{F12AB7A8-2651-D712-59C8-70FEB694EC88}"/>
              </a:ext>
            </a:extLst>
          </p:cNvPr>
          <p:cNvSpPr>
            <a:spLocks/>
          </p:cNvSpPr>
          <p:nvPr>
            <p:custDataLst>
              <p:tags r:id="rId26"/>
            </p:custDataLst>
          </p:nvPr>
        </p:nvSpPr>
        <p:spPr bwMode="gray">
          <a:xfrm>
            <a:off x="7140575" y="3683000"/>
            <a:ext cx="306388" cy="136525"/>
          </a:xfrm>
          <a:prstGeom prst="rect">
            <a:avLst/>
          </a:prstGeom>
          <a:noFill/>
          <a:ln>
            <a:noFill/>
          </a:ln>
          <a:effectLst/>
          <a:extLst>
            <a:ext uri="{909E8E84-426E-40DD-AFC4-6F175D3DCCD1}">
              <a14:hiddenFill xmlns:a14="http://schemas.microsoft.com/office/drawing/2010/main">
                <a:solidFill>
                  <a:srgbClr val="F9560C"/>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4F64A946-2F69-46AD-B474-A341970D4612}" type="datetime'''''''''''''2'''''',''''''''''''''8''''''''''''''''''0'''''">
              <a:rPr lang="en-US" altLang="en-US" sz="1000" smtClean="0"/>
              <a:pPr marL="0" lvl="0" indent="0" algn="ctr">
                <a:spcBef>
                  <a:spcPct val="0"/>
                </a:spcBef>
                <a:spcAft>
                  <a:spcPct val="0"/>
                </a:spcAft>
                <a:buNone/>
              </a:pPr>
              <a:t>2,80</a:t>
            </a:fld>
            <a:endParaRPr lang="en-US" sz="1000" dirty="0"/>
          </a:p>
        </p:txBody>
      </p:sp>
      <p:sp>
        <p:nvSpPr>
          <p:cNvPr id="144" name="Text Placeholder 2">
            <a:extLst>
              <a:ext uri="{FF2B5EF4-FFF2-40B4-BE49-F238E27FC236}">
                <a16:creationId xmlns:a16="http://schemas.microsoft.com/office/drawing/2014/main" id="{1D0BCB9C-5E2A-AC2E-E788-F3823C44901B}"/>
              </a:ext>
            </a:extLst>
          </p:cNvPr>
          <p:cNvSpPr>
            <a:spLocks/>
          </p:cNvSpPr>
          <p:nvPr>
            <p:custDataLst>
              <p:tags r:id="rId27"/>
            </p:custDataLst>
          </p:nvPr>
        </p:nvSpPr>
        <p:spPr bwMode="gray">
          <a:xfrm>
            <a:off x="7102475" y="4468813"/>
            <a:ext cx="381000"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4DE74AED-7956-47F6-BF6A-C1105B339517}" type="datetime'''''''''''50'''''''',''3''2'''''''''''''''">
              <a:rPr lang="en-US" altLang="en-US" sz="1000" smtClean="0"/>
              <a:pPr marL="0" lvl="0" indent="0" algn="ctr">
                <a:spcBef>
                  <a:spcPct val="0"/>
                </a:spcBef>
                <a:spcAft>
                  <a:spcPct val="0"/>
                </a:spcAft>
                <a:buNone/>
              </a:pPr>
              <a:t>50,32</a:t>
            </a:fld>
            <a:endParaRPr lang="en-US" sz="1000" dirty="0"/>
          </a:p>
        </p:txBody>
      </p:sp>
      <p:sp>
        <p:nvSpPr>
          <p:cNvPr id="145" name="Text Placeholder 2">
            <a:extLst>
              <a:ext uri="{FF2B5EF4-FFF2-40B4-BE49-F238E27FC236}">
                <a16:creationId xmlns:a16="http://schemas.microsoft.com/office/drawing/2014/main" id="{7D417223-B997-F846-6748-96E382951AD5}"/>
              </a:ext>
            </a:extLst>
          </p:cNvPr>
          <p:cNvSpPr>
            <a:spLocks/>
          </p:cNvSpPr>
          <p:nvPr>
            <p:custDataLst>
              <p:tags r:id="rId28"/>
            </p:custDataLst>
          </p:nvPr>
        </p:nvSpPr>
        <p:spPr bwMode="auto">
          <a:xfrm>
            <a:off x="7092950" y="5270500"/>
            <a:ext cx="4016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8F5CF16-E949-4CFF-9923-641D1EF51E4A}" type="datetime'2''''''''''''0''''''2''''''4'''''''''''''''''''''''''''''">
              <a:rPr lang="en-US" altLang="en-US" sz="1000" smtClean="0"/>
              <a:pPr marL="0" lvl="0" indent="0" algn="ctr">
                <a:spcBef>
                  <a:spcPct val="0"/>
                </a:spcBef>
                <a:spcAft>
                  <a:spcPct val="0"/>
                </a:spcAft>
                <a:buNone/>
              </a:pPr>
              <a:t>2024</a:t>
            </a:fld>
            <a:r>
              <a:rPr lang="en-IN" sz="1000" baseline="30000" dirty="0"/>
              <a:t> §</a:t>
            </a:r>
            <a:endParaRPr lang="en-US" sz="1000" dirty="0"/>
          </a:p>
        </p:txBody>
      </p:sp>
      <p:sp>
        <p:nvSpPr>
          <p:cNvPr id="146" name="Text Placeholder 2">
            <a:extLst>
              <a:ext uri="{FF2B5EF4-FFF2-40B4-BE49-F238E27FC236}">
                <a16:creationId xmlns:a16="http://schemas.microsoft.com/office/drawing/2014/main" id="{944DE699-AD57-EF22-7F1C-07DD472BA48A}"/>
              </a:ext>
            </a:extLst>
          </p:cNvPr>
          <p:cNvSpPr>
            <a:spLocks/>
          </p:cNvSpPr>
          <p:nvPr>
            <p:custDataLst>
              <p:tags r:id="rId29"/>
            </p:custDataLst>
          </p:nvPr>
        </p:nvSpPr>
        <p:spPr bwMode="gray">
          <a:xfrm>
            <a:off x="1263650" y="3627438"/>
            <a:ext cx="322263"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312D991-8742-4EDC-A81A-F070768A0045}" type="datetime'51'''''',''''1''7'''''''''''''''">
              <a:rPr lang="en-US" altLang="en-US" sz="1000" smtClean="0"/>
              <a:pPr marL="0" lvl="0" indent="0" algn="ctr">
                <a:spcBef>
                  <a:spcPct val="0"/>
                </a:spcBef>
                <a:spcAft>
                  <a:spcPct val="0"/>
                </a:spcAft>
                <a:buNone/>
              </a:pPr>
              <a:t>51,17</a:t>
            </a:fld>
            <a:endParaRPr lang="en-US" sz="1000" dirty="0"/>
          </a:p>
        </p:txBody>
      </p:sp>
      <p:sp>
        <p:nvSpPr>
          <p:cNvPr id="147" name="Text Placeholder 2">
            <a:extLst>
              <a:ext uri="{FF2B5EF4-FFF2-40B4-BE49-F238E27FC236}">
                <a16:creationId xmlns:a16="http://schemas.microsoft.com/office/drawing/2014/main" id="{EAF54A1D-1D94-6B63-0DBE-E9DC0DBF29D4}"/>
              </a:ext>
            </a:extLst>
          </p:cNvPr>
          <p:cNvSpPr>
            <a:spLocks/>
          </p:cNvSpPr>
          <p:nvPr>
            <p:custDataLst>
              <p:tags r:id="rId30"/>
            </p:custDataLst>
          </p:nvPr>
        </p:nvSpPr>
        <p:spPr bwMode="gray">
          <a:xfrm>
            <a:off x="2403475" y="2984500"/>
            <a:ext cx="392113"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6B70F3A-38A7-419F-B0D3-9541915A401B}" type="datetime'6''''''''''0'''''''',''''6''''''''''''''''4'''''''''''''''">
              <a:rPr lang="en-US" altLang="en-US" sz="1000" smtClean="0"/>
              <a:pPr marL="0" lvl="0" indent="0" algn="ctr">
                <a:spcBef>
                  <a:spcPct val="0"/>
                </a:spcBef>
                <a:spcAft>
                  <a:spcPct val="0"/>
                </a:spcAft>
                <a:buNone/>
              </a:pPr>
              <a:t>60,64</a:t>
            </a:fld>
            <a:endParaRPr lang="en-US" sz="1000" dirty="0"/>
          </a:p>
        </p:txBody>
      </p:sp>
      <p:sp>
        <p:nvSpPr>
          <p:cNvPr id="148" name="Text Placeholder 2">
            <a:extLst>
              <a:ext uri="{FF2B5EF4-FFF2-40B4-BE49-F238E27FC236}">
                <a16:creationId xmlns:a16="http://schemas.microsoft.com/office/drawing/2014/main" id="{9FEB4370-843B-76A8-3B5B-5FDAE0B34E0E}"/>
              </a:ext>
            </a:extLst>
          </p:cNvPr>
          <p:cNvSpPr>
            <a:spLocks/>
          </p:cNvSpPr>
          <p:nvPr>
            <p:custDataLst>
              <p:tags r:id="rId31"/>
            </p:custDataLst>
          </p:nvPr>
        </p:nvSpPr>
        <p:spPr bwMode="gray">
          <a:xfrm>
            <a:off x="3595688" y="2243138"/>
            <a:ext cx="3524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9799CDEC-402C-4BEF-AE5A-BC732135A602}" type="datetime'''''''''''''''''''''''71'''''''''''''''''''',''''''''''54'">
              <a:rPr lang="en-US" altLang="en-US" sz="1000" smtClean="0"/>
              <a:pPr marL="0" lvl="0" indent="0" algn="ctr">
                <a:spcBef>
                  <a:spcPct val="0"/>
                </a:spcBef>
                <a:spcAft>
                  <a:spcPct val="0"/>
                </a:spcAft>
                <a:buNone/>
              </a:pPr>
              <a:t>71,54</a:t>
            </a:fld>
            <a:endParaRPr lang="en-US" sz="1000" dirty="0"/>
          </a:p>
        </p:txBody>
      </p:sp>
      <p:sp>
        <p:nvSpPr>
          <p:cNvPr id="149" name="Text Placeholder 2">
            <a:extLst>
              <a:ext uri="{FF2B5EF4-FFF2-40B4-BE49-F238E27FC236}">
                <a16:creationId xmlns:a16="http://schemas.microsoft.com/office/drawing/2014/main" id="{F48B2239-0340-D3E1-A0AF-785B3BCD94D3}"/>
              </a:ext>
            </a:extLst>
          </p:cNvPr>
          <p:cNvSpPr>
            <a:spLocks/>
          </p:cNvSpPr>
          <p:nvPr>
            <p:custDataLst>
              <p:tags r:id="rId32"/>
            </p:custDataLst>
          </p:nvPr>
        </p:nvSpPr>
        <p:spPr bwMode="gray">
          <a:xfrm>
            <a:off x="4767263" y="2681288"/>
            <a:ext cx="35718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4858FB9-3AFF-47D1-A0DD-88733E594AD1}" type="datetime'''''''6''''''''''''5'''''''',''''1''0'''''''">
              <a:rPr lang="en-US" altLang="en-US" sz="1000" smtClean="0"/>
              <a:pPr marL="0" lvl="0" indent="0" algn="ctr">
                <a:spcBef>
                  <a:spcPct val="0"/>
                </a:spcBef>
                <a:spcAft>
                  <a:spcPct val="0"/>
                </a:spcAft>
                <a:buNone/>
              </a:pPr>
              <a:t>65,10</a:t>
            </a:fld>
            <a:endParaRPr lang="en-US" sz="1000" dirty="0"/>
          </a:p>
        </p:txBody>
      </p:sp>
      <p:sp>
        <p:nvSpPr>
          <p:cNvPr id="150" name="Text Placeholder 2">
            <a:extLst>
              <a:ext uri="{FF2B5EF4-FFF2-40B4-BE49-F238E27FC236}">
                <a16:creationId xmlns:a16="http://schemas.microsoft.com/office/drawing/2014/main" id="{AECC40A2-835B-DFCD-687F-91A659D3F947}"/>
              </a:ext>
            </a:extLst>
          </p:cNvPr>
          <p:cNvSpPr>
            <a:spLocks/>
          </p:cNvSpPr>
          <p:nvPr>
            <p:custDataLst>
              <p:tags r:id="rId33"/>
            </p:custDataLst>
          </p:nvPr>
        </p:nvSpPr>
        <p:spPr bwMode="gray">
          <a:xfrm>
            <a:off x="5926138" y="2730500"/>
            <a:ext cx="38893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8F7FB70-CEF2-4B34-B1E6-85E0258A1CD1}" type="datetime'6''''''''''''''''''''''''4'',''''3''''''''''8'''''''''''''">
              <a:rPr lang="en-US" altLang="en-US" sz="1000" smtClean="0"/>
              <a:pPr marL="0" lvl="0" indent="0" algn="ctr">
                <a:spcBef>
                  <a:spcPct val="0"/>
                </a:spcBef>
                <a:spcAft>
                  <a:spcPct val="0"/>
                </a:spcAft>
                <a:buNone/>
              </a:pPr>
              <a:t>64,38</a:t>
            </a:fld>
            <a:endParaRPr lang="en-US" sz="1000" dirty="0"/>
          </a:p>
        </p:txBody>
      </p:sp>
      <p:sp>
        <p:nvSpPr>
          <p:cNvPr id="151" name="Text Placeholder 2">
            <a:extLst>
              <a:ext uri="{FF2B5EF4-FFF2-40B4-BE49-F238E27FC236}">
                <a16:creationId xmlns:a16="http://schemas.microsoft.com/office/drawing/2014/main" id="{04D44E45-DCAE-8836-76C8-70D491F1F2DD}"/>
              </a:ext>
            </a:extLst>
          </p:cNvPr>
          <p:cNvSpPr>
            <a:spLocks/>
          </p:cNvSpPr>
          <p:nvPr>
            <p:custDataLst>
              <p:tags r:id="rId34"/>
            </p:custDataLst>
          </p:nvPr>
        </p:nvSpPr>
        <p:spPr bwMode="gray">
          <a:xfrm>
            <a:off x="7102475" y="2466975"/>
            <a:ext cx="382588" cy="136525"/>
          </a:xfrm>
          <a:prstGeom prst="rect">
            <a:avLst/>
          </a:prstGeom>
          <a:noFill/>
          <a:ln>
            <a:noFill/>
          </a:ln>
          <a:effectLst/>
          <a:extLst>
            <a:ext uri="{909E8E84-426E-40DD-AFC4-6F175D3DCCD1}">
              <a14:hiddenFill xmlns:a14="http://schemas.microsoft.com/office/drawing/2010/main">
                <a:solidFill>
                  <a:prstClr val="black"/>
                </a:solidFill>
              </a14:hiddenFill>
            </a:ext>
          </a:extLst>
        </p:spPr>
        <p:txBody>
          <a:bodyPr vert="horz" wrap="none" lIns="17463" tIns="0" rIns="17463"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8D46DB2-99C2-4D9E-B21C-A416405E9866}" type="datetime'6''''''''''''''''''''''8'''',''''2''''''''''''''''''''''''''5'">
              <a:rPr lang="en-US" altLang="en-US" sz="1000" smtClean="0"/>
              <a:pPr marL="0" lvl="0" indent="0" algn="ctr">
                <a:spcBef>
                  <a:spcPct val="0"/>
                </a:spcBef>
                <a:spcAft>
                  <a:spcPct val="0"/>
                </a:spcAft>
                <a:buNone/>
              </a:pPr>
              <a:t>68,25</a:t>
            </a:fld>
            <a:endParaRPr lang="en-US" sz="1000" dirty="0"/>
          </a:p>
        </p:txBody>
      </p:sp>
      <p:sp>
        <p:nvSpPr>
          <p:cNvPr id="136" name="Text Placeholder 2">
            <a:extLst>
              <a:ext uri="{FF2B5EF4-FFF2-40B4-BE49-F238E27FC236}">
                <a16:creationId xmlns:a16="http://schemas.microsoft.com/office/drawing/2014/main" id="{74358888-E0E3-096D-7DA4-79EB6A93E8E2}"/>
              </a:ext>
            </a:extLst>
          </p:cNvPr>
          <p:cNvSpPr>
            <a:spLocks/>
          </p:cNvSpPr>
          <p:nvPr>
            <p:custDataLst>
              <p:tags r:id="rId35"/>
            </p:custDataLst>
          </p:nvPr>
        </p:nvSpPr>
        <p:spPr bwMode="gray">
          <a:xfrm>
            <a:off x="4749800" y="4513263"/>
            <a:ext cx="390525" cy="136525"/>
          </a:xfrm>
          <a:prstGeom prst="rect">
            <a:avLst/>
          </a:prstGeom>
          <a:noFill/>
          <a:ln>
            <a:noFill/>
          </a:ln>
          <a:effectLst/>
          <a:extLst>
            <a:ext uri="{909E8E84-426E-40DD-AFC4-6F175D3DCCD1}">
              <a14:hiddenFill xmlns:a14="http://schemas.microsoft.com/office/drawing/2010/main">
                <a:solidFill>
                  <a:srgbClr val="AA3804"/>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8DAF589-2FCA-43D8-841F-EFF15DEA4D64}" type="datetime'''''49,''''''0''2'''''''''''''''''''''''">
              <a:rPr lang="en-US" altLang="en-US" sz="1000" smtClean="0"/>
              <a:pPr marL="0" lvl="0" indent="0" algn="ctr">
                <a:spcBef>
                  <a:spcPct val="0"/>
                </a:spcBef>
                <a:spcAft>
                  <a:spcPct val="0"/>
                </a:spcAft>
                <a:buNone/>
              </a:pPr>
              <a:t>49,02</a:t>
            </a:fld>
            <a:endParaRPr lang="en-US" sz="1000" dirty="0"/>
          </a:p>
        </p:txBody>
      </p:sp>
      <p:graphicFrame>
        <p:nvGraphicFramePr>
          <p:cNvPr id="338" name="Chart 337">
            <a:extLst>
              <a:ext uri="{FF2B5EF4-FFF2-40B4-BE49-F238E27FC236}">
                <a16:creationId xmlns:a16="http://schemas.microsoft.com/office/drawing/2014/main" id="{31474D57-5DE4-A590-A7E1-D59435523B2D}"/>
              </a:ext>
            </a:extLst>
          </p:cNvPr>
          <p:cNvGraphicFramePr/>
          <p:nvPr>
            <p:custDataLst>
              <p:tags r:id="rId36"/>
            </p:custDataLst>
            <p:extLst>
              <p:ext uri="{D42A27DB-BD31-4B8C-83A1-F6EECF244321}">
                <p14:modId xmlns:p14="http://schemas.microsoft.com/office/powerpoint/2010/main" val="2219095588"/>
              </p:ext>
            </p:extLst>
          </p:nvPr>
        </p:nvGraphicFramePr>
        <p:xfrm>
          <a:off x="755650" y="4471988"/>
          <a:ext cx="7207250" cy="838200"/>
        </p:xfrm>
        <a:graphic>
          <a:graphicData uri="http://schemas.openxmlformats.org/drawingml/2006/chart">
            <c:chart xmlns:c="http://schemas.openxmlformats.org/drawingml/2006/chart" xmlns:r="http://schemas.openxmlformats.org/officeDocument/2006/relationships" r:id="rId60"/>
          </a:graphicData>
        </a:graphic>
      </p:graphicFrame>
      <p:sp>
        <p:nvSpPr>
          <p:cNvPr id="259" name="Text Placeholder 2">
            <a:extLst>
              <a:ext uri="{FF2B5EF4-FFF2-40B4-BE49-F238E27FC236}">
                <a16:creationId xmlns:a16="http://schemas.microsoft.com/office/drawing/2014/main" id="{D77BBC3C-CEC7-6BA1-7727-22B1BA6E6322}"/>
              </a:ext>
            </a:extLst>
          </p:cNvPr>
          <p:cNvSpPr>
            <a:spLocks/>
          </p:cNvSpPr>
          <p:nvPr>
            <p:custDataLst>
              <p:tags r:id="rId37"/>
            </p:custDataLst>
          </p:nvPr>
        </p:nvSpPr>
        <p:spPr bwMode="gray">
          <a:xfrm>
            <a:off x="608013" y="5137150"/>
            <a:ext cx="1127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D650F7B-D72D-4118-B8E4-F9501E834E47}" type="datetime'''''''''''''''''''''''''''''''''''''0'''''">
              <a:rPr lang="en-US" altLang="en-US" sz="1400" smtClean="0">
                <a:solidFill>
                  <a:srgbClr val="3A3A3A"/>
                </a:solidFill>
                <a:effectLst/>
              </a:rPr>
              <a:pPr marL="0" lvl="0" indent="0" algn="r">
                <a:spcBef>
                  <a:spcPct val="0"/>
                </a:spcBef>
                <a:spcAft>
                  <a:spcPct val="0"/>
                </a:spcAft>
                <a:buNone/>
              </a:pPr>
              <a:t>0</a:t>
            </a:fld>
            <a:endParaRPr lang="en-US" sz="1400" dirty="0">
              <a:solidFill>
                <a:srgbClr val="3A3A3A"/>
              </a:solidFill>
            </a:endParaRPr>
          </a:p>
        </p:txBody>
      </p:sp>
      <p:sp>
        <p:nvSpPr>
          <p:cNvPr id="300" name="Text Placeholder 2">
            <a:extLst>
              <a:ext uri="{FF2B5EF4-FFF2-40B4-BE49-F238E27FC236}">
                <a16:creationId xmlns:a16="http://schemas.microsoft.com/office/drawing/2014/main" id="{D77BBC3C-CEC7-6BA1-7727-22B1BA6E6322}"/>
              </a:ext>
            </a:extLst>
          </p:cNvPr>
          <p:cNvSpPr>
            <a:spLocks/>
          </p:cNvSpPr>
          <p:nvPr>
            <p:custDataLst>
              <p:tags r:id="rId38"/>
            </p:custDataLst>
          </p:nvPr>
        </p:nvSpPr>
        <p:spPr bwMode="gray">
          <a:xfrm>
            <a:off x="503238" y="4913313"/>
            <a:ext cx="2174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F8FC1CC-99DC-40F1-BB3B-6F61D0BC3B72}" type="datetime'5''''''''''''''''''0'''''''''''''''''''''''''''">
              <a:rPr lang="en-US" altLang="en-US" sz="1400" smtClean="0">
                <a:solidFill>
                  <a:srgbClr val="3A3A3A"/>
                </a:solidFill>
                <a:effectLst/>
              </a:rPr>
              <a:pPr marL="0" lvl="0" indent="0" algn="r">
                <a:spcBef>
                  <a:spcPct val="0"/>
                </a:spcBef>
                <a:spcAft>
                  <a:spcPct val="0"/>
                </a:spcAft>
                <a:buNone/>
              </a:pPr>
              <a:t>50</a:t>
            </a:fld>
            <a:endParaRPr lang="en-US" sz="1400" dirty="0">
              <a:solidFill>
                <a:srgbClr val="3A3A3A"/>
              </a:solidFill>
            </a:endParaRPr>
          </a:p>
        </p:txBody>
      </p:sp>
      <p:sp>
        <p:nvSpPr>
          <p:cNvPr id="227" name="Text Placeholder 2">
            <a:extLst>
              <a:ext uri="{FF2B5EF4-FFF2-40B4-BE49-F238E27FC236}">
                <a16:creationId xmlns:a16="http://schemas.microsoft.com/office/drawing/2014/main" id="{F7AE3E3C-E0AC-0BE8-7A4C-68D47701B85E}"/>
              </a:ext>
            </a:extLst>
          </p:cNvPr>
          <p:cNvSpPr>
            <a:spLocks/>
          </p:cNvSpPr>
          <p:nvPr>
            <p:custDataLst>
              <p:tags r:id="rId39"/>
            </p:custDataLst>
          </p:nvPr>
        </p:nvSpPr>
        <p:spPr bwMode="gray">
          <a:xfrm>
            <a:off x="422275" y="4687888"/>
            <a:ext cx="2984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92B74C7-0BE6-4A90-BE45-52070ABA1529}" type="datetime'''''''''''''''''''''1''''''''00'''">
              <a:rPr lang="en-US" altLang="en-US" sz="1400" smtClean="0">
                <a:solidFill>
                  <a:srgbClr val="3A3A3A"/>
                </a:solidFill>
              </a:rPr>
              <a:pPr marL="0" lvl="0" indent="0" algn="r">
                <a:spcBef>
                  <a:spcPct val="0"/>
                </a:spcBef>
                <a:spcAft>
                  <a:spcPct val="0"/>
                </a:spcAft>
                <a:buNone/>
              </a:pPr>
              <a:t>100</a:t>
            </a:fld>
            <a:endParaRPr lang="en-US" sz="1400" dirty="0">
              <a:solidFill>
                <a:srgbClr val="3A3A3A"/>
              </a:solidFill>
            </a:endParaRPr>
          </a:p>
        </p:txBody>
      </p:sp>
      <p:sp>
        <p:nvSpPr>
          <p:cNvPr id="301" name="Text Placeholder 2">
            <a:extLst>
              <a:ext uri="{FF2B5EF4-FFF2-40B4-BE49-F238E27FC236}">
                <a16:creationId xmlns:a16="http://schemas.microsoft.com/office/drawing/2014/main" id="{D77BBC3C-CEC7-6BA1-7727-22B1BA6E6322}"/>
              </a:ext>
            </a:extLst>
          </p:cNvPr>
          <p:cNvSpPr>
            <a:spLocks/>
          </p:cNvSpPr>
          <p:nvPr>
            <p:custDataLst>
              <p:tags r:id="rId40"/>
            </p:custDataLst>
          </p:nvPr>
        </p:nvSpPr>
        <p:spPr bwMode="gray">
          <a:xfrm>
            <a:off x="430213" y="4464050"/>
            <a:ext cx="2905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989A1BB-839F-4DD3-BFAE-9BA24DFBE1CD}" type="datetime'''''''''''''''''1''''''''''''''''''''''''''''5''0'''''''">
              <a:rPr lang="en-US" altLang="en-US" sz="1400" smtClean="0">
                <a:solidFill>
                  <a:srgbClr val="3A3A3A"/>
                </a:solidFill>
                <a:effectLst/>
              </a:rPr>
              <a:pPr marL="0" lvl="0" indent="0" algn="r">
                <a:spcBef>
                  <a:spcPct val="0"/>
                </a:spcBef>
                <a:spcAft>
                  <a:spcPct val="0"/>
                </a:spcAft>
                <a:buNone/>
              </a:pPr>
              <a:t>150</a:t>
            </a:fld>
            <a:endParaRPr lang="en-US" sz="1400" dirty="0">
              <a:solidFill>
                <a:srgbClr val="3A3A3A"/>
              </a:solidFill>
            </a:endParaRPr>
          </a:p>
        </p:txBody>
      </p:sp>
      <p:sp useBgFill="1">
        <p:nvSpPr>
          <p:cNvPr id="231" name="Text Placeholder 2">
            <a:extLst>
              <a:ext uri="{FF2B5EF4-FFF2-40B4-BE49-F238E27FC236}">
                <a16:creationId xmlns:a16="http://schemas.microsoft.com/office/drawing/2014/main" id="{40E70A15-E17D-7D47-ECA9-DEADDF33EFF9}"/>
              </a:ext>
            </a:extLst>
          </p:cNvPr>
          <p:cNvSpPr>
            <a:spLocks/>
          </p:cNvSpPr>
          <p:nvPr>
            <p:custDataLst>
              <p:tags r:id="rId41"/>
            </p:custDataLst>
          </p:nvPr>
        </p:nvSpPr>
        <p:spPr bwMode="gray">
          <a:xfrm>
            <a:off x="1246188" y="4608513"/>
            <a:ext cx="357188"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F7F89EA-F2FF-4AA8-AEFA-6E102421AABF}" type="datetime'''''''''1''''2''''''''''''''''''''2,8'">
              <a:rPr lang="en-US" altLang="en-US" sz="1000" smtClean="0"/>
              <a:pPr marL="0" lvl="0" indent="0" algn="ctr">
                <a:spcBef>
                  <a:spcPct val="0"/>
                </a:spcBef>
                <a:spcAft>
                  <a:spcPct val="0"/>
                </a:spcAft>
                <a:buNone/>
              </a:pPr>
              <a:t>122,8</a:t>
            </a:fld>
            <a:endParaRPr lang="en-US" sz="1000" dirty="0"/>
          </a:p>
        </p:txBody>
      </p:sp>
      <p:sp useBgFill="1">
        <p:nvSpPr>
          <p:cNvPr id="229" name="Text Placeholder 2">
            <a:extLst>
              <a:ext uri="{FF2B5EF4-FFF2-40B4-BE49-F238E27FC236}">
                <a16:creationId xmlns:a16="http://schemas.microsoft.com/office/drawing/2014/main" id="{FBCC37F9-3C94-FB54-EF80-B0471B2C7D9C}"/>
              </a:ext>
            </a:extLst>
          </p:cNvPr>
          <p:cNvSpPr>
            <a:spLocks/>
          </p:cNvSpPr>
          <p:nvPr>
            <p:custDataLst>
              <p:tags r:id="rId42"/>
            </p:custDataLst>
          </p:nvPr>
        </p:nvSpPr>
        <p:spPr bwMode="gray">
          <a:xfrm>
            <a:off x="2422525" y="4699000"/>
            <a:ext cx="352425"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3F35DDD-2101-4877-9A52-DEC1E6B36282}" type="datetime'''''1''''''''''''''''''''02'',''''''''''''''''''''''''''''7'">
              <a:rPr lang="en-US" altLang="en-US" sz="1000" smtClean="0">
                <a:effectLst/>
              </a:rPr>
              <a:pPr marL="0" lvl="0" indent="0" algn="ctr">
                <a:spcBef>
                  <a:spcPct val="0"/>
                </a:spcBef>
                <a:spcAft>
                  <a:spcPct val="0"/>
                </a:spcAft>
                <a:buNone/>
              </a:pPr>
              <a:t>102,7</a:t>
            </a:fld>
            <a:endParaRPr lang="en-US" sz="1000" dirty="0"/>
          </a:p>
        </p:txBody>
      </p:sp>
      <p:sp useBgFill="1">
        <p:nvSpPr>
          <p:cNvPr id="230" name="Text Placeholder 2">
            <a:extLst>
              <a:ext uri="{FF2B5EF4-FFF2-40B4-BE49-F238E27FC236}">
                <a16:creationId xmlns:a16="http://schemas.microsoft.com/office/drawing/2014/main" id="{0AC064A7-72F0-4377-AF3A-634C57BE98F7}"/>
              </a:ext>
            </a:extLst>
          </p:cNvPr>
          <p:cNvSpPr>
            <a:spLocks/>
          </p:cNvSpPr>
          <p:nvPr>
            <p:custDataLst>
              <p:tags r:id="rId43"/>
            </p:custDataLst>
          </p:nvPr>
        </p:nvSpPr>
        <p:spPr bwMode="gray">
          <a:xfrm>
            <a:off x="3592513" y="4706938"/>
            <a:ext cx="360363"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CA5D05A-E6C7-4938-9804-A5B2020B27EC}" type="datetime'1''''''''''00'''''''''',''''''''''''''''''''''8'''''">
              <a:rPr lang="en-US" altLang="en-US" sz="1000" smtClean="0"/>
              <a:pPr marL="0" lvl="0" indent="0" algn="ctr">
                <a:spcBef>
                  <a:spcPct val="0"/>
                </a:spcBef>
                <a:spcAft>
                  <a:spcPct val="0"/>
                </a:spcAft>
                <a:buNone/>
              </a:pPr>
              <a:t>100,8</a:t>
            </a:fld>
            <a:endParaRPr lang="en-US" sz="1000" dirty="0"/>
          </a:p>
        </p:txBody>
      </p:sp>
      <p:sp useBgFill="1">
        <p:nvSpPr>
          <p:cNvPr id="232" name="Text Placeholder 2">
            <a:extLst>
              <a:ext uri="{FF2B5EF4-FFF2-40B4-BE49-F238E27FC236}">
                <a16:creationId xmlns:a16="http://schemas.microsoft.com/office/drawing/2014/main" id="{96FF76B7-428D-67BE-7DD0-E99FA4C0A101}"/>
              </a:ext>
            </a:extLst>
          </p:cNvPr>
          <p:cNvSpPr>
            <a:spLocks/>
          </p:cNvSpPr>
          <p:nvPr>
            <p:custDataLst>
              <p:tags r:id="rId44"/>
            </p:custDataLst>
          </p:nvPr>
        </p:nvSpPr>
        <p:spPr bwMode="gray">
          <a:xfrm>
            <a:off x="4797425" y="4775200"/>
            <a:ext cx="295275"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CCA169E-A6AB-4C77-9551-7EA441144792}" type="datetime'''''''''8''''''''''5'''''''''''''''',''''''''''''''''7'''''''">
              <a:rPr lang="en-US" altLang="en-US" sz="1000" smtClean="0"/>
              <a:pPr marL="0" lvl="0" indent="0" algn="ctr">
                <a:spcBef>
                  <a:spcPct val="0"/>
                </a:spcBef>
                <a:spcAft>
                  <a:spcPct val="0"/>
                </a:spcAft>
                <a:buNone/>
              </a:pPr>
              <a:t>85,7</a:t>
            </a:fld>
            <a:endParaRPr lang="en-US" sz="1000" dirty="0"/>
          </a:p>
        </p:txBody>
      </p:sp>
      <p:sp useBgFill="1">
        <p:nvSpPr>
          <p:cNvPr id="233" name="Text Placeholder 2">
            <a:extLst>
              <a:ext uri="{FF2B5EF4-FFF2-40B4-BE49-F238E27FC236}">
                <a16:creationId xmlns:a16="http://schemas.microsoft.com/office/drawing/2014/main" id="{324375E6-9487-B009-2D94-EB0681C91356}"/>
              </a:ext>
            </a:extLst>
          </p:cNvPr>
          <p:cNvSpPr>
            <a:spLocks/>
          </p:cNvSpPr>
          <p:nvPr>
            <p:custDataLst>
              <p:tags r:id="rId45"/>
            </p:custDataLst>
          </p:nvPr>
        </p:nvSpPr>
        <p:spPr bwMode="gray">
          <a:xfrm>
            <a:off x="5972175" y="4819650"/>
            <a:ext cx="296863"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AD773A3-D952-42D7-845A-FEBDFD6CE446}" type="datetime'''''''''7''''''''''''''''''''''5'''''''',6'''''''''''">
              <a:rPr lang="en-US" altLang="en-US" sz="1000" smtClean="0">
                <a:effectLst/>
              </a:rPr>
              <a:pPr marL="0" lvl="0" indent="0" algn="ctr">
                <a:spcBef>
                  <a:spcPct val="0"/>
                </a:spcBef>
                <a:spcAft>
                  <a:spcPct val="0"/>
                </a:spcAft>
                <a:buNone/>
              </a:pPr>
              <a:t>75,6</a:t>
            </a:fld>
            <a:endParaRPr lang="en-US" sz="1000" dirty="0"/>
          </a:p>
        </p:txBody>
      </p:sp>
      <p:sp useBgFill="1">
        <p:nvSpPr>
          <p:cNvPr id="234" name="Text Placeholder 2">
            <a:extLst>
              <a:ext uri="{FF2B5EF4-FFF2-40B4-BE49-F238E27FC236}">
                <a16:creationId xmlns:a16="http://schemas.microsoft.com/office/drawing/2014/main" id="{A9FBE937-E99B-16BC-D220-DE9BDABE6CEB}"/>
              </a:ext>
            </a:extLst>
          </p:cNvPr>
          <p:cNvSpPr>
            <a:spLocks/>
          </p:cNvSpPr>
          <p:nvPr>
            <p:custDataLst>
              <p:tags r:id="rId46"/>
            </p:custDataLst>
          </p:nvPr>
        </p:nvSpPr>
        <p:spPr bwMode="gray">
          <a:xfrm>
            <a:off x="7143750" y="4833938"/>
            <a:ext cx="300038" cy="136525"/>
          </a:xfrm>
          <a:prstGeom prst="rect">
            <a:avLst/>
          </a:prstGeom>
          <a:ln>
            <a:noFill/>
          </a:ln>
          <a:effec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E76C1678-4247-413C-A5CA-28706D9C6F2B}" type="datetime'''''''''''7''''2'''''''''',6'''''''''''''''''''''">
              <a:rPr lang="en-US" altLang="en-US" sz="1000" smtClean="0"/>
              <a:pPr marL="0" lvl="0" indent="0" algn="ctr">
                <a:spcBef>
                  <a:spcPct val="0"/>
                </a:spcBef>
                <a:spcAft>
                  <a:spcPct val="0"/>
                </a:spcAft>
                <a:buNone/>
              </a:pPr>
              <a:t>72,6</a:t>
            </a:fld>
            <a:endParaRPr lang="en-US" sz="1000" dirty="0"/>
          </a:p>
        </p:txBody>
      </p:sp>
      <p:sp>
        <p:nvSpPr>
          <p:cNvPr id="2" name="Title 1">
            <a:extLst>
              <a:ext uri="{FF2B5EF4-FFF2-40B4-BE49-F238E27FC236}">
                <a16:creationId xmlns:a16="http://schemas.microsoft.com/office/drawing/2014/main" id="{E596932D-85C4-B03D-05FD-E314EE788A4C}"/>
              </a:ext>
            </a:extLst>
          </p:cNvPr>
          <p:cNvSpPr>
            <a:spLocks noGrp="1"/>
          </p:cNvSpPr>
          <p:nvPr>
            <p:ph type="title"/>
          </p:nvPr>
        </p:nvSpPr>
        <p:spPr>
          <a:xfrm>
            <a:off x="838200" y="374650"/>
            <a:ext cx="10515600" cy="498598"/>
          </a:xfrm>
        </p:spPr>
        <p:txBody>
          <a:bodyPr vert="horz" rIns="91440">
            <a:noAutofit/>
          </a:bodyPr>
          <a:lstStyle/>
          <a:p>
            <a:r>
              <a:rPr lang="en-GB" sz="2800" noProof="0" dirty="0"/>
              <a:t>2024 Sustainability Results: Progress through Intensity</a:t>
            </a:r>
            <a:endParaRPr lang="en-US" sz="2800" noProof="0" dirty="0"/>
          </a:p>
        </p:txBody>
      </p:sp>
      <p:sp>
        <p:nvSpPr>
          <p:cNvPr id="4" name="Slide Number Placeholder 3">
            <a:extLst>
              <a:ext uri="{FF2B5EF4-FFF2-40B4-BE49-F238E27FC236}">
                <a16:creationId xmlns:a16="http://schemas.microsoft.com/office/drawing/2014/main" id="{89E33BFB-332E-C9B4-6A0F-962812D318DD}"/>
              </a:ext>
            </a:extLst>
          </p:cNvPr>
          <p:cNvSpPr>
            <a:spLocks noGrp="1"/>
          </p:cNvSpPr>
          <p:nvPr>
            <p:ph type="sldNum" sz="quarter" idx="12"/>
          </p:nvPr>
        </p:nvSpPr>
        <p:spPr/>
        <p:txBody>
          <a:bodyPr/>
          <a:lstStyle/>
          <a:p>
            <a:fld id="{49882A7A-00EB-4D45-AA64-F8A75FA21FCC}" type="slidenum">
              <a:rPr lang="en-US" noProof="0" smtClean="0"/>
              <a:pPr/>
              <a:t>12</a:t>
            </a:fld>
            <a:endParaRPr lang="en-US" noProof="0" dirty="0"/>
          </a:p>
        </p:txBody>
      </p:sp>
      <p:sp>
        <p:nvSpPr>
          <p:cNvPr id="120" name="Rectangle 119">
            <a:extLst>
              <a:ext uri="{FF2B5EF4-FFF2-40B4-BE49-F238E27FC236}">
                <a16:creationId xmlns:a16="http://schemas.microsoft.com/office/drawing/2014/main" id="{FE01CEC4-0996-461C-3822-2D28C6F4A7FC}"/>
              </a:ext>
            </a:extLst>
          </p:cNvPr>
          <p:cNvSpPr/>
          <p:nvPr/>
        </p:nvSpPr>
        <p:spPr>
          <a:xfrm>
            <a:off x="838200" y="1421606"/>
            <a:ext cx="5934075" cy="547017"/>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lIns="36000" tIns="18000" rIns="36000" bIns="18000" rtlCol="0" anchor="ctr"/>
          <a:lstStyle/>
          <a:p>
            <a:r>
              <a:rPr lang="en-US" sz="1600" b="1" dirty="0"/>
              <a:t>Amazon’s Carbon Footprint (MMT CO</a:t>
            </a:r>
            <a:r>
              <a:rPr lang="en-US" sz="1600" b="1" baseline="-25000" dirty="0"/>
              <a:t>2</a:t>
            </a:r>
            <a:r>
              <a:rPr lang="en-US" sz="1600" b="1" dirty="0"/>
              <a:t>e*)</a:t>
            </a:r>
          </a:p>
        </p:txBody>
      </p:sp>
      <p:cxnSp>
        <p:nvCxnSpPr>
          <p:cNvPr id="152" name="Straight Connector 151">
            <a:extLst>
              <a:ext uri="{FF2B5EF4-FFF2-40B4-BE49-F238E27FC236}">
                <a16:creationId xmlns:a16="http://schemas.microsoft.com/office/drawing/2014/main" id="{E09131F8-FB25-83D2-C39F-4A457A3C0834}"/>
              </a:ext>
            </a:extLst>
          </p:cNvPr>
          <p:cNvCxnSpPr/>
          <p:nvPr>
            <p:custDataLst>
              <p:tags r:id="rId47"/>
            </p:custDataLst>
          </p:nvPr>
        </p:nvCxnSpPr>
        <p:spPr bwMode="gray">
          <a:xfrm>
            <a:off x="1865313" y="5734050"/>
            <a:ext cx="141288" cy="0"/>
          </a:xfrm>
          <a:prstGeom prst="line">
            <a:avLst/>
          </a:prstGeom>
          <a:ln w="19050" cap="rnd"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3" name="Rectangle 152">
            <a:extLst>
              <a:ext uri="{FF2B5EF4-FFF2-40B4-BE49-F238E27FC236}">
                <a16:creationId xmlns:a16="http://schemas.microsoft.com/office/drawing/2014/main" id="{7A0FF532-607F-9BA2-47D7-F151A3F73A62}"/>
              </a:ext>
            </a:extLst>
          </p:cNvPr>
          <p:cNvSpPr/>
          <p:nvPr>
            <p:custDataLst>
              <p:tags r:id="rId48"/>
            </p:custDataLst>
          </p:nvPr>
        </p:nvSpPr>
        <p:spPr bwMode="auto">
          <a:xfrm>
            <a:off x="1855788" y="5854700"/>
            <a:ext cx="160338" cy="120650"/>
          </a:xfrm>
          <a:prstGeom prst="rect">
            <a:avLst/>
          </a:prstGeom>
          <a:solidFill>
            <a:schemeClr val="accent1"/>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0D653077-4EB8-A08E-BBDC-E7694A8E5E94}"/>
              </a:ext>
            </a:extLst>
          </p:cNvPr>
          <p:cNvSpPr/>
          <p:nvPr>
            <p:custDataLst>
              <p:tags r:id="rId49"/>
            </p:custDataLst>
          </p:nvPr>
        </p:nvSpPr>
        <p:spPr bwMode="auto">
          <a:xfrm>
            <a:off x="3968750" y="5673725"/>
            <a:ext cx="160338" cy="120650"/>
          </a:xfrm>
          <a:prstGeom prst="rect">
            <a:avLst/>
          </a:prstGeom>
          <a:solidFill>
            <a:srgbClr val="F9560C"/>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332A9529-6935-6A36-B14A-BF555105225A}"/>
              </a:ext>
            </a:extLst>
          </p:cNvPr>
          <p:cNvSpPr/>
          <p:nvPr>
            <p:custDataLst>
              <p:tags r:id="rId50"/>
            </p:custDataLst>
          </p:nvPr>
        </p:nvSpPr>
        <p:spPr bwMode="auto">
          <a:xfrm>
            <a:off x="3968750" y="5854700"/>
            <a:ext cx="160338" cy="120650"/>
          </a:xfrm>
          <a:prstGeom prst="rect">
            <a:avLst/>
          </a:prstGeom>
          <a:solidFill>
            <a:srgbClr val="AA3804"/>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 Placeholder 2">
            <a:extLst>
              <a:ext uri="{FF2B5EF4-FFF2-40B4-BE49-F238E27FC236}">
                <a16:creationId xmlns:a16="http://schemas.microsoft.com/office/drawing/2014/main" id="{1CD7651D-2496-AFC8-802F-5B329A36FD20}"/>
              </a:ext>
            </a:extLst>
          </p:cNvPr>
          <p:cNvSpPr>
            <a:spLocks/>
          </p:cNvSpPr>
          <p:nvPr>
            <p:custDataLst>
              <p:tags r:id="rId51"/>
            </p:custDataLst>
          </p:nvPr>
        </p:nvSpPr>
        <p:spPr bwMode="auto">
          <a:xfrm>
            <a:off x="2066925" y="5680075"/>
            <a:ext cx="18002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900" dirty="0"/>
              <a:t>Carbon intensity (gCO</a:t>
            </a:r>
            <a:r>
              <a:rPr lang="en-US" altLang="en-US" sz="900" baseline="-25000" dirty="0"/>
              <a:t>2</a:t>
            </a:r>
            <a:r>
              <a:rPr lang="en-US" altLang="en-US" sz="900" dirty="0"/>
              <a:t>e/$GMS)</a:t>
            </a:r>
            <a:r>
              <a:rPr lang="en-IN" sz="900" dirty="0"/>
              <a:t> </a:t>
            </a:r>
            <a:r>
              <a:rPr lang="en-IN" sz="900" baseline="30000" dirty="0"/>
              <a:t>‡</a:t>
            </a:r>
            <a:endParaRPr lang="en-US" sz="900" baseline="30000" dirty="0"/>
          </a:p>
        </p:txBody>
      </p:sp>
      <p:sp>
        <p:nvSpPr>
          <p:cNvPr id="157" name="Text Placeholder 2">
            <a:extLst>
              <a:ext uri="{FF2B5EF4-FFF2-40B4-BE49-F238E27FC236}">
                <a16:creationId xmlns:a16="http://schemas.microsoft.com/office/drawing/2014/main" id="{DA8C72CA-CEC0-FBAC-A0DB-AD4EA627483F}"/>
              </a:ext>
            </a:extLst>
          </p:cNvPr>
          <p:cNvSpPr>
            <a:spLocks/>
          </p:cNvSpPr>
          <p:nvPr>
            <p:custDataLst>
              <p:tags r:id="rId52"/>
            </p:custDataLst>
          </p:nvPr>
        </p:nvSpPr>
        <p:spPr bwMode="auto">
          <a:xfrm>
            <a:off x="2066925" y="5861050"/>
            <a:ext cx="89376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CA30E505-40A5-40DD-8F9B-432AFC7F31D3}" type="datetime'D''''i''''''''r''ect'''' ''''Emi''''ssi''''ons'''''''''''">
              <a:rPr lang="en-US" altLang="en-US" sz="900" smtClean="0"/>
              <a:pPr/>
              <a:t>Direct Emissions</a:t>
            </a:fld>
            <a:endParaRPr lang="en-US" sz="900" dirty="0"/>
          </a:p>
        </p:txBody>
      </p:sp>
      <p:sp>
        <p:nvSpPr>
          <p:cNvPr id="158" name="Text Placeholder 2">
            <a:extLst>
              <a:ext uri="{FF2B5EF4-FFF2-40B4-BE49-F238E27FC236}">
                <a16:creationId xmlns:a16="http://schemas.microsoft.com/office/drawing/2014/main" id="{BC319AFC-9BA4-DD2D-55B8-FE2FDD689C09}"/>
              </a:ext>
            </a:extLst>
          </p:cNvPr>
          <p:cNvSpPr>
            <a:spLocks/>
          </p:cNvSpPr>
          <p:nvPr>
            <p:custDataLst>
              <p:tags r:id="rId53"/>
            </p:custDataLst>
          </p:nvPr>
        </p:nvSpPr>
        <p:spPr bwMode="auto">
          <a:xfrm>
            <a:off x="4179888" y="5680075"/>
            <a:ext cx="24955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E4094943-21F9-4F1C-BAA9-F395F0BE1EA6}" type="datetime'''Indirect Emi''s''sions from ''Pur''cha''se''d'' Electricity'">
              <a:rPr lang="en-US" altLang="en-US" sz="900" smtClean="0"/>
              <a:pPr/>
              <a:t>Indirect Emissions from Purchased Electricity</a:t>
            </a:fld>
            <a:r>
              <a:rPr lang="en-IN" sz="900" baseline="30000" dirty="0"/>
              <a:t> †</a:t>
            </a:r>
            <a:endParaRPr lang="en-US" sz="900" dirty="0"/>
          </a:p>
        </p:txBody>
      </p:sp>
      <p:sp>
        <p:nvSpPr>
          <p:cNvPr id="159" name="Text Placeholder 2">
            <a:extLst>
              <a:ext uri="{FF2B5EF4-FFF2-40B4-BE49-F238E27FC236}">
                <a16:creationId xmlns:a16="http://schemas.microsoft.com/office/drawing/2014/main" id="{40FB10D0-8EA5-02F2-5442-3CB983631599}"/>
              </a:ext>
            </a:extLst>
          </p:cNvPr>
          <p:cNvSpPr>
            <a:spLocks/>
          </p:cNvSpPr>
          <p:nvPr>
            <p:custDataLst>
              <p:tags r:id="rId54"/>
            </p:custDataLst>
          </p:nvPr>
        </p:nvSpPr>
        <p:spPr bwMode="auto">
          <a:xfrm>
            <a:off x="4179888" y="5861050"/>
            <a:ext cx="21463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0000D1D2-B135-4CC4-BEB1-A9D497A94843}" type="datetime'''Indi''re''ct ''''Em''issions f''r''om'' ''Othe''r So''urces'">
              <a:rPr lang="en-US" altLang="en-US" sz="900" smtClean="0"/>
              <a:pPr/>
              <a:t>Indirect Emissions from Other Sources</a:t>
            </a:fld>
            <a:r>
              <a:rPr lang="en-IN" sz="900" dirty="0"/>
              <a:t> </a:t>
            </a:r>
            <a:r>
              <a:rPr lang="en-IN" sz="900" baseline="30000" dirty="0"/>
              <a:t>†</a:t>
            </a:r>
            <a:endParaRPr lang="en-US" sz="900" baseline="30000" dirty="0"/>
          </a:p>
        </p:txBody>
      </p:sp>
      <p:sp>
        <p:nvSpPr>
          <p:cNvPr id="310" name="Content Placeholder 2">
            <a:extLst>
              <a:ext uri="{FF2B5EF4-FFF2-40B4-BE49-F238E27FC236}">
                <a16:creationId xmlns:a16="http://schemas.microsoft.com/office/drawing/2014/main" id="{0C6F7372-380B-E15B-0494-35107C5E72FF}"/>
              </a:ext>
            </a:extLst>
          </p:cNvPr>
          <p:cNvSpPr txBox="1">
            <a:spLocks/>
          </p:cNvSpPr>
          <p:nvPr/>
        </p:nvSpPr>
        <p:spPr>
          <a:xfrm>
            <a:off x="8447314" y="2208212"/>
            <a:ext cx="2992815" cy="273921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lvl="1" indent="-216000" eaLnBrk="0" fontAlgn="base" hangingPunct="0">
              <a:lnSpc>
                <a:spcPct val="100000"/>
              </a:lnSpc>
              <a:spcBef>
                <a:spcPct val="0"/>
              </a:spcBef>
              <a:spcAft>
                <a:spcPts val="600"/>
              </a:spcAft>
              <a:buFontTx/>
              <a:buChar char="•"/>
            </a:pPr>
            <a:r>
              <a:rPr lang="en-GB" sz="1400" dirty="0"/>
              <a:t>Amazon is not just growing; it is optimizing. Without the current AI-driven placement and routing systems, business expansion would have likely resulted in a much higher, non-linear surge in emissions</a:t>
            </a:r>
            <a:endParaRPr lang="en-GB" sz="1400" b="1" dirty="0"/>
          </a:p>
          <a:p>
            <a:pPr marL="540000" lvl="1" indent="-216000" eaLnBrk="0" fontAlgn="base" hangingPunct="0">
              <a:lnSpc>
                <a:spcPct val="100000"/>
              </a:lnSpc>
              <a:spcBef>
                <a:spcPct val="0"/>
              </a:spcBef>
              <a:spcAft>
                <a:spcPts val="600"/>
              </a:spcAft>
              <a:buFontTx/>
              <a:buChar char="•"/>
            </a:pPr>
            <a:r>
              <a:rPr lang="en-GB" sz="1400" b="1" dirty="0"/>
              <a:t>Carbon intensity</a:t>
            </a:r>
            <a:r>
              <a:rPr lang="en-GB" sz="1400" dirty="0"/>
              <a:t> has decreased by ~40% since committing to The Climate Pledge in 2019</a:t>
            </a:r>
          </a:p>
          <a:p>
            <a:pPr marL="540000" lvl="1" indent="-216000" eaLnBrk="0" fontAlgn="base" hangingPunct="0">
              <a:lnSpc>
                <a:spcPct val="100000"/>
              </a:lnSpc>
              <a:spcBef>
                <a:spcPct val="0"/>
              </a:spcBef>
              <a:spcAft>
                <a:spcPts val="600"/>
              </a:spcAft>
              <a:buFontTx/>
              <a:buChar char="•"/>
            </a:pPr>
            <a:r>
              <a:rPr lang="en-GB" sz="1400" dirty="0"/>
              <a:t>In 2024, Amazon achieved an 11% business growth while reducing carbon intensity by 4%</a:t>
            </a:r>
          </a:p>
        </p:txBody>
      </p:sp>
      <p:sp>
        <p:nvSpPr>
          <p:cNvPr id="311" name="Content Placeholder 2">
            <a:extLst>
              <a:ext uri="{FF2B5EF4-FFF2-40B4-BE49-F238E27FC236}">
                <a16:creationId xmlns:a16="http://schemas.microsoft.com/office/drawing/2014/main" id="{A7B013D9-BCCB-8023-D035-0E769568006A}"/>
              </a:ext>
            </a:extLst>
          </p:cNvPr>
          <p:cNvSpPr txBox="1">
            <a:spLocks/>
          </p:cNvSpPr>
          <p:nvPr/>
        </p:nvSpPr>
        <p:spPr>
          <a:xfrm>
            <a:off x="838200" y="6416776"/>
            <a:ext cx="9335723" cy="304699"/>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IN" sz="700" dirty="0"/>
              <a:t>*Million metric tons carbon dioxide equivalent</a:t>
            </a:r>
          </a:p>
          <a:p>
            <a:pPr marL="0" indent="0">
              <a:spcBef>
                <a:spcPts val="0"/>
              </a:spcBef>
              <a:buNone/>
            </a:pPr>
            <a:r>
              <a:rPr lang="en-IN" sz="700" dirty="0"/>
              <a:t>†</a:t>
            </a:r>
            <a:r>
              <a:rPr lang="en-GB" sz="700" dirty="0"/>
              <a:t> Scope 2 and 3 carbon emissions are calculated using a market-based method.</a:t>
            </a:r>
          </a:p>
          <a:p>
            <a:pPr marL="0" indent="0">
              <a:spcBef>
                <a:spcPts val="0"/>
              </a:spcBef>
              <a:buNone/>
            </a:pPr>
            <a:r>
              <a:rPr lang="en-IN" sz="700" dirty="0"/>
              <a:t>‡</a:t>
            </a:r>
            <a:r>
              <a:rPr lang="en-GB" sz="700" dirty="0"/>
              <a:t> Grams of carbon dioxide equivalent per dollar of gross merchandise sales.</a:t>
            </a:r>
          </a:p>
          <a:p>
            <a:pPr marL="0" indent="0">
              <a:spcBef>
                <a:spcPts val="0"/>
              </a:spcBef>
              <a:buNone/>
            </a:pPr>
            <a:r>
              <a:rPr lang="en-GB" sz="700" dirty="0"/>
              <a:t>§ Updated </a:t>
            </a:r>
            <a:r>
              <a:rPr lang="en-GB" sz="700" dirty="0">
                <a:hlinkClick r:id="rId61"/>
              </a:rPr>
              <a:t>Carbon Methodology </a:t>
            </a:r>
            <a:r>
              <a:rPr lang="en-GB" sz="700" dirty="0"/>
              <a:t>used for 2022, 2023, and 2024 carbon footprint</a:t>
            </a:r>
            <a:endParaRPr lang="en-IN" sz="700" dirty="0">
              <a:hlinkClick r:id="rId62"/>
            </a:endParaRPr>
          </a:p>
          <a:p>
            <a:pPr marL="0" indent="0">
              <a:spcBef>
                <a:spcPts val="0"/>
              </a:spcBef>
              <a:buNone/>
            </a:pPr>
            <a:r>
              <a:rPr lang="en-IN" sz="700" dirty="0">
                <a:hlinkClick r:id="rId62"/>
              </a:rPr>
              <a:t>2024 Amazon Sustainability Report</a:t>
            </a:r>
            <a:endParaRPr lang="en-US" sz="700" dirty="0"/>
          </a:p>
        </p:txBody>
      </p:sp>
      <p:cxnSp>
        <p:nvCxnSpPr>
          <p:cNvPr id="314" name="Straight Connector 313">
            <a:extLst>
              <a:ext uri="{FF2B5EF4-FFF2-40B4-BE49-F238E27FC236}">
                <a16:creationId xmlns:a16="http://schemas.microsoft.com/office/drawing/2014/main" id="{DE04D187-30F2-2116-DBDB-BC1ECC721732}"/>
              </a:ext>
            </a:extLst>
          </p:cNvPr>
          <p:cNvCxnSpPr>
            <a:cxnSpLocks/>
          </p:cNvCxnSpPr>
          <p:nvPr/>
        </p:nvCxnSpPr>
        <p:spPr>
          <a:xfrm flipV="1">
            <a:off x="4384646" y="2106613"/>
            <a:ext cx="0" cy="3046412"/>
          </a:xfrm>
          <a:prstGeom prst="line">
            <a:avLst/>
          </a:prstGeom>
          <a:ln w="9525">
            <a:solidFill>
              <a:schemeClr val="accent3"/>
            </a:solidFill>
            <a:prstDash val="dash"/>
          </a:ln>
        </p:spPr>
        <p:style>
          <a:lnRef idx="2">
            <a:schemeClr val="accent1"/>
          </a:lnRef>
          <a:fillRef idx="0">
            <a:schemeClr val="accent1"/>
          </a:fillRef>
          <a:effectRef idx="1">
            <a:schemeClr val="accent1"/>
          </a:effectRef>
          <a:fontRef idx="minor">
            <a:schemeClr val="tx1"/>
          </a:fontRef>
        </p:style>
      </p:cxnSp>
      <p:cxnSp>
        <p:nvCxnSpPr>
          <p:cNvPr id="316" name="Straight Arrow Connector 315">
            <a:extLst>
              <a:ext uri="{FF2B5EF4-FFF2-40B4-BE49-F238E27FC236}">
                <a16:creationId xmlns:a16="http://schemas.microsoft.com/office/drawing/2014/main" id="{31D83049-408D-A3F6-F55B-EC19D9B2B538}"/>
              </a:ext>
            </a:extLst>
          </p:cNvPr>
          <p:cNvCxnSpPr/>
          <p:nvPr/>
        </p:nvCxnSpPr>
        <p:spPr>
          <a:xfrm>
            <a:off x="838200" y="1968623"/>
            <a:ext cx="10515600" cy="0"/>
          </a:xfrm>
          <a:prstGeom prst="straightConnector1">
            <a:avLst/>
          </a:prstGeom>
          <a:ln w="9525">
            <a:gradFill flip="none" rotWithShape="1">
              <a:gsLst>
                <a:gs pos="100000">
                  <a:schemeClr val="tx2"/>
                </a:gs>
                <a:gs pos="0">
                  <a:schemeClr val="tx2">
                    <a:alpha val="3000"/>
                  </a:schemeClr>
                </a:gs>
              </a:gsLst>
              <a:lin ang="0" scaled="1"/>
              <a:tileRect/>
            </a:gradFill>
            <a:tailEnd type="diamond"/>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5CE1D37B-D563-81C9-620C-9CF897A7A93F}"/>
              </a:ext>
            </a:extLst>
          </p:cNvPr>
          <p:cNvSpPr txBox="1">
            <a:spLocks/>
          </p:cNvSpPr>
          <p:nvPr/>
        </p:nvSpPr>
        <p:spPr>
          <a:xfrm>
            <a:off x="5875337" y="5377535"/>
            <a:ext cx="3084508" cy="1238351"/>
          </a:xfrm>
          <a:prstGeom prst="rect">
            <a:avLst/>
          </a:prstGeom>
          <a:solidFill>
            <a:srgbClr val="FFFF00"/>
          </a:solidFill>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Inter" panose="02000503000000020004" pitchFamily="2"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lvl="1" indent="-216000" eaLnBrk="0" fontAlgn="base" hangingPunct="0">
              <a:lnSpc>
                <a:spcPct val="100000"/>
              </a:lnSpc>
              <a:spcBef>
                <a:spcPct val="0"/>
              </a:spcBef>
              <a:spcAft>
                <a:spcPts val="600"/>
              </a:spcAft>
              <a:buFontTx/>
              <a:buChar char="•"/>
            </a:pPr>
            <a:r>
              <a:rPr lang="en-GB" sz="1400" dirty="0">
                <a:solidFill>
                  <a:schemeClr val="bg2">
                    <a:lumMod val="10000"/>
                  </a:schemeClr>
                </a:solidFill>
              </a:rPr>
              <a:t>LIVE </a:t>
            </a:r>
            <a:r>
              <a:rPr lang="en-GB" sz="1400" dirty="0" err="1">
                <a:solidFill>
                  <a:schemeClr val="bg2">
                    <a:lumMod val="10000"/>
                  </a:schemeClr>
                </a:solidFill>
              </a:rPr>
              <a:t>thinkcell</a:t>
            </a:r>
            <a:r>
              <a:rPr lang="en-GB" sz="1400" dirty="0">
                <a:solidFill>
                  <a:schemeClr val="bg2">
                    <a:lumMod val="10000"/>
                  </a:schemeClr>
                </a:solidFill>
              </a:rPr>
              <a:t> CHART BACKUP – The other one went kaputt due to a mistake while doing the animations</a:t>
            </a:r>
          </a:p>
        </p:txBody>
      </p:sp>
    </p:spTree>
    <p:extLst>
      <p:ext uri="{BB962C8B-B14F-4D97-AF65-F5344CB8AC3E}">
        <p14:creationId xmlns:p14="http://schemas.microsoft.com/office/powerpoint/2010/main" val="259516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THINKCELLPRESENTATIONDONOTDELETE" val="&lt;?xml version=&quot;1.0&quot; encoding=&quot;UTF-16&quot; standalone=&quot;yes&quot;?&gt;&lt;root reqver=&quot;32687&quot;&gt;&lt;version val=&quot;38588&quot;/&gt;&lt;CPresentation id=&quot;1&quot;&gt;&lt;m_precDefaultOrdinal&gt;&lt;m_bNumberIsYear val=&quot;1&quot;/&gt;&lt;m_chMinusSymbol&gt;-&lt;/m_chMinusSymbol&gt;&lt;m_chDecimalSymbol17909&gt;,&lt;/m_chDecimalSymbol17909&gt;&lt;m_nGroupingDigits17909 val=&quot;2147483647&quot;/&gt;&lt;m_yearfmt&gt;&lt;begin val=&quot;0&quot;/&gt;&lt;end val=&quot;4&quot;/&gt;&lt;/m_yearfmt&gt;&lt;/m_precDefaultOrdinal&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3&quot;&gt;&lt;elem m_fUsage=&quot;3.83193100000000042016E+00&quot;&gt;&lt;m_msothmcolidx val=&quot;0&quot;/&gt;&lt;m_rgb r=&quot;3A&quot; g=&quot;3A&quot; b=&quot;3A&quot;/&gt;&lt;/elem&gt;&lt;elem m_fUsage=&quot;7.29000000000000092371E-01&quot;&gt;&lt;m_msothmcolidx val=&quot;0&quot;/&gt;&lt;m_rgb r=&quot;F9&quot; g=&quot;56&quot; b=&quot;0C&quot;/&gt;&lt;/elem&gt;&lt;elem m_fUsage=&quot;6.56100000000000127542E-01&quot;&gt;&lt;m_msothmcolidx val=&quot;0&quot;/&gt;&lt;m_rgb r=&quot;AA&quot; g=&quot;38&quot; b=&quot;04&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_qu6PPRfjEOxN4czDL8HmA"/>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IBAQEBAQEBAQEBAQEBAQEAAAAAAAAAAwAAAAMAAAAA/////wMARAwAAAAAAAAAAAAAIAD///////////////8AAAD///////////////8DAAAAAgD///////8DAAAAAgD///////8DAAAAAgD///////8DAAAAAgD///////8DAAAAAgD///////8DAAAAAgD///////////////////////////////////////////////////////////////////////////////////////////////////////////////////////////////////////////////////////////////////////////////////////////////////////////////////////////////////////////////////////////////////////////////////////////////////////////////////////////////////////////////////////////////////////////////////////////////////////////////////////////////8BACAA////////////////AAAO////////AwAAAAIA////////////////////////////////////////////////////////////////////////////////////////////////////////////////////////////////////////////////////////////////////////////////////////////////////////////////////////////////////////////////////////////////////////////////////////////////////////////////////////////////////////////////////////////////////////////////////////////////////////////////////////////////////////////////////////////////////////////////////////////////////////////////////////AgAGAP///////wQAAAACABAAC9wb4qr0GNZGsXtz1ZqqH70FAAAAAAADAAAAAAADAAAAAQADAAAAAAD///////8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Nwb4qr0GNZGsXtz1ZqqH70DRGF0YQAWAAAAAlBlcnNvbmFsSWQAAQAAAAAAAk5hbWUACwAAAFBlcnNvbmFsSWQAEFZlcnNpb24AAAAAAAlMYXN0V3JpdGUAANQn9o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2386872629546"/>
  <p:tag name="EMPOWERCHARTSPROPERTIES_A_LENGTH" val="24576"/>
  <p:tag name="RUNTIME_ID" val="4e80920f-6e12-444e-bc1f-9c4d762b1bb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AIkCQvlPua4g2g4YhNd82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MN3GfkhzUwOuxhfSehos3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LPRf5ooM4DY10.qwCQSK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z1.NC9yKaLscvvg9und2u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DTZvxZ4P7JTzOm2uYKG.z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VtJi5BDwHz6dsIwT5KUHx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3gzsWTw75NIu_qeCdwRkh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AyBbdzePaYUvUWVC9irtX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e6R6tSQwpOEyU78SoeTEM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qB.us.4nFghBfJjQgM83h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_nZNoUBOPiCOYFDoL3kt0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tSpqDZipGPYAlQLdfixAG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jdRGiBpIH9dr8y2gjf8e_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27C6SCJIJTmWaoJV54MMO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wyqSEqX36tx8NlDBtK1PC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pGzmwC0afdg8wqs8EbPji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nlCf5rWd3QO0dXG5vzKtG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LR53Lj9iCK7tRYFmNewoQ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LHZgl0aKLRZjl1kHinhgK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BZnMpb9MRyIK5hrvKxSXx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YoYBSZLVobEcBnsHwMMr.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xRoeBBvoKefOPXYEiqHBm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hhgT1gSmkWgUE1ZSGH7M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kMx_t_3YFAnJ34n9_hwbY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SGzjKpmYY4sHuWtwjJFG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WJ0WBqmMrnsshiMlTETHu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7_kQ3mORtU97G73TjQS3C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e9Xb1_eWkKOq6otY2Lvtm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kx0p2J0uj5sxdcaFdMa1v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ld3BehWjmX_Q1H0pXnIOW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cjFcLq6ubMjXzV6Y9_hCo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nKc7G99T5tQLRxt._sDzg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BMzMkpldvPRTdZC4v6NuX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AK.Wk7p6SiuqHiVnkx_OS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4WfL1KpVzMqUKzfiNWC6h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8lrH1okEPw_yYVzkhJoYd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S8uoJl3bI0BT8bxeKHoJ_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mz72RmplZRZRHgH5pUvXB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VQydGqLNNaYM7_fKJbm5Y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X7fCVL35Nttf0LnKOvyYd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rynkeFyhGNn9nLVIc8uE9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6d_pntpLrTcMSAfEXvaK8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N1k52Hql8apQELZ1zLUCD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gWLYxSJ5PhoaQ0ohxXnF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XRnRHvcLxjtQhOtNPSM_r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MIi82iC97IMNCvWf.KmNq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A.UBcFGW38Z4GqDol0B9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rzkhwv0sD.M0Fe4CdT8em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fNr2YdYci3g7S.SMnRte4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BUZvPghkku5WMx4BpUB4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_95k4304uWJaavixEH3kH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odG6i.4gGn9NlAdOmJVAX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xO7GZT.kSUe9Vn_t2rXc.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gCpz.dEvjB2YsaZWddBuO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_IBcYcMdrcBa0l4uJnsee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0VZ9qLdEloMzAJDaM_7Sj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OisrfJvtvOF75eHB9rbSNA"/>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FUqCp6Xk2yIrBdJ.XDvqQ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oRY7zs7fUZCOr1hebEAw0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gaHTnRo_zYvQkkskFwVqF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9aHWikBjUbxl_TR22ebru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7ZGhu0Cvf0CT0Xert8qK1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0KrA7TT4Um5luyzWgLjpz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2WXUmXmx6XNN2wyGrrchL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gNOXOOInsxqMYf0F_30d8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18gfAxpQq0rv3ArjBNVlE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SXMVqlgnWqnauA7VU74st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3zds9YH94Q827P8r6Cr1Z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WolnDD508Qc02XNGPX4i.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lV1FihwouqjHv8aSpenb1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pI5DSPkZbj1WalJ0srbUBA"/>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G5b9eoGfxQ_0t_ScRFQ.b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jl8Uu7Cq7lOBzhPY1NE.y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ohaIz93UMv3obVVk7y.rx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LWN8gYdbUVQHOXjSBFdwM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Z1t5h6QcfiHJV6uOBQyeN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J0.NUrV6BS.x6KWJgMVen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RE_Z3H_LICEjIOOa4yFZU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GlCxy8Za6fH2egHVVvOXS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7_kQ3mORtU97G73TjQS3C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e9Xb1_eWkKOq6otY2Lvtm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kx0p2J0uj5sxdcaFdMa1v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ld3BehWjmX_Q1H0pXnIOW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cjFcLq6ubMjXzV6Y9_hCo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nKc7G99T5tQLRxt._sDzgg"/>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BMzMkpldvPRTdZC4v6NuX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AK.Wk7p6SiuqHiVnkx_OS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4WfL1KpVzMqUKzfiNWC6h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8lrH1okEPw_yYVzkhJoYdg"/>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S8uoJl3bI0BT8bxeKHoJ_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mz72RmplZRZRHgH5pUvXB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VQydGqLNNaYM7_fKJbm5Y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X7fCVL35Nttf0LnKOvyYd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rynkeFyhGNn9nLVIc8uE9Q"/>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6d_pntpLrTcMSAfEXvaK8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N1k52Hql8apQELZ1zLUCD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dgWLYxSJ5PhoaQ0ohxXnF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XRnRHvcLxjtQhOtNPSM_r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MIi82iC97IMNCvWf.KmNq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A.UBcFGW38Z4GqDol0B9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rzkhwv0sD.M0Fe4CdT8em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fNr2YdYci3g7S.SMnRte4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iBUZvPghkku5WMx4BpUB4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_95k4304uWJaavixEH3kH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odG6i.4gGn9NlAdOmJVAX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xO7GZT.kSUe9Vn_t2rXc.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gCpz.dEvjB2YsaZWddBuO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_IBcYcMdrcBa0l4uJnsee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0VZ9qLdEloMzAJDaM_7Sj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OisrfJvtvOF75eHB9rbSN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FUqCp6Xk2yIrBdJ.XDvqQ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oRY7zs7fUZCOr1hebEAw0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gaHTnRo_zYvQkkskFwVqFg"/>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9aHWikBjUbxl_TR22ebru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7ZGhu0Cvf0CT0Xert8qK1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0KrA7TT4Um5luyzWgLjpz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2WXUmXmx6XNN2wyGrrchL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NOXOOInsxqMYf0F_30d8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18gfAxpQq0rv3ArjBNVlEg"/>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SXMVqlgnWqnauA7VU74st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3zds9YH94Q827P8r6Cr1Z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WolnDD508Qc02XNGPX4i.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lV1FihwouqjHv8aSpenb1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pI5DSPkZbj1WalJ0srbUB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G5b9eoGfxQ_0t_ScRFQ.b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jl8Uu7Cq7lOBzhPY1NE.yw"/>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ohaIz93UMv3obVVk7y.rx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LWN8gYdbUVQHOXjSBFdwM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Z1t5h6QcfiHJV6uOBQyeN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J0.NUrV6BS.x6KWJgMVeng"/>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RE_Z3H_LICEjIOOa4yFZU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GlCxy8Za6fH2egHVVvOXSg"/>
</p:tagLst>
</file>

<file path=ppt/theme/theme1.xml><?xml version="1.0" encoding="utf-8"?>
<a:theme xmlns:a="http://schemas.openxmlformats.org/drawingml/2006/main" name="Office Theme">
  <a:themeElements>
    <a:clrScheme name="Custom 3">
      <a:dk1>
        <a:srgbClr val="FFFFFF"/>
      </a:dk1>
      <a:lt1>
        <a:sysClr val="window" lastClr="FFFFFF"/>
      </a:lt1>
      <a:dk2>
        <a:srgbClr val="FB9161"/>
      </a:dk2>
      <a:lt2>
        <a:srgbClr val="E8E8E8"/>
      </a:lt2>
      <a:accent1>
        <a:srgbClr val="FB9161"/>
      </a:accent1>
      <a:accent2>
        <a:srgbClr val="2CF5F0"/>
      </a:accent2>
      <a:accent3>
        <a:srgbClr val="9A9A9A"/>
      </a:accent3>
      <a:accent4>
        <a:srgbClr val="575757"/>
      </a:accent4>
      <a:accent5>
        <a:srgbClr val="C00000"/>
      </a:accent5>
      <a:accent6>
        <a:srgbClr val="4EA72E"/>
      </a:accent6>
      <a:hlink>
        <a:srgbClr val="00B0F0"/>
      </a:hlink>
      <a:folHlink>
        <a:srgbClr val="96607D"/>
      </a:folHlink>
    </a:clrScheme>
    <a:fontScheme name="Custom 1">
      <a:majorFont>
        <a:latin typeface="Inter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3"/>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3107</TotalTime>
  <Words>2089</Words>
  <Application>Microsoft Office PowerPoint</Application>
  <PresentationFormat>Widescreen</PresentationFormat>
  <Paragraphs>265</Paragraphs>
  <Slides>13</Slides>
  <Notes>11</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Aptos</vt:lpstr>
      <vt:lpstr>Arial</vt:lpstr>
      <vt:lpstr>Inter</vt:lpstr>
      <vt:lpstr>Inter Bold</vt:lpstr>
      <vt:lpstr>Office Theme</vt:lpstr>
      <vt:lpstr>think-cell Slide</vt:lpstr>
      <vt:lpstr>Data driven decision making in Supply chain of Amazon</vt:lpstr>
      <vt:lpstr>Executive summary From 2019 to 2023 – Amazon has shown remarkable growth </vt:lpstr>
      <vt:lpstr>The Complexity Ceiling: Why Traditional Logistics Scaled No Further</vt:lpstr>
      <vt:lpstr>The Solution? Amazon’s SCOT team (Supply Chain Optimization Technologies)</vt:lpstr>
      <vt:lpstr>AI-Powered Demand Forecasting Amazon analyses vast amounts of data from various sources in real time for competitive advantage</vt:lpstr>
      <vt:lpstr>The power of Anticipatory shipping Transforming logistics from reactive to proactive</vt:lpstr>
      <vt:lpstr>Automated Inventory Management Warehouses powered by a combination of AI and robotics that work together to manage inventory with minimal human intervention.</vt:lpstr>
      <vt:lpstr>Logistics Optimization and Route Planning a massive, intricate web of delivery routes, warehouses, and transportation options</vt:lpstr>
      <vt:lpstr>The outcome  of this groundwork</vt:lpstr>
      <vt:lpstr>Remarkable KPI Gains:  AI-Driven Supply Chain Transformation From 2019 to 2023 Amazon has had a 20% improvement in average delivery time and 8.5% improvement in Inventory turnover rate</vt:lpstr>
      <vt:lpstr>2024 Sustainability Results: Progress through Intensity</vt:lpstr>
      <vt:lpstr>Final thoughts and discussion…</vt:lpstr>
      <vt:lpstr>2024 Sustainability Results: Progress through Intensity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Athul Rohan</dc:creator>
  <cp:lastModifiedBy>Athul Rohan</cp:lastModifiedBy>
  <cp:revision>45</cp:revision>
  <dcterms:created xsi:type="dcterms:W3CDTF">2026-02-02T07:36:18Z</dcterms:created>
  <dcterms:modified xsi:type="dcterms:W3CDTF">2026-02-13T12:48:41Z</dcterms:modified>
</cp:coreProperties>
</file>